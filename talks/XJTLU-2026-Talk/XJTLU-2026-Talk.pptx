
<file path=[Content_Types].xml><?xml version="1.0" encoding="utf-8"?>
<Types xmlns="http://schemas.openxmlformats.org/package/2006/content-types">
  <Default Extension="jpeg" ContentType="image/jpeg"/>
  <Default Extension="JPG" ContentType="image/.jpg"/>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61" r:id="rId7"/>
    <p:sldId id="262" r:id="rId8"/>
    <p:sldId id="263" r:id="rId9"/>
    <p:sldId id="264" r:id="rId10"/>
    <p:sldId id="266" r:id="rId11"/>
    <p:sldId id="267" r:id="rId12"/>
    <p:sldId id="268" r:id="rId13"/>
    <p:sldId id="269" r:id="rId14"/>
    <p:sldId id="270" r:id="rId15"/>
    <p:sldId id="271" r:id="rId16"/>
    <p:sldId id="259" r:id="rId17"/>
    <p:sldId id="260" r:id="rId18"/>
    <p:sldId id="265"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9144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7912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11580284"/>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284"/>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Good morning. </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Three chapters. The first frames the problem with recent industry and academic numbers. The second is the method: Game Design from Life in six steps, then the move from prompt to guided interview, and the development log as accountability. The third is what we saw, and where it points.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Chapter one. I want to set the scene in three beats: a short industry trend, a short empirical counterpoint, and the specific classroom that I am in. Each of those will get its own slide.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So why teach game design at a research university in 2026? Our IMA students are not training to be game developers. They come from across the liberal-arts curriculum, with mixed coding experience, and they enroll because they have something they want to express — a frustration, a memory, a practice. Our mission is to teach them to use a system to express an experience. The success question is not is it fun, but did the translation succeed. Because coding is not the learning goal, AI assistance is legitimate. Because intent and emotional structure are the learning goal, those cannot be outsourced. The course lives exactly in that boundary, and that is the boundary I want to talk about.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Chapter two. The method has three pieces. A six-step structure that takes a lived experience to a playable system. The decisive move from prompt to guided interview. And the development log as accountability. I will spend a slide on each.</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Six steps. Step one is a specific moment, not a topic. Step two is its emotional structure — trigger, tension, turn, peak, aftertaste. Step three datalizes the structure into named, bounded, tunable variables. Step three-point-five turns the variables into an inspectable system graph, with proposal and decision provenance. Step four is a minimum playable prototype — in our case, on the Tuanjie Engine, which is what NYU Shanghai students use. Steps five and six are where AI enters, and where the world is expanded around the core mechanic. The thing I want to underline is that AI enters at step five, not at step one.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is the slide I care about most. On the left, a one-prompt user compresses an entire emotional target into a few words, gets one shot, and has no trace. On the right, a guided interview unfolds the same target across many turns, with reflection pauses, and produces not a finished game but a system description — intent, mechanics, variables, feedback — that a human can read and that an AI can implement. Intent is not compressed in five words. It is unfolded by a question list until it is verifiable. This is the move from prompt to system description, and it is the heart of the pedagogy.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Chapter three. I will play a thirty-six-second reel of twelve student works. Then I will show one case in depth, name three findings, and close with where I think the field should go next.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is the moment to stop talking. Thirty-six seconds, twelve works, drawn from this summer's high-school camp in Shanghai. Zero of these students had written a line of code before. Each picked a domain they actually knew — skating, climbing, curling, golf, archery, cello, crochet, first diagnosis, virtual kitchen, paper folding — and translated it into a playable system. Please watch, and remember what each game is trying to feel like.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Darkroom, by Boyan. The lived experience is the frustration of a long-exposure photograph that comes back wrong. The data are four variables — Exposure State, Light Trail, Trail Duration, Game Time. The build has fifty-one Unity scripts, and the log records seventy-two interactions. The system graph on the left is the artifact I want to point to: it shows intent, data, and player input in one place, in language a human can read. That is the system description our pedagogy produces. The student quote at the bottom right is the kind of decision a chat history alone would never let us see.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Three findings. Feasible — zero-coding students can produce a playable demo in days. Asymmetric verification — AI can tell you the system runs, it cannot tell you the prototype still carries the feeling. That is the part where a playtest loop and a human reader are indispensable, and it echoes Väkevä and colleagues' CHI 2026 Best Paper argument that resonance with lived experience is the strongest anchor of meaningful gameplay. And learning happens in the experiment — at the cost of too many questions and not enough real-time feedback.</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Three trends. Lower floor to a playable demo. A growing case library of system descriptions and process logs. And a clear demand for specialized, one-stop tools — generic IDEs hit a ceiling on complete games. But the fourth shift is the one I would like to leave you with. From AI-assisted game making to systematic expression as a literacy for the AI era. When making a game is easy, the scarce skill is asking a precise question of an experience. Game design is a natural training ground, and a teachable, accountable one, if the workflow is structured for it.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When making a game becomes easy, the hard part is knowing what you want players to feel. AI cannot do that for you — but it can help you ask it clearly. Thank you. I am happy to take questions on the method, the data, the cases, or the next step.</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From late 2024 onward, generating a playable game from a one-sentence prompt has become a standard way to demonstrate model capability. Rosebud, Summer Engine, chat-driven IDEs, and the engine vendors themselves all lean in. GDC 2026 puts adoption over fifty percent. But the number on the right is a warning: zero of ten thousand four hundred single-pass generations compiled without a fix loop. Democratization of the demo is real — the question is what survives the demo.</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Four numbers from four independent 2026 papers. The mechanism fidelity F1 of direct natural-language to C# is statistically indistinguishable from doing nothing — about 0.12. The runtime pass rate collapses from eighty percent on small projects to under six percent on real ones. The best coding agent on an end-to-end benchmark reaches forty-one percent. The single largest proven gain is not a better prompt — it is putting a GUI-agent playtester in the loop, plus thirty-seven points on the rubric. Failure lives in structure and architecture, not in syntax. This is the gap our pedagogy has to address.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Once AI is in the loop, the question becomes: who decided what? The development log records each interaction as a three-line trace: what the student asked for, a short summary of what the agent produced, and the student's decision — accepted, rejected, rewritten, and why. In The Darkroom, this trace runs seventy-two times. In Coaster Carnage, the student replaced the AI's obstacle spawner with a prebuilt track; the cart moves forward and the player only reacts. The student's reflection says explicitly that the new architecture felt more like being carried by the coaster than driving it. Without the log, that decision is invisible. With it, it is the artifact we study.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image" Target="../media/image2.png"/><Relationship Id="rId2" Type="http://schemas.microsoft.com/office/2007/relationships/media" Target="../media/media1.mp4"/><Relationship Id="rId1" Type="http://schemas.openxmlformats.org/officeDocument/2006/relationships/video" Target="../media/media1.mp4"/></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px', height: '720px', background: '#FFFFFF', position: 'relative', fontFamily: 'Source Han Sans, Noto Sans CJK SC, sans-serif' }}&gt;&#10;  &lt;Box style={{ position: 'absolute', top: 0, left: 0, width: '100%', height: 64, background: '#0E3F8C' }}&gt;&#10;    &lt;Text style={{ color: '#FFFFFF', fontSize: 14, padding: '22px 60px', letterSpacing: 1 }}&gt;&#10;      AI, Communication, and Social Transformation · XJTLU · 4–5 September 2026&#10;    &lt;/Text&gt;&#10;  &lt;/Box&gt;&#10;  &lt;Box style={{ position: 'absolute', top: 96, left: 80, width: 24, height: 4, background: '#1E4FA8' }} /&gt;&#10;  &lt;Box style={{ position: 'absolute', top: 130, left: 80, width: 1120, flexDirection: 'column', gap: 28 }}&gt;&#10;    &lt;Text style={{ fontSize: 48, fontWeight: 'bold', fontFamily: 'Source Serif Pro, Georgia, serif', color: '#0E3F8C', lineHeight: 1.18 }}&gt;&#10;      From Lived Experience to Playable Systems&#10;    &lt;/Text&gt;&#10;    &lt;Text style={{ fontSize: 28, fontFamily: 'Source Serif Pro, Georgia, serif', color: '#1E4FA8', lineHeight: 1.3 }}&gt;&#10;      AI-Assisted Game Design as a Pedagogical Method&#10;    &lt;/Text&gt;&#10;    &lt;Box style={{ width: 80, height: 3, background: '#1E4FA8' }} /&gt;&#10;    &lt;Text style={{ fontSize: 20, color: '#4A5568', lineHeight: 1.5 }}&gt;&#10;      AI as implementation and reflection partner — a teaching experiment in two summer programs&#10;    &lt;/Text&gt;&#10;  &lt;/Box&gt;&#10;  &lt;Box style={{ position: 'absolute', top: 552, left: 80, width: 1120, flexDirection: 'column', gap: 8 }}&gt;&#10;    &lt;Text style={{ fontSize: 26, fontWeight: 'bold', color: '#1A2230' }}&gt;Xingchen Zhang&lt;/Text&gt;&#10;    &lt;Text style={{ fontSize: 18, color: '#4A5568' }}&gt;Interactive Media Arts · New York University Shanghai&lt;/Text&gt;&#10;    &lt;Text style={{ fontSize: 16, color: '#8B97A8' }}&gt;Panel 11 — Human-Guided AI Pedagogy · Room C (IA121) · Saturday, 5 September 2026, 09:00&lt;/Text&gt;&#10;  &lt;/Box&gt;&#10;&lt;/Slide&gt;&#10;"/>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FFFFFF"/>
          </a:solidFill>
        </p:spPr>
        <p:txBody>
          <a:bodyPr/>
          <a:p/>
        </p:txBody>
      </p:sp>
      <p:sp>
        <p:nvSpPr>
          <p:cNvPr id="3" name="矩形 2"/>
          <p:cNvSpPr/>
          <p:nvPr/>
        </p:nvSpPr>
        <p:spPr>
          <a:xfrm>
            <a:off x="0" y="0"/>
            <a:ext cx="12192000" cy="609600"/>
          </a:xfrm>
          <a:prstGeom prst="rect">
            <a:avLst/>
          </a:prstGeom>
          <a:solidFill>
            <a:srgbClr val="330662"/>
          </a:solidFill>
        </p:spPr>
        <p:txBody>
          <a:bodyPr/>
          <a:p/>
        </p:txBody>
      </p:sp>
      <p:sp>
        <p:nvSpPr>
          <p:cNvPr id="4" name="文本框 3" descr="{&quot;isTemplate&quot;:true,&quot;type&quot;:&quot;text&quot;}"/>
          <p:cNvSpPr txBox="1"/>
          <p:nvPr/>
        </p:nvSpPr>
        <p:spPr>
          <a:xfrm>
            <a:off x="0" y="0"/>
            <a:ext cx="12192000" cy="581025"/>
          </a:xfrm>
          <a:prstGeom prst="rect">
            <a:avLst/>
          </a:prstGeom>
        </p:spPr>
        <p:txBody>
          <a:bodyPr wrap="none" lIns="428625" tIns="157163" rIns="428625" bIns="157163"/>
          <a:p>
            <a:pPr>
              <a:lnSpc>
                <a:spcPct val="100000"/>
              </a:lnSpc>
            </a:pPr>
            <a:r>
              <a:rPr lang="en-US" sz="1050" spc="75">
                <a:solidFill>
                  <a:srgbClr val="FFFFFF"/>
                </a:solidFill>
                <a:latin typeface="Source Han Sans"/>
                <a:ea typeface="Source Han Sans"/>
              </a:rPr>
              <a:t>AI, Communication, and Social Transformation · XJTLU · 4–5 September 2026</a:t>
            </a:r>
            <a:endParaRPr lang="en-US" sz="1050" spc="75">
              <a:solidFill>
                <a:srgbClr val="FFFFFF"/>
              </a:solidFill>
              <a:latin typeface="Source Han Sans"/>
              <a:ea typeface="Source Han Sans"/>
            </a:endParaRPr>
          </a:p>
        </p:txBody>
      </p:sp>
      <p:sp>
        <p:nvSpPr>
          <p:cNvPr id="5" name="矩形 4"/>
          <p:cNvSpPr/>
          <p:nvPr/>
        </p:nvSpPr>
        <p:spPr>
          <a:xfrm>
            <a:off x="762000" y="914400"/>
            <a:ext cx="228600" cy="38100"/>
          </a:xfrm>
          <a:prstGeom prst="rect">
            <a:avLst/>
          </a:prstGeom>
          <a:solidFill>
            <a:srgbClr val="57068C"/>
          </a:solidFill>
        </p:spPr>
        <p:txBody>
          <a:bodyPr/>
          <a:p/>
        </p:txBody>
      </p:sp>
      <p:sp>
        <p:nvSpPr>
          <p:cNvPr id="6" name="文本框 5" descr="{&quot;isTemplate&quot;:true,&quot;type&quot;:&quot;text&quot;}"/>
          <p:cNvSpPr txBox="1"/>
          <p:nvPr/>
        </p:nvSpPr>
        <p:spPr>
          <a:xfrm>
            <a:off x="762000" y="1238250"/>
            <a:ext cx="10668000" cy="647700"/>
          </a:xfrm>
          <a:prstGeom prst="rect">
            <a:avLst/>
          </a:prstGeom>
        </p:spPr>
        <p:txBody>
          <a:bodyPr wrap="none" lIns="0" tIns="0" rIns="0" bIns="0"/>
          <a:p>
            <a:pPr>
              <a:lnSpc>
                <a:spcPct val="118000"/>
              </a:lnSpc>
            </a:pPr>
            <a:r>
              <a:rPr lang="en-US" sz="3600" b="1">
                <a:solidFill>
                  <a:srgbClr val="330662"/>
                </a:solidFill>
                <a:latin typeface="Source Serif Pro"/>
                <a:ea typeface="Source Serif Pro"/>
              </a:rPr>
              <a:t>From Lived Experience to Playable Systems</a:t>
            </a:r>
            <a:endParaRPr lang="en-US" sz="3600" b="1">
              <a:solidFill>
                <a:srgbClr val="330662"/>
              </a:solidFill>
              <a:latin typeface="Source Serif Pro"/>
              <a:ea typeface="Source Serif Pro"/>
            </a:endParaRPr>
          </a:p>
        </p:txBody>
      </p:sp>
      <p:sp>
        <p:nvSpPr>
          <p:cNvPr id="7" name="文本框 6" descr="{&quot;isTemplate&quot;:true,&quot;type&quot;:&quot;text&quot;}"/>
          <p:cNvSpPr txBox="1"/>
          <p:nvPr/>
        </p:nvSpPr>
        <p:spPr>
          <a:xfrm>
            <a:off x="762000" y="2152650"/>
            <a:ext cx="10668000" cy="419100"/>
          </a:xfrm>
          <a:prstGeom prst="rect">
            <a:avLst/>
          </a:prstGeom>
        </p:spPr>
        <p:txBody>
          <a:bodyPr wrap="none" lIns="0" tIns="0" rIns="0" bIns="0"/>
          <a:p>
            <a:pPr>
              <a:lnSpc>
                <a:spcPct val="130000"/>
              </a:lnSpc>
            </a:pPr>
            <a:r>
              <a:rPr lang="en-US" sz="2100">
                <a:solidFill>
                  <a:srgbClr val="57068C"/>
                </a:solidFill>
                <a:latin typeface="Source Serif Pro"/>
                <a:ea typeface="Source Serif Pro"/>
              </a:rPr>
              <a:t>AI-Assisted Game Design as a Pedagogical Method</a:t>
            </a:r>
            <a:endParaRPr lang="en-US" sz="2100">
              <a:solidFill>
                <a:srgbClr val="57068C"/>
              </a:solidFill>
              <a:latin typeface="Source Serif Pro"/>
              <a:ea typeface="Source Serif Pro"/>
            </a:endParaRPr>
          </a:p>
        </p:txBody>
      </p:sp>
      <p:sp>
        <p:nvSpPr>
          <p:cNvPr id="8" name="矩形 7"/>
          <p:cNvSpPr/>
          <p:nvPr/>
        </p:nvSpPr>
        <p:spPr>
          <a:xfrm>
            <a:off x="762000" y="2838450"/>
            <a:ext cx="762000" cy="28575"/>
          </a:xfrm>
          <a:prstGeom prst="rect">
            <a:avLst/>
          </a:prstGeom>
          <a:solidFill>
            <a:srgbClr val="57068C"/>
          </a:solidFill>
        </p:spPr>
        <p:txBody>
          <a:bodyPr/>
          <a:p/>
        </p:txBody>
      </p:sp>
      <p:sp>
        <p:nvSpPr>
          <p:cNvPr id="9" name="文本框 8" descr="{&quot;isTemplate&quot;:true,&quot;type&quot;:&quot;text&quot;}"/>
          <p:cNvSpPr txBox="1"/>
          <p:nvPr/>
        </p:nvSpPr>
        <p:spPr>
          <a:xfrm>
            <a:off x="762000" y="3133725"/>
            <a:ext cx="10668000" cy="342900"/>
          </a:xfrm>
          <a:prstGeom prst="rect">
            <a:avLst/>
          </a:prstGeom>
        </p:spPr>
        <p:txBody>
          <a:bodyPr wrap="none" lIns="0" tIns="0" rIns="0" bIns="0"/>
          <a:p>
            <a:pPr>
              <a:lnSpc>
                <a:spcPct val="150000"/>
              </a:lnSpc>
            </a:pPr>
            <a:r>
              <a:rPr lang="en-US" sz="1500">
                <a:solidFill>
                  <a:srgbClr val="4A5568"/>
                </a:solidFill>
                <a:latin typeface="Source Han Sans"/>
                <a:ea typeface="Source Han Sans"/>
              </a:rPr>
              <a:t>AI as implementation and reflection partner — a teaching experiment in two summer programs</a:t>
            </a:r>
            <a:endParaRPr lang="en-US" sz="1500">
              <a:solidFill>
                <a:srgbClr val="4A5568"/>
              </a:solidFill>
              <a:latin typeface="Source Han Sans"/>
              <a:ea typeface="Source Han Sans"/>
            </a:endParaRPr>
          </a:p>
        </p:txBody>
      </p:sp>
      <p:sp>
        <p:nvSpPr>
          <p:cNvPr id="10" name="文本框 9" descr="{&quot;isTemplate&quot;:true,&quot;type&quot;:&quot;text&quot;}"/>
          <p:cNvSpPr txBox="1"/>
          <p:nvPr/>
        </p:nvSpPr>
        <p:spPr>
          <a:xfrm>
            <a:off x="762000" y="5257800"/>
            <a:ext cx="10668000" cy="304800"/>
          </a:xfrm>
          <a:prstGeom prst="rect">
            <a:avLst/>
          </a:prstGeom>
        </p:spPr>
        <p:txBody>
          <a:bodyPr wrap="none" lIns="0" tIns="0" rIns="0" bIns="0"/>
          <a:p>
            <a:pPr>
              <a:lnSpc>
                <a:spcPct val="100000"/>
              </a:lnSpc>
            </a:pPr>
            <a:r>
              <a:rPr lang="en-US" sz="1950" b="1">
                <a:solidFill>
                  <a:srgbClr val="1A2230"/>
                </a:solidFill>
                <a:latin typeface="Source Han Sans"/>
                <a:ea typeface="Source Han Sans"/>
              </a:rPr>
              <a:t>Xingchen Ian Zhang</a:t>
            </a:r>
            <a:endParaRPr lang="en-US" sz="1950" b="1">
              <a:solidFill>
                <a:srgbClr val="1A2230"/>
              </a:solidFill>
              <a:latin typeface="Source Han Sans"/>
              <a:ea typeface="Source Han Sans"/>
            </a:endParaRPr>
          </a:p>
        </p:txBody>
      </p:sp>
      <p:sp>
        <p:nvSpPr>
          <p:cNvPr id="11" name="文本框 10" descr="{&quot;isTemplate&quot;:true,&quot;type&quot;:&quot;text&quot;}"/>
          <p:cNvSpPr txBox="1"/>
          <p:nvPr/>
        </p:nvSpPr>
        <p:spPr>
          <a:xfrm>
            <a:off x="762000" y="5638800"/>
            <a:ext cx="10668000" cy="209550"/>
          </a:xfrm>
          <a:prstGeom prst="rect">
            <a:avLst/>
          </a:prstGeom>
        </p:spPr>
        <p:txBody>
          <a:bodyPr wrap="none" lIns="0" tIns="0" rIns="0" bIns="0"/>
          <a:p>
            <a:pPr>
              <a:lnSpc>
                <a:spcPct val="100000"/>
              </a:lnSpc>
            </a:pPr>
            <a:r>
              <a:rPr lang="en-US" sz="1350">
                <a:solidFill>
                  <a:srgbClr val="4A5568"/>
                </a:solidFill>
                <a:latin typeface="Source Han Sans"/>
                <a:ea typeface="Source Han Sans"/>
              </a:rPr>
              <a:t>Interactive Media Arts · New York University Shanghai</a:t>
            </a:r>
            <a:endParaRPr lang="en-US" sz="1350">
              <a:solidFill>
                <a:srgbClr val="4A5568"/>
              </a:solidFill>
              <a:latin typeface="Source Han Sans"/>
              <a:ea typeface="Source Han Sans"/>
            </a:endParaRPr>
          </a:p>
        </p:txBody>
      </p:sp>
      <p:sp>
        <p:nvSpPr>
          <p:cNvPr id="12" name="文本框 11" descr="{&quot;isTemplate&quot;:true,&quot;type&quot;:&quot;text&quot;}"/>
          <p:cNvSpPr txBox="1"/>
          <p:nvPr/>
        </p:nvSpPr>
        <p:spPr>
          <a:xfrm>
            <a:off x="762000" y="5924550"/>
            <a:ext cx="10668000" cy="190500"/>
          </a:xfrm>
          <a:prstGeom prst="rect">
            <a:avLst/>
          </a:prstGeom>
        </p:spPr>
        <p:txBody>
          <a:bodyPr wrap="none" lIns="0" tIns="0" rIns="0" bIns="0"/>
          <a:p>
            <a:pPr>
              <a:lnSpc>
                <a:spcPct val="100000"/>
              </a:lnSpc>
            </a:pPr>
            <a:r>
              <a:rPr lang="en-US" sz="1200">
                <a:solidFill>
                  <a:srgbClr val="8B97A8"/>
                </a:solidFill>
                <a:latin typeface="Source Han Sans"/>
                <a:ea typeface="Source Han Sans"/>
              </a:rPr>
              <a:t>Panel 11 — Human-Guided AI Pedagogy · Room C (IA121) · Saturday, 5 September 2026, 09:00</a:t>
            </a:r>
            <a:endParaRPr lang="en-US" sz="1200">
              <a:solidFill>
                <a:srgbClr val="8B97A8"/>
              </a:solidFill>
              <a:latin typeface="Source Han Sans"/>
              <a:ea typeface="Source Ha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61" name="" descr="&lt;Slide style={{ width: '1280px', height: '720px', background: '#FFFFFF', position: 'relative', fontFamily: 'Source Han Sans, Noto Sans CJK SC, sans-serif' }}&gt;&#10;  &lt;Box style={{ position: 'absolute', top: 0, left: 0, width: '100%', height: 64, background: '#0E3F8C' }}&gt;&#10;    &lt;Text style={{ color: '#FFFFFF', fontSize: 18, padding: '18px 60px', letterSpacing: 1, fontWeight: 'bold' }}&gt;Outline&lt;/Text&gt;&#10;  &lt;/Box&gt;&#10;  &lt;Box style={{ position: 'absolute', top: 120, left: 60, width: 1160, height: 540, flexDirection: 'column', gap: 28 }}&gt;&#10;    {[&#10;      ['01', 'Setting the scene', 'The one-prompt trend, its empirical failure, and why this matters in an NYU Shanghai classroom.'],&#10;      ['02', 'The method', 'Game Design from Life in six steps; guided interview instead of prompt; development logs as accountability.'],&#10;      ['03', 'What we learned', 'Thirty student games, one case in depth, three findings, and where the field is going.'],&#10;    ].map(([num, title, sub]) =&gt; (&#10;      &lt;Box key={num} style={{ flexDirection: 'row', alignItems: 'center', gap: 28, padding: 20, background: '#F7F9FC', border: '1px solid #E5E7EB', borderRadius: 8 }}&gt;&#10;        &lt;Box style={{ width: 72, height: 72, background: '#0E3F8C', justifyContent: 'center', alignItems: 'center', borderRadius: 6 }}&gt;&#10;          &lt;Text style={{ color: '#FFFFFF', fontSize: 30, fontWeight: 'bold' }}&gt;{num}&lt;/Text&gt;&#10;        &lt;/Box&gt;&#10;        &lt;Box style={{ flex: 1, flexDirection: 'column', gap: 4 }}&gt;&#10;          &lt;Text style={{ fontSize: 28, fontWeight: 'bold', color: '#1A2230' }}&gt;{title}&lt;/Text&gt;&#10;          &lt;Text style={{ fontSize: 16, color: '#4A5568', lineHeight: 1.5 }}&gt;{sub}&lt;/Text&gt;&#10;        &lt;/Box&gt;&#10;      &lt;/Box&gt;&#10;    ))}&#10;  &lt;/Box&gt;&#10;  &lt;Box style={{ position: 'absolute', top: 680, left: 60, right: 60, flexDirection: 'row', justifyContent: 'space-between' }}&gt;&#10;    &lt;Text style={{ fontSize: 14, color: '#8B97A8' }}&gt;Xingchen Zhang · NYU Shanghai · XJTLU 2026 · Panel 11&lt;/Text&gt;&#10;    &lt;Text style={{ fontSize: 14, color: '#1E4FA8', fontWeight: 'bold' }}&gt;02 / 16&lt;/Text&gt;&#10;  &lt;/Box&gt;&#10;&lt;/Slide&gt;&#10;"/>
        <p:cNvGrpSpPr/>
        <p:nvPr/>
      </p:nvGrpSpPr>
      <p:grpSpPr>
        <a:xfrm>
          <a:off x="0" y="0"/>
          <a:ext cx="0" cy="0"/>
          <a:chOff x="0" y="0"/>
          <a:chExt cx="0" cy="0"/>
        </a:xfrm>
      </p:grpSpPr>
      <p:sp>
        <p:nvSpPr>
          <p:cNvPr id="162" name="矩形 161"/>
          <p:cNvSpPr/>
          <p:nvPr/>
        </p:nvSpPr>
        <p:spPr>
          <a:xfrm>
            <a:off x="0" y="0"/>
            <a:ext cx="12192000" cy="6858000"/>
          </a:xfrm>
          <a:prstGeom prst="rect">
            <a:avLst/>
          </a:prstGeom>
          <a:solidFill>
            <a:srgbClr val="FFFFFF"/>
          </a:solidFill>
        </p:spPr>
        <p:txBody>
          <a:bodyPr/>
          <a:p/>
        </p:txBody>
      </p:sp>
      <p:sp>
        <p:nvSpPr>
          <p:cNvPr id="163" name="矩形 162"/>
          <p:cNvSpPr/>
          <p:nvPr/>
        </p:nvSpPr>
        <p:spPr>
          <a:xfrm>
            <a:off x="0" y="0"/>
            <a:ext cx="12192000" cy="609600"/>
          </a:xfrm>
          <a:prstGeom prst="rect">
            <a:avLst/>
          </a:prstGeom>
          <a:solidFill>
            <a:srgbClr val="330662"/>
          </a:solidFill>
        </p:spPr>
        <p:txBody>
          <a:bodyPr/>
          <a:p/>
        </p:txBody>
      </p:sp>
      <p:sp>
        <p:nvSpPr>
          <p:cNvPr id="164" name="文本框 163" descr="{&quot;isTemplate&quot;:true,&quot;type&quot;:&quot;text&quot;}"/>
          <p:cNvSpPr txBox="1"/>
          <p:nvPr/>
        </p:nvSpPr>
        <p:spPr>
          <a:xfrm>
            <a:off x="0" y="0"/>
            <a:ext cx="12192000" cy="552450"/>
          </a:xfrm>
          <a:prstGeom prst="rect">
            <a:avLst/>
          </a:prstGeom>
        </p:spPr>
        <p:txBody>
          <a:bodyPr wrap="none" lIns="428625" tIns="128588" rIns="428625" bIns="128588"/>
          <a:p>
            <a:pPr>
              <a:lnSpc>
                <a:spcPct val="100000"/>
              </a:lnSpc>
            </a:pPr>
            <a:r>
              <a:rPr lang="en-US" sz="1350" b="1" spc="75">
                <a:solidFill>
                  <a:srgbClr val="FFFFFF"/>
                </a:solidFill>
                <a:latin typeface="Source Han Sans"/>
                <a:ea typeface="Source Han Sans"/>
              </a:rPr>
              <a:t>Outline</a:t>
            </a:r>
            <a:endParaRPr lang="en-US" sz="1350" b="1" spc="75">
              <a:solidFill>
                <a:srgbClr val="FFFFFF"/>
              </a:solidFill>
              <a:latin typeface="Source Han Sans"/>
              <a:ea typeface="Source Han Sans"/>
            </a:endParaRPr>
          </a:p>
        </p:txBody>
      </p:sp>
      <p:sp>
        <p:nvSpPr>
          <p:cNvPr id="165" name="圆角矩形 164"/>
          <p:cNvSpPr/>
          <p:nvPr/>
        </p:nvSpPr>
        <p:spPr>
          <a:xfrm>
            <a:off x="571500" y="1143000"/>
            <a:ext cx="11049000" cy="1066800"/>
          </a:xfrm>
          <a:prstGeom prst="roundRect">
            <a:avLst>
              <a:gd name="adj" fmla="val 7143"/>
            </a:avLst>
          </a:prstGeom>
          <a:solidFill>
            <a:srgbClr val="FAF8FC"/>
          </a:solidFill>
          <a:ln w="12700">
            <a:solidFill>
              <a:srgbClr val="E4DCEC"/>
            </a:solidFill>
            <a:prstDash val="solid"/>
          </a:ln>
        </p:spPr>
        <p:txBody>
          <a:bodyPr/>
          <a:p/>
        </p:txBody>
      </p:sp>
      <p:sp>
        <p:nvSpPr>
          <p:cNvPr id="166" name="圆角矩形 165"/>
          <p:cNvSpPr/>
          <p:nvPr/>
        </p:nvSpPr>
        <p:spPr>
          <a:xfrm>
            <a:off x="762000" y="1333500"/>
            <a:ext cx="685800" cy="685800"/>
          </a:xfrm>
          <a:prstGeom prst="roundRect">
            <a:avLst>
              <a:gd name="adj" fmla="val 8333"/>
            </a:avLst>
          </a:prstGeom>
          <a:solidFill>
            <a:srgbClr val="330662"/>
          </a:solidFill>
        </p:spPr>
        <p:txBody>
          <a:bodyPr/>
          <a:p/>
        </p:txBody>
      </p:sp>
      <p:sp>
        <p:nvSpPr>
          <p:cNvPr id="167" name="文本框 166" descr="{&quot;isTemplate&quot;:true,&quot;type&quot;:&quot;text&quot;}"/>
          <p:cNvSpPr txBox="1"/>
          <p:nvPr/>
        </p:nvSpPr>
        <p:spPr>
          <a:xfrm>
            <a:off x="942975" y="1504950"/>
            <a:ext cx="323850" cy="342900"/>
          </a:xfrm>
          <a:prstGeom prst="rect">
            <a:avLst/>
          </a:prstGeom>
        </p:spPr>
        <p:txBody>
          <a:bodyPr wrap="none" lIns="0" tIns="0" rIns="0" bIns="0"/>
          <a:p>
            <a:pPr>
              <a:lnSpc>
                <a:spcPct val="100000"/>
              </a:lnSpc>
            </a:pPr>
            <a:r>
              <a:rPr lang="en-US" sz="2250" b="1">
                <a:solidFill>
                  <a:srgbClr val="FFFFFF"/>
                </a:solidFill>
                <a:latin typeface="Source Han Sans"/>
                <a:ea typeface="Source Han Sans"/>
              </a:rPr>
              <a:t>01</a:t>
            </a:r>
            <a:endParaRPr lang="en-US" sz="2250" b="1">
              <a:solidFill>
                <a:srgbClr val="FFFFFF"/>
              </a:solidFill>
              <a:latin typeface="Source Han Sans"/>
              <a:ea typeface="Source Han Sans"/>
            </a:endParaRPr>
          </a:p>
        </p:txBody>
      </p:sp>
      <p:sp>
        <p:nvSpPr>
          <p:cNvPr id="168" name="文本框 167" descr="{&quot;isTemplate&quot;:true,&quot;type&quot;:&quot;text&quot;}"/>
          <p:cNvSpPr txBox="1"/>
          <p:nvPr/>
        </p:nvSpPr>
        <p:spPr>
          <a:xfrm>
            <a:off x="1714500" y="1362075"/>
            <a:ext cx="9715500" cy="323850"/>
          </a:xfrm>
          <a:prstGeom prst="rect">
            <a:avLst/>
          </a:prstGeom>
        </p:spPr>
        <p:txBody>
          <a:bodyPr wrap="none" lIns="0" tIns="0" rIns="0" bIns="0"/>
          <a:p>
            <a:pPr>
              <a:lnSpc>
                <a:spcPct val="100000"/>
              </a:lnSpc>
            </a:pPr>
            <a:r>
              <a:rPr lang="en-US" sz="2100" b="1">
                <a:solidFill>
                  <a:srgbClr val="1A2230"/>
                </a:solidFill>
                <a:latin typeface="Source Han Sans"/>
                <a:ea typeface="Source Han Sans"/>
              </a:rPr>
              <a:t>Setting the scene</a:t>
            </a:r>
            <a:endParaRPr lang="en-US" sz="2100" b="1">
              <a:solidFill>
                <a:srgbClr val="1A2230"/>
              </a:solidFill>
              <a:latin typeface="Source Han Sans"/>
              <a:ea typeface="Source Han Sans"/>
            </a:endParaRPr>
          </a:p>
        </p:txBody>
      </p:sp>
      <p:sp>
        <p:nvSpPr>
          <p:cNvPr id="169" name="文本框 168" descr="{&quot;isTemplate&quot;:true,&quot;type&quot;:&quot;text&quot;}"/>
          <p:cNvSpPr txBox="1"/>
          <p:nvPr/>
        </p:nvSpPr>
        <p:spPr>
          <a:xfrm>
            <a:off x="1714500" y="1724025"/>
            <a:ext cx="9715500" cy="276225"/>
          </a:xfrm>
          <a:prstGeom prst="rect">
            <a:avLst/>
          </a:prstGeom>
        </p:spPr>
        <p:txBody>
          <a:bodyPr wrap="none" lIns="0" tIns="0" rIns="0" bIns="0"/>
          <a:p>
            <a:pPr>
              <a:lnSpc>
                <a:spcPct val="150000"/>
              </a:lnSpc>
            </a:pPr>
            <a:r>
              <a:rPr lang="en-US" sz="1200">
                <a:solidFill>
                  <a:srgbClr val="4A5568"/>
                </a:solidFill>
                <a:latin typeface="Source Han Sans"/>
                <a:ea typeface="Source Han Sans"/>
              </a:rPr>
              <a:t>The one-prompt trend, its empirical failure, and why this matters in an NYU Shanghai classroom.</a:t>
            </a:r>
            <a:endParaRPr lang="en-US" sz="1200">
              <a:solidFill>
                <a:srgbClr val="4A5568"/>
              </a:solidFill>
              <a:latin typeface="Source Han Sans"/>
              <a:ea typeface="Source Han Sans"/>
            </a:endParaRPr>
          </a:p>
        </p:txBody>
      </p:sp>
      <p:sp>
        <p:nvSpPr>
          <p:cNvPr id="170" name="圆角矩形 169"/>
          <p:cNvSpPr/>
          <p:nvPr/>
        </p:nvSpPr>
        <p:spPr>
          <a:xfrm>
            <a:off x="571500" y="2476500"/>
            <a:ext cx="11049000" cy="1066800"/>
          </a:xfrm>
          <a:prstGeom prst="roundRect">
            <a:avLst>
              <a:gd name="adj" fmla="val 7143"/>
            </a:avLst>
          </a:prstGeom>
          <a:solidFill>
            <a:srgbClr val="FAF8FC"/>
          </a:solidFill>
          <a:ln w="12700">
            <a:solidFill>
              <a:srgbClr val="E4DCEC"/>
            </a:solidFill>
            <a:prstDash val="solid"/>
          </a:ln>
        </p:spPr>
        <p:txBody>
          <a:bodyPr/>
          <a:p/>
        </p:txBody>
      </p:sp>
      <p:sp>
        <p:nvSpPr>
          <p:cNvPr id="171" name="圆角矩形 170"/>
          <p:cNvSpPr/>
          <p:nvPr/>
        </p:nvSpPr>
        <p:spPr>
          <a:xfrm>
            <a:off x="762000" y="2667000"/>
            <a:ext cx="685800" cy="685800"/>
          </a:xfrm>
          <a:prstGeom prst="roundRect">
            <a:avLst>
              <a:gd name="adj" fmla="val 8333"/>
            </a:avLst>
          </a:prstGeom>
          <a:solidFill>
            <a:srgbClr val="330662"/>
          </a:solidFill>
        </p:spPr>
        <p:txBody>
          <a:bodyPr/>
          <a:p/>
        </p:txBody>
      </p:sp>
      <p:sp>
        <p:nvSpPr>
          <p:cNvPr id="172" name="文本框 171" descr="{&quot;isTemplate&quot;:true,&quot;type&quot;:&quot;text&quot;}"/>
          <p:cNvSpPr txBox="1"/>
          <p:nvPr/>
        </p:nvSpPr>
        <p:spPr>
          <a:xfrm>
            <a:off x="942975" y="2838450"/>
            <a:ext cx="323850" cy="342900"/>
          </a:xfrm>
          <a:prstGeom prst="rect">
            <a:avLst/>
          </a:prstGeom>
        </p:spPr>
        <p:txBody>
          <a:bodyPr wrap="none" lIns="0" tIns="0" rIns="0" bIns="0"/>
          <a:p>
            <a:pPr>
              <a:lnSpc>
                <a:spcPct val="100000"/>
              </a:lnSpc>
            </a:pPr>
            <a:r>
              <a:rPr lang="en-US" sz="2250" b="1">
                <a:solidFill>
                  <a:srgbClr val="FFFFFF"/>
                </a:solidFill>
                <a:latin typeface="Source Han Sans"/>
                <a:ea typeface="Source Han Sans"/>
              </a:rPr>
              <a:t>02</a:t>
            </a:r>
            <a:endParaRPr lang="en-US" sz="2250" b="1">
              <a:solidFill>
                <a:srgbClr val="FFFFFF"/>
              </a:solidFill>
              <a:latin typeface="Source Han Sans"/>
              <a:ea typeface="Source Han Sans"/>
            </a:endParaRPr>
          </a:p>
        </p:txBody>
      </p:sp>
      <p:sp>
        <p:nvSpPr>
          <p:cNvPr id="173" name="文本框 172" descr="{&quot;isTemplate&quot;:true,&quot;type&quot;:&quot;text&quot;}"/>
          <p:cNvSpPr txBox="1"/>
          <p:nvPr/>
        </p:nvSpPr>
        <p:spPr>
          <a:xfrm>
            <a:off x="1714500" y="2695575"/>
            <a:ext cx="9715500" cy="323850"/>
          </a:xfrm>
          <a:prstGeom prst="rect">
            <a:avLst/>
          </a:prstGeom>
        </p:spPr>
        <p:txBody>
          <a:bodyPr wrap="none" lIns="0" tIns="0" rIns="0" bIns="0"/>
          <a:p>
            <a:pPr>
              <a:lnSpc>
                <a:spcPct val="100000"/>
              </a:lnSpc>
            </a:pPr>
            <a:r>
              <a:rPr lang="en-US" sz="2100" b="1">
                <a:solidFill>
                  <a:srgbClr val="1A2230"/>
                </a:solidFill>
                <a:latin typeface="Source Han Sans"/>
                <a:ea typeface="Source Han Sans"/>
              </a:rPr>
              <a:t>The method</a:t>
            </a:r>
            <a:endParaRPr lang="en-US" sz="2100" b="1">
              <a:solidFill>
                <a:srgbClr val="1A2230"/>
              </a:solidFill>
              <a:latin typeface="Source Han Sans"/>
              <a:ea typeface="Source Han Sans"/>
            </a:endParaRPr>
          </a:p>
        </p:txBody>
      </p:sp>
      <p:sp>
        <p:nvSpPr>
          <p:cNvPr id="174" name="文本框 173" descr="{&quot;isTemplate&quot;:true,&quot;type&quot;:&quot;text&quot;}"/>
          <p:cNvSpPr txBox="1"/>
          <p:nvPr/>
        </p:nvSpPr>
        <p:spPr>
          <a:xfrm>
            <a:off x="1714500" y="3057525"/>
            <a:ext cx="9715500" cy="276225"/>
          </a:xfrm>
          <a:prstGeom prst="rect">
            <a:avLst/>
          </a:prstGeom>
        </p:spPr>
        <p:txBody>
          <a:bodyPr wrap="none" lIns="0" tIns="0" rIns="0" bIns="0"/>
          <a:p>
            <a:pPr>
              <a:lnSpc>
                <a:spcPct val="150000"/>
              </a:lnSpc>
            </a:pPr>
            <a:r>
              <a:rPr lang="en-US" sz="1200">
                <a:solidFill>
                  <a:srgbClr val="4A5568"/>
                </a:solidFill>
                <a:latin typeface="Source Han Sans"/>
                <a:ea typeface="Source Han Sans"/>
              </a:rPr>
              <a:t>Game Design from Life in six steps; guided interview instead of prompt; development logs as accountability.</a:t>
            </a:r>
            <a:endParaRPr lang="en-US" sz="1200">
              <a:solidFill>
                <a:srgbClr val="4A5568"/>
              </a:solidFill>
              <a:latin typeface="Source Han Sans"/>
              <a:ea typeface="Source Han Sans"/>
            </a:endParaRPr>
          </a:p>
        </p:txBody>
      </p:sp>
      <p:sp>
        <p:nvSpPr>
          <p:cNvPr id="175" name="圆角矩形 174"/>
          <p:cNvSpPr/>
          <p:nvPr/>
        </p:nvSpPr>
        <p:spPr>
          <a:xfrm>
            <a:off x="571500" y="3810000"/>
            <a:ext cx="11049000" cy="1066800"/>
          </a:xfrm>
          <a:prstGeom prst="roundRect">
            <a:avLst>
              <a:gd name="adj" fmla="val 7143"/>
            </a:avLst>
          </a:prstGeom>
          <a:solidFill>
            <a:srgbClr val="FAF8FC"/>
          </a:solidFill>
          <a:ln w="12700">
            <a:solidFill>
              <a:srgbClr val="E4DCEC"/>
            </a:solidFill>
            <a:prstDash val="solid"/>
          </a:ln>
        </p:spPr>
        <p:txBody>
          <a:bodyPr/>
          <a:p/>
        </p:txBody>
      </p:sp>
      <p:sp>
        <p:nvSpPr>
          <p:cNvPr id="176" name="圆角矩形 175"/>
          <p:cNvSpPr/>
          <p:nvPr/>
        </p:nvSpPr>
        <p:spPr>
          <a:xfrm>
            <a:off x="762000" y="4000500"/>
            <a:ext cx="685800" cy="685800"/>
          </a:xfrm>
          <a:prstGeom prst="roundRect">
            <a:avLst>
              <a:gd name="adj" fmla="val 8333"/>
            </a:avLst>
          </a:prstGeom>
          <a:solidFill>
            <a:srgbClr val="330662"/>
          </a:solidFill>
        </p:spPr>
        <p:txBody>
          <a:bodyPr/>
          <a:p/>
        </p:txBody>
      </p:sp>
      <p:sp>
        <p:nvSpPr>
          <p:cNvPr id="177" name="文本框 176" descr="{&quot;isTemplate&quot;:true,&quot;type&quot;:&quot;text&quot;}"/>
          <p:cNvSpPr txBox="1"/>
          <p:nvPr/>
        </p:nvSpPr>
        <p:spPr>
          <a:xfrm>
            <a:off x="942975" y="4171950"/>
            <a:ext cx="323850" cy="342900"/>
          </a:xfrm>
          <a:prstGeom prst="rect">
            <a:avLst/>
          </a:prstGeom>
        </p:spPr>
        <p:txBody>
          <a:bodyPr wrap="none" lIns="0" tIns="0" rIns="0" bIns="0"/>
          <a:p>
            <a:pPr>
              <a:lnSpc>
                <a:spcPct val="100000"/>
              </a:lnSpc>
            </a:pPr>
            <a:r>
              <a:rPr lang="en-US" sz="2250" b="1">
                <a:solidFill>
                  <a:srgbClr val="FFFFFF"/>
                </a:solidFill>
                <a:latin typeface="Source Han Sans"/>
                <a:ea typeface="Source Han Sans"/>
              </a:rPr>
              <a:t>03</a:t>
            </a:r>
            <a:endParaRPr lang="en-US" sz="2250" b="1">
              <a:solidFill>
                <a:srgbClr val="FFFFFF"/>
              </a:solidFill>
              <a:latin typeface="Source Han Sans"/>
              <a:ea typeface="Source Han Sans"/>
            </a:endParaRPr>
          </a:p>
        </p:txBody>
      </p:sp>
      <p:sp>
        <p:nvSpPr>
          <p:cNvPr id="178" name="文本框 177" descr="{&quot;isTemplate&quot;:true,&quot;type&quot;:&quot;text&quot;}"/>
          <p:cNvSpPr txBox="1"/>
          <p:nvPr/>
        </p:nvSpPr>
        <p:spPr>
          <a:xfrm>
            <a:off x="1714500" y="4029075"/>
            <a:ext cx="9715500" cy="323850"/>
          </a:xfrm>
          <a:prstGeom prst="rect">
            <a:avLst/>
          </a:prstGeom>
        </p:spPr>
        <p:txBody>
          <a:bodyPr wrap="none" lIns="0" tIns="0" rIns="0" bIns="0"/>
          <a:p>
            <a:pPr>
              <a:lnSpc>
                <a:spcPct val="100000"/>
              </a:lnSpc>
            </a:pPr>
            <a:r>
              <a:rPr lang="en-US" sz="2100" b="1">
                <a:solidFill>
                  <a:srgbClr val="1A2230"/>
                </a:solidFill>
                <a:latin typeface="Source Han Sans"/>
                <a:ea typeface="Source Han Sans"/>
              </a:rPr>
              <a:t>What we learned</a:t>
            </a:r>
            <a:endParaRPr lang="en-US" sz="2100" b="1">
              <a:solidFill>
                <a:srgbClr val="1A2230"/>
              </a:solidFill>
              <a:latin typeface="Source Han Sans"/>
              <a:ea typeface="Source Han Sans"/>
            </a:endParaRPr>
          </a:p>
        </p:txBody>
      </p:sp>
      <p:sp>
        <p:nvSpPr>
          <p:cNvPr id="179" name="文本框 178" descr="{&quot;isTemplate&quot;:true,&quot;type&quot;:&quot;text&quot;}"/>
          <p:cNvSpPr txBox="1"/>
          <p:nvPr/>
        </p:nvSpPr>
        <p:spPr>
          <a:xfrm>
            <a:off x="1714500" y="4391025"/>
            <a:ext cx="9715500" cy="276225"/>
          </a:xfrm>
          <a:prstGeom prst="rect">
            <a:avLst/>
          </a:prstGeom>
        </p:spPr>
        <p:txBody>
          <a:bodyPr wrap="none" lIns="0" tIns="0" rIns="0" bIns="0"/>
          <a:p>
            <a:pPr>
              <a:lnSpc>
                <a:spcPct val="150000"/>
              </a:lnSpc>
            </a:pPr>
            <a:r>
              <a:rPr lang="en-US" sz="1200">
                <a:solidFill>
                  <a:srgbClr val="4A5568"/>
                </a:solidFill>
                <a:latin typeface="Source Han Sans"/>
                <a:ea typeface="Source Han Sans"/>
              </a:rPr>
              <a:t>Thirty student games, one case in depth, three findings, and where the field is going.</a:t>
            </a:r>
            <a:endParaRPr lang="en-US" sz="1200">
              <a:solidFill>
                <a:srgbClr val="4A5568"/>
              </a:solidFill>
              <a:latin typeface="Source Han Sans"/>
              <a:ea typeface="Source Han Sans"/>
            </a:endParaRPr>
          </a:p>
        </p:txBody>
      </p:sp>
      <p:sp>
        <p:nvSpPr>
          <p:cNvPr id="180" name="文本框 179" descr="{&quot;isTemplate&quot;:true,&quot;type&quot;:&quot;text&quot;}"/>
          <p:cNvSpPr txBox="1"/>
          <p:nvPr/>
        </p:nvSpPr>
        <p:spPr>
          <a:xfrm>
            <a:off x="571500" y="6477000"/>
            <a:ext cx="3448050" cy="161925"/>
          </a:xfrm>
          <a:prstGeom prst="rect">
            <a:avLst/>
          </a:prstGeom>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lang="en-US" sz="1050">
              <a:solidFill>
                <a:srgbClr val="8B97A8"/>
              </a:solidFill>
              <a:latin typeface="Source Han Sans"/>
              <a:ea typeface="Source Han Sans"/>
            </a:endParaRPr>
          </a:p>
        </p:txBody>
      </p:sp>
      <p:sp>
        <p:nvSpPr>
          <p:cNvPr id="181" name="文本框 180" descr="{&quot;isTemplate&quot;:true,&quot;type&quot;:&quot;text&quot;}"/>
          <p:cNvSpPr txBox="1"/>
          <p:nvPr/>
        </p:nvSpPr>
        <p:spPr>
          <a:xfrm>
            <a:off x="11210925" y="6477000"/>
            <a:ext cx="409575" cy="161925"/>
          </a:xfrm>
          <a:prstGeom prst="rect">
            <a:avLst/>
          </a:prstGeom>
        </p:spPr>
        <p:txBody>
          <a:bodyPr wrap="none" lIns="0" tIns="0" rIns="0" bIns="0"/>
          <a:p>
            <a:pPr>
              <a:lnSpc>
                <a:spcPct val="100000"/>
              </a:lnSpc>
            </a:pPr>
            <a:r>
              <a:rPr lang="en-US" sz="1050" b="1">
                <a:solidFill>
                  <a:srgbClr val="57068C"/>
                </a:solidFill>
                <a:latin typeface="Source Han Sans"/>
                <a:ea typeface="Source Han Sans"/>
              </a:rPr>
              <a:t>02 / 16</a:t>
            </a:r>
            <a:endParaRPr lang="en-US" sz="1050" b="1">
              <a:solidFill>
                <a:srgbClr val="57068C"/>
              </a:solidFill>
              <a:latin typeface="Source Han Sans"/>
              <a:ea typeface="Source Ha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82" name="" descr="&lt;Slide style={{ width: '1280px', height: '720px', background: '#FFFFFF', position: 'relative', fontFamily: 'Source Han Sans, Noto Sans CJK SC, sans-serif' }}&gt;&#10;  &lt;Box style={{ position: 'absolute', top: 0, left: 0, width: '100%', height: 40, background: '#F0F5FC' }} /&gt;&#10;  &lt;Box style={{ position: 'absolute', top: 36, left: 0, width: '100%', height: 4, background: '#1E4FA8' }} /&gt;&#10;  &lt;Box style={{ position: 'absolute', top: 130, left: 80, flexDirection: 'column', gap: 12 }}&gt;&#10;    &lt;Text style={{ fontSize: 16, color: '#1E4FA8', fontWeight: 'bold', letterSpacing: 2 }}&gt;PART ONE&lt;/Text&gt;&#10;    &lt;Text style={{ fontSize: 220, fontWeight: 'bold', fontFamily: 'Source Serif Pro, Georgia, serif', color: '#E8EFF8', lineHeight: 1 }}&gt;01&lt;/Text&gt;&#10;  &lt;/Box&gt;&#10;  &lt;Box style={{ position: 'absolute', top: 260, left: 80, width: 1120, flexDirection: 'column', gap: 24 }}&gt;&#10;    &lt;Text style={{ fontSize: 48, fontWeight: 'bold', fontFamily: 'Source Serif Pro, Georgia, serif', color: '#0E3F8C', lineHeight: 1.15 }}&gt;Setting the scene&lt;/Text&gt;&#10;    &lt;Box style={{ width: 80, height: 3, background: '#1E4FA8' }} /&gt;&#10;    &lt;Text style={{ fontSize: 22, color: '#1A2230', lineHeight: 1.55 }}&gt;&#10;      A short trend that became a benchmark, the empirical evidence that follows, and why it matters in a classroom where students come to express something, not to learn an engine.&#10;    &lt;/Text&gt;&#10;    &lt;Box style={{ marginTop: 16, flexDirection: 'column', gap: 10 }}&gt;&#10;      {[&#10;        '&quot;A game in one sentence&quot; as a 2025–26 industry signal',&#10;        'What 10,400 single-pass generations, an end-to-end benchmark, and a playtest loop tell us',&#10;        'NYU Shanghai IMA: who shows up, and what they are trying to do',&#10;      ].map((line, i) =&gt; (&#10;        &lt;Box key={i} style={{ flexDirection: 'row', alignItems: 'flex-start', gap: 12 }}&gt;&#10;          &lt;Box style={{ width: 8, height: 8, borderRadius: 4, background: '#1E4FA8', marginTop: 12 }} /&gt;&#10;          &lt;Text style={{ fontSize: 18, color: '#4A5568', lineHeight: 1.5, flex: 1 }}&gt;{line}&lt;/Text&gt;&#10;        &lt;/Box&gt;&#10;      ))}&#10;    &lt;/Box&gt;&#10;  &lt;/Box&gt;&#10;  &lt;Box style={{ position: 'absolute', top: 680, left: 60, right: 60, flexDirection: 'row', justifyContent: 'space-between' }}&gt;&#10;    &lt;Text style={{ fontSize: 14, color: '#8B97A8' }}&gt;Xingchen Zhang · NYU Shanghai · XJTLU 2026 · Panel 11&lt;/Text&gt;&#10;    &lt;Text style={{ fontSize: 14, color: '#1E4FA8', fontWeight: 'bold' }}&gt;03 / 16&lt;/Text&gt;&#10;  &lt;/Box&gt;&#10;&lt;/Slide&gt;&#10;"/>
        <p:cNvGrpSpPr/>
        <p:nvPr/>
      </p:nvGrpSpPr>
      <p:grpSpPr>
        <a:xfrm>
          <a:off x="0" y="0"/>
          <a:ext cx="0" cy="0"/>
          <a:chOff x="0" y="0"/>
          <a:chExt cx="0" cy="0"/>
        </a:xfrm>
      </p:grpSpPr>
      <p:sp>
        <p:nvSpPr>
          <p:cNvPr id="183" name="矩形 182"/>
          <p:cNvSpPr/>
          <p:nvPr/>
        </p:nvSpPr>
        <p:spPr>
          <a:xfrm>
            <a:off x="0" y="0"/>
            <a:ext cx="12192000" cy="6858000"/>
          </a:xfrm>
          <a:prstGeom prst="rect">
            <a:avLst/>
          </a:prstGeom>
          <a:solidFill>
            <a:srgbClr val="FFFFFF"/>
          </a:solidFill>
        </p:spPr>
        <p:txBody>
          <a:bodyPr/>
          <a:p/>
        </p:txBody>
      </p:sp>
      <p:sp>
        <p:nvSpPr>
          <p:cNvPr id="184" name="矩形 183"/>
          <p:cNvSpPr/>
          <p:nvPr/>
        </p:nvSpPr>
        <p:spPr>
          <a:xfrm>
            <a:off x="0" y="0"/>
            <a:ext cx="12192000" cy="381000"/>
          </a:xfrm>
          <a:prstGeom prst="rect">
            <a:avLst/>
          </a:prstGeom>
          <a:solidFill>
            <a:srgbClr val="F6F1FA"/>
          </a:solidFill>
        </p:spPr>
        <p:txBody>
          <a:bodyPr/>
          <a:p/>
        </p:txBody>
      </p:sp>
      <p:sp>
        <p:nvSpPr>
          <p:cNvPr id="185" name="矩形 184"/>
          <p:cNvSpPr/>
          <p:nvPr/>
        </p:nvSpPr>
        <p:spPr>
          <a:xfrm>
            <a:off x="0" y="342900"/>
            <a:ext cx="12192000" cy="38100"/>
          </a:xfrm>
          <a:prstGeom prst="rect">
            <a:avLst/>
          </a:prstGeom>
          <a:solidFill>
            <a:srgbClr val="57068C"/>
          </a:solidFill>
        </p:spPr>
        <p:txBody>
          <a:bodyPr/>
          <a:p/>
        </p:txBody>
      </p:sp>
      <p:sp>
        <p:nvSpPr>
          <p:cNvPr id="186" name="文本框 185" descr="{&quot;isTemplate&quot;:true,&quot;type&quot;:&quot;text&quot;}"/>
          <p:cNvSpPr txBox="1"/>
          <p:nvPr/>
        </p:nvSpPr>
        <p:spPr>
          <a:xfrm>
            <a:off x="762000" y="1238250"/>
            <a:ext cx="2505075" cy="190500"/>
          </a:xfrm>
          <a:prstGeom prst="rect">
            <a:avLst/>
          </a:prstGeom>
        </p:spPr>
        <p:txBody>
          <a:bodyPr wrap="none" lIns="0" tIns="0" rIns="0" bIns="0"/>
          <a:p>
            <a:pPr>
              <a:lnSpc>
                <a:spcPct val="100000"/>
              </a:lnSpc>
            </a:pPr>
            <a:r>
              <a:rPr lang="en-US" sz="1200" b="1" spc="150">
                <a:solidFill>
                  <a:srgbClr val="57068C"/>
                </a:solidFill>
                <a:latin typeface="Source Han Sans"/>
                <a:ea typeface="Source Han Sans"/>
              </a:rPr>
              <a:t>PART ONE</a:t>
            </a:r>
            <a:endParaRPr lang="en-US" sz="1200" b="1" spc="150">
              <a:solidFill>
                <a:srgbClr val="57068C"/>
              </a:solidFill>
              <a:latin typeface="Source Han Sans"/>
              <a:ea typeface="Source Han Sans"/>
            </a:endParaRPr>
          </a:p>
        </p:txBody>
      </p:sp>
      <p:sp>
        <p:nvSpPr>
          <p:cNvPr id="187" name="文本框 186" descr="{&quot;isTemplate&quot;:true,&quot;type&quot;:&quot;text&quot;}"/>
          <p:cNvSpPr txBox="1"/>
          <p:nvPr/>
        </p:nvSpPr>
        <p:spPr>
          <a:xfrm>
            <a:off x="762000" y="1543050"/>
            <a:ext cx="2505075" cy="2514600"/>
          </a:xfrm>
          <a:prstGeom prst="rect">
            <a:avLst/>
          </a:prstGeom>
        </p:spPr>
        <p:txBody>
          <a:bodyPr wrap="none" lIns="0" tIns="0" rIns="0" bIns="0"/>
          <a:p>
            <a:pPr>
              <a:lnSpc>
                <a:spcPct val="100000"/>
              </a:lnSpc>
            </a:pPr>
            <a:r>
              <a:rPr lang="en-US" sz="16500" b="1">
                <a:solidFill>
                  <a:srgbClr val="EEE6F3"/>
                </a:solidFill>
                <a:latin typeface="Source Serif Pro"/>
                <a:ea typeface="Source Serif Pro"/>
              </a:rPr>
              <a:t>01</a:t>
            </a:r>
            <a:endParaRPr lang="en-US" sz="16500" b="1">
              <a:solidFill>
                <a:srgbClr val="EEE6F3"/>
              </a:solidFill>
              <a:latin typeface="Source Serif Pro"/>
              <a:ea typeface="Source Serif Pro"/>
            </a:endParaRPr>
          </a:p>
        </p:txBody>
      </p:sp>
      <p:sp>
        <p:nvSpPr>
          <p:cNvPr id="188" name="文本框 187" descr="{&quot;isTemplate&quot;:true,&quot;type&quot;:&quot;text&quot;}"/>
          <p:cNvSpPr txBox="1"/>
          <p:nvPr/>
        </p:nvSpPr>
        <p:spPr>
          <a:xfrm>
            <a:off x="762000" y="2476500"/>
            <a:ext cx="10668000" cy="638175"/>
          </a:xfrm>
          <a:prstGeom prst="rect">
            <a:avLst/>
          </a:prstGeom>
        </p:spPr>
        <p:txBody>
          <a:bodyPr wrap="none" lIns="0" tIns="0" rIns="0" bIns="0"/>
          <a:p>
            <a:pPr>
              <a:lnSpc>
                <a:spcPct val="115000"/>
              </a:lnSpc>
            </a:pPr>
            <a:r>
              <a:rPr lang="en-US" sz="3600" b="1">
                <a:solidFill>
                  <a:srgbClr val="330662"/>
                </a:solidFill>
                <a:latin typeface="Source Serif Pro"/>
                <a:ea typeface="Source Serif Pro"/>
              </a:rPr>
              <a:t>Setting the scene</a:t>
            </a:r>
            <a:endParaRPr lang="en-US" sz="3600" b="1">
              <a:solidFill>
                <a:srgbClr val="330662"/>
              </a:solidFill>
              <a:latin typeface="Source Serif Pro"/>
              <a:ea typeface="Source Serif Pro"/>
            </a:endParaRPr>
          </a:p>
        </p:txBody>
      </p:sp>
      <p:sp>
        <p:nvSpPr>
          <p:cNvPr id="189" name="矩形 188"/>
          <p:cNvSpPr/>
          <p:nvPr/>
        </p:nvSpPr>
        <p:spPr>
          <a:xfrm>
            <a:off x="762000" y="3343275"/>
            <a:ext cx="762000" cy="28575"/>
          </a:xfrm>
          <a:prstGeom prst="rect">
            <a:avLst/>
          </a:prstGeom>
          <a:solidFill>
            <a:srgbClr val="57068C"/>
          </a:solidFill>
        </p:spPr>
        <p:txBody>
          <a:bodyPr/>
          <a:p/>
        </p:txBody>
      </p:sp>
      <p:sp>
        <p:nvSpPr>
          <p:cNvPr id="190" name="文本框 189" descr="{&quot;isTemplate&quot;:true,&quot;type&quot;:&quot;text&quot;}"/>
          <p:cNvSpPr txBox="1"/>
          <p:nvPr/>
        </p:nvSpPr>
        <p:spPr>
          <a:xfrm>
            <a:off x="762000" y="3600450"/>
            <a:ext cx="10668000" cy="781050"/>
          </a:xfrm>
          <a:prstGeom prst="rect">
            <a:avLst/>
          </a:prstGeom>
        </p:spPr>
        <p:txBody>
          <a:bodyPr wrap="square" lIns="0" tIns="0" rIns="0" bIns="0">
            <a:normAutofit/>
          </a:bodyPr>
          <a:p>
            <a:pPr>
              <a:lnSpc>
                <a:spcPct val="155000"/>
              </a:lnSpc>
            </a:pPr>
            <a:r>
              <a:rPr lang="en-US" sz="1650">
                <a:solidFill>
                  <a:srgbClr val="1A2230"/>
                </a:solidFill>
                <a:latin typeface="Source Han Sans"/>
                <a:ea typeface="Source Han Sans"/>
              </a:rPr>
              <a:t>A short trend that became a benchmark, the empirical evidence that follows, and why it matters in a classroom where students come to express something, not to learn an engine.</a:t>
            </a:r>
            <a:endParaRPr lang="en-US" sz="1650">
              <a:solidFill>
                <a:srgbClr val="1A2230"/>
              </a:solidFill>
              <a:latin typeface="Source Han Sans"/>
              <a:ea typeface="Source Han Sans"/>
            </a:endParaRPr>
          </a:p>
        </p:txBody>
      </p:sp>
      <p:sp>
        <p:nvSpPr>
          <p:cNvPr id="191" name="圆角矩形 190"/>
          <p:cNvSpPr/>
          <p:nvPr/>
        </p:nvSpPr>
        <p:spPr>
          <a:xfrm>
            <a:off x="762000" y="4876800"/>
            <a:ext cx="76200" cy="76200"/>
          </a:xfrm>
          <a:prstGeom prst="roundRect">
            <a:avLst>
              <a:gd name="adj" fmla="val 50000"/>
            </a:avLst>
          </a:prstGeom>
          <a:solidFill>
            <a:srgbClr val="57068C"/>
          </a:solidFill>
        </p:spPr>
        <p:txBody>
          <a:bodyPr/>
          <a:p/>
        </p:txBody>
      </p:sp>
      <p:sp>
        <p:nvSpPr>
          <p:cNvPr id="192" name="文本框 191" descr="{&quot;isTemplate&quot;:true,&quot;type&quot;:&quot;text&quot;}"/>
          <p:cNvSpPr txBox="1"/>
          <p:nvPr/>
        </p:nvSpPr>
        <p:spPr>
          <a:xfrm>
            <a:off x="952500" y="4762500"/>
            <a:ext cx="10477500" cy="314325"/>
          </a:xfrm>
          <a:prstGeom prst="rect">
            <a:avLst/>
          </a:prstGeom>
        </p:spPr>
        <p:txBody>
          <a:bodyPr wrap="none" lIns="0" tIns="0" rIns="0" bIns="0"/>
          <a:p>
            <a:pPr>
              <a:lnSpc>
                <a:spcPct val="150000"/>
              </a:lnSpc>
            </a:pPr>
            <a:r>
              <a:rPr lang="en-US" sz="1350">
                <a:solidFill>
                  <a:srgbClr val="4A5568"/>
                </a:solidFill>
                <a:latin typeface="Source Han Sans"/>
                <a:ea typeface="Source Han Sans"/>
              </a:rPr>
              <a:t>"A game in one sentence" as a 2025–26 industry signal</a:t>
            </a:r>
            <a:endParaRPr lang="en-US" sz="1350">
              <a:solidFill>
                <a:srgbClr val="4A5568"/>
              </a:solidFill>
              <a:latin typeface="Source Han Sans"/>
              <a:ea typeface="Source Han Sans"/>
            </a:endParaRPr>
          </a:p>
        </p:txBody>
      </p:sp>
      <p:sp>
        <p:nvSpPr>
          <p:cNvPr id="193" name="圆角矩形 192"/>
          <p:cNvSpPr/>
          <p:nvPr/>
        </p:nvSpPr>
        <p:spPr>
          <a:xfrm>
            <a:off x="762000" y="5286375"/>
            <a:ext cx="76200" cy="76200"/>
          </a:xfrm>
          <a:prstGeom prst="roundRect">
            <a:avLst>
              <a:gd name="adj" fmla="val 50000"/>
            </a:avLst>
          </a:prstGeom>
          <a:solidFill>
            <a:srgbClr val="57068C"/>
          </a:solidFill>
        </p:spPr>
        <p:txBody>
          <a:bodyPr/>
          <a:p/>
        </p:txBody>
      </p:sp>
      <p:sp>
        <p:nvSpPr>
          <p:cNvPr id="194" name="文本框 193" descr="{&quot;isTemplate&quot;:true,&quot;type&quot;:&quot;text&quot;}"/>
          <p:cNvSpPr txBox="1"/>
          <p:nvPr/>
        </p:nvSpPr>
        <p:spPr>
          <a:xfrm>
            <a:off x="952500" y="5172075"/>
            <a:ext cx="10477500" cy="314325"/>
          </a:xfrm>
          <a:prstGeom prst="rect">
            <a:avLst/>
          </a:prstGeom>
        </p:spPr>
        <p:txBody>
          <a:bodyPr wrap="none" lIns="0" tIns="0" rIns="0" bIns="0"/>
          <a:p>
            <a:pPr>
              <a:lnSpc>
                <a:spcPct val="150000"/>
              </a:lnSpc>
            </a:pPr>
            <a:r>
              <a:rPr lang="en-US" sz="1350">
                <a:solidFill>
                  <a:srgbClr val="4A5568"/>
                </a:solidFill>
                <a:latin typeface="Source Han Sans"/>
                <a:ea typeface="Source Han Sans"/>
              </a:rPr>
              <a:t>What 10,400 single-pass generations, an end-to-end benchmark, and a playtest loop tell us</a:t>
            </a:r>
            <a:endParaRPr lang="en-US" sz="1350">
              <a:solidFill>
                <a:srgbClr val="4A5568"/>
              </a:solidFill>
              <a:latin typeface="Source Han Sans"/>
              <a:ea typeface="Source Han Sans"/>
            </a:endParaRPr>
          </a:p>
        </p:txBody>
      </p:sp>
      <p:sp>
        <p:nvSpPr>
          <p:cNvPr id="195" name="圆角矩形 194"/>
          <p:cNvSpPr/>
          <p:nvPr/>
        </p:nvSpPr>
        <p:spPr>
          <a:xfrm>
            <a:off x="762000" y="5695950"/>
            <a:ext cx="76200" cy="76200"/>
          </a:xfrm>
          <a:prstGeom prst="roundRect">
            <a:avLst>
              <a:gd name="adj" fmla="val 50000"/>
            </a:avLst>
          </a:prstGeom>
          <a:solidFill>
            <a:srgbClr val="57068C"/>
          </a:solidFill>
        </p:spPr>
        <p:txBody>
          <a:bodyPr/>
          <a:p/>
        </p:txBody>
      </p:sp>
      <p:sp>
        <p:nvSpPr>
          <p:cNvPr id="196" name="文本框 195" descr="{&quot;isTemplate&quot;:true,&quot;type&quot;:&quot;text&quot;}"/>
          <p:cNvSpPr txBox="1"/>
          <p:nvPr/>
        </p:nvSpPr>
        <p:spPr>
          <a:xfrm>
            <a:off x="952500" y="5581650"/>
            <a:ext cx="10477500" cy="314325"/>
          </a:xfrm>
          <a:prstGeom prst="rect">
            <a:avLst/>
          </a:prstGeom>
        </p:spPr>
        <p:txBody>
          <a:bodyPr wrap="none" lIns="0" tIns="0" rIns="0" bIns="0"/>
          <a:p>
            <a:pPr>
              <a:lnSpc>
                <a:spcPct val="150000"/>
              </a:lnSpc>
            </a:pPr>
            <a:r>
              <a:rPr lang="en-US" sz="1350">
                <a:solidFill>
                  <a:srgbClr val="4A5568"/>
                </a:solidFill>
                <a:latin typeface="Source Han Sans"/>
                <a:ea typeface="Source Han Sans"/>
              </a:rPr>
              <a:t>NYU Shanghai IMA: who shows up, and what they are trying to do</a:t>
            </a:r>
            <a:endParaRPr lang="en-US" sz="1350">
              <a:solidFill>
                <a:srgbClr val="4A5568"/>
              </a:solidFill>
              <a:latin typeface="Source Han Sans"/>
              <a:ea typeface="Source Han Sans"/>
            </a:endParaRPr>
          </a:p>
        </p:txBody>
      </p:sp>
      <p:sp>
        <p:nvSpPr>
          <p:cNvPr id="197" name="文本框 196" descr="{&quot;isTemplate&quot;:true,&quot;type&quot;:&quot;text&quot;}"/>
          <p:cNvSpPr txBox="1"/>
          <p:nvPr/>
        </p:nvSpPr>
        <p:spPr>
          <a:xfrm>
            <a:off x="571500" y="6477000"/>
            <a:ext cx="3448050" cy="161925"/>
          </a:xfrm>
          <a:prstGeom prst="rect">
            <a:avLst/>
          </a:prstGeom>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lang="en-US" sz="1050">
              <a:solidFill>
                <a:srgbClr val="8B97A8"/>
              </a:solidFill>
              <a:latin typeface="Source Han Sans"/>
              <a:ea typeface="Source Han Sans"/>
            </a:endParaRPr>
          </a:p>
        </p:txBody>
      </p:sp>
      <p:sp>
        <p:nvSpPr>
          <p:cNvPr id="198" name="文本框 197" descr="{&quot;isTemplate&quot;:true,&quot;type&quot;:&quot;text&quot;}"/>
          <p:cNvSpPr txBox="1"/>
          <p:nvPr/>
        </p:nvSpPr>
        <p:spPr>
          <a:xfrm>
            <a:off x="11210925" y="6477000"/>
            <a:ext cx="409575" cy="161925"/>
          </a:xfrm>
          <a:prstGeom prst="rect">
            <a:avLst/>
          </a:prstGeom>
        </p:spPr>
        <p:txBody>
          <a:bodyPr wrap="none" lIns="0" tIns="0" rIns="0" bIns="0"/>
          <a:p>
            <a:pPr>
              <a:lnSpc>
                <a:spcPct val="100000"/>
              </a:lnSpc>
            </a:pPr>
            <a:r>
              <a:rPr lang="en-US" sz="1050" b="1">
                <a:solidFill>
                  <a:srgbClr val="57068C"/>
                </a:solidFill>
                <a:latin typeface="Source Han Sans"/>
                <a:ea typeface="Source Han Sans"/>
              </a:rPr>
              <a:t>03 / 16</a:t>
            </a:r>
            <a:endParaRPr lang="en-US" sz="1050" b="1">
              <a:solidFill>
                <a:srgbClr val="57068C"/>
              </a:solidFill>
              <a:latin typeface="Source Han Sans"/>
              <a:ea typeface="Source Han Sans"/>
            </a:endParaRPr>
          </a:p>
        </p:txBody>
      </p:sp>
      <p:pic>
        <p:nvPicPr>
          <p:cNvPr id="1" name="图片 0"/>
          <p:cNvPicPr/>
          <p:nvPr/>
        </p:nvPicPr>
        <p:blipFill>
          <a:blip r:embed="rId1"/>
          <a:stretch>
            <a:fillRect/>
          </a:stretch>
        </p:blipFill>
        <p:spPr>
          <a:xfrm>
            <a:off x="7837805" y="584835"/>
            <a:ext cx="4183380" cy="2482215"/>
          </a:xfrm>
          <a:prstGeom prst="rect">
            <a:avLst/>
          </a:prstGeom>
        </p:spPr>
      </p:pic>
      <p:sp>
        <p:nvSpPr>
          <p:cNvPr id="2" name="文本框 1" descr="{&quot;isTemplate&quot;:true,&quot;type&quot;:&quot;text&quot;}"/>
          <p:cNvSpPr txBox="1"/>
          <p:nvPr/>
        </p:nvSpPr>
        <p:spPr>
          <a:xfrm>
            <a:off x="7837805" y="3160395"/>
            <a:ext cx="4146550" cy="161925"/>
          </a:xfrm>
          <a:prstGeom prst="rect">
            <a:avLst/>
          </a:prstGeom>
        </p:spPr>
        <p:txBody>
          <a:bodyPr wrap="none" lIns="0" tIns="0" rIns="0" bIns="0"/>
          <a:p>
            <a:pPr>
              <a:lnSpc>
                <a:spcPct val="100000"/>
              </a:lnSpc>
            </a:pPr>
            <a:r>
              <a:rPr lang="en-US" sz="1050">
                <a:solidFill>
                  <a:srgbClr val="8B97A8"/>
                </a:solidFill>
                <a:latin typeface="Source Han Sans"/>
                <a:ea typeface="Source Han Sans"/>
              </a:rPr>
              <a:t>”The ‘I build this with one prompt’ Trend: Myth or Method?</a:t>
            </a:r>
            <a:endParaRPr lang="en-US" sz="1050">
              <a:solidFill>
                <a:srgbClr val="8B97A8"/>
              </a:solidFill>
              <a:latin typeface="Source Han Sans"/>
              <a:ea typeface="Source Han Sans"/>
            </a:endParaRPr>
          </a:p>
          <a:p>
            <a:pPr>
              <a:lnSpc>
                <a:spcPct val="100000"/>
              </a:lnSpc>
            </a:pPr>
            <a:r>
              <a:rPr lang="en-US" sz="1050">
                <a:solidFill>
                  <a:srgbClr val="8B97A8"/>
                </a:solidFill>
                <a:latin typeface="Source Han Sans"/>
                <a:ea typeface="Source Han Sans"/>
              </a:rPr>
              <a:t>”August G. Osei</a:t>
            </a:r>
            <a:endParaRPr lang="en-US" sz="1050">
              <a:solidFill>
                <a:srgbClr val="8B97A8"/>
              </a:solidFill>
              <a:latin typeface="Source Han Sans"/>
              <a:ea typeface="Source Ha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50" name="" descr="&lt;Slide style={{ width: '1280px', height: '720px', background: '#FFFFFF', position: 'relative', fontFamily: 'Source Han Sans, Noto Sans CJK SC, sans-serif' }}&gt;&#10;  &lt;Box style={{ position: 'absolute', top: 0, left: 0, width: '100%', height: 60, background: '#0E3F8C' }}&gt;&#10;    &lt;Text style={{ color: '#FFFFFF', fontSize: 22, fontWeight: 'bold', padding: '14px 60px' }}&gt;Why this matters in an NYU Shanghai classroom&lt;/Text&gt;&#10;  &lt;/Box&gt;&#10;  &lt;Box style={{ position: 'absolute', top: 110, left: 60, width: 320, height: 540, padding: 28, background: '#F0F5FC', borderLeft: '4px solid #1E4FA8', flexDirection: 'column', gap: 16 }}&gt;&#10;    &lt;Text style={{ fontSize: 14, color: '#1E4FA8', fontWeight: 'bold', letterSpacing: 2 }}&gt;OUR SETTING&lt;/Text&gt;&#10;    &lt;Text style={{ fontSize: 30, fontWeight: 'bold', fontFamily: 'Source Serif Pro, Georgia, serif', color: '#0E3F8C', lineHeight: 1.2 }}&gt;&#10;      One program, two summers, mixed preparation, one shared bet.&#10;    &lt;/Text&gt;&#10;    &lt;Box style={{ width: 40, height: 3, background: '#1E4FA8' }} /&gt;&#10;    &lt;Text style={{ fontSize: 17, color: '#1A2230', lineHeight: 1.55 }}&gt;&#10;      The IMA program draws students from across the liberal-arts curriculum. Game Design is not a vocational track — students enroll to learn how to &lt;span style={{ fontWeight: 'bold' }}&gt;use a system to express an experience&lt;/span&gt;.&#10;    &lt;/Text&gt;&#10;  &lt;/Box&gt;&#10;  &lt;Box style={{ position: 'absolute', top: 110, right: 60, width: 780, height: 540, flexDirection: 'column', gap: 18 }}&gt;&#10;    {[&#10;      { tag: 'STUDENTS', t: 'Interdisciplinary cohort, mixed coding background', d: 'Many have never written a line of code. All have something they want to express — a frustration, a memory, a practice. The course exists to give that impulse a system.' },&#10;      { tag: 'COURSE MISSION', t: 'Not &quot;game developer&quot; — &quot;systematic expression of experience&quot;', d: 'We treat the game as a structured translation of lived experience. The evaluation question is not &quot;is it fun?&quot; but &quot;did the translation succeed?&quot;' },&#10;      { tag: 'TWO CONSEQUENCES', t: 'AI is welcome — but only within a boundary', d: 'Because coding is not the learning goal, AI assistance is legitimate. Because intent and emotional structure are the learning goal, those cannot be outsourced. The question becomes how to draw the line.' },&#10;    ].map((b, i) =&gt; (&#10;      &lt;Box key={i} style={{ flex: 1, padding: 20, background: '#FFFFFF', border: '1px solid #E5E7EB', borderRadius: 8, flexDirection: 'column', gap: 8 }}&gt;&#10;        &lt;Text style={{ fontSize: 12, color: '#1E4FA8', fontWeight: 'bold', letterSpacing: 2 }}&gt;{b.tag}&lt;/Text&gt;&#10;        &lt;Text style={{ fontSize: 20, fontWeight: 'bold', color: '#1A2230' }}&gt;{b.t}&lt;/Text&gt;&#10;        &lt;Text style={{ fontSize: 15, color: '#4A5568', lineHeight: 1.55 }}&gt;{b.d}&lt;/Text&gt;&#10;      &lt;/Box&gt;&#10;    ))}&#10;  &lt;/Box&gt;&#10;  &lt;Box style={{ position: 'absolute', top: 680, left: 60, right: 60, flexDirection: 'row', justifyContent: 'space-between' }}&gt;&#10;    &lt;Text style={{ fontSize: 14, color: '#8B97A8' }}&gt;Xingchen Zhang · NYU Shanghai · XJTLU 2026 · Panel 11&lt;/Text&gt;&#10;    &lt;Text style={{ fontSize: 14, color: '#1E4FA8', fontWeight: 'bold' }}&gt;06 / 16&lt;/Text&gt;&#10;  &lt;/Box&gt;&#10;&lt;/Slide&gt;&#10;"/>
        <p:cNvGrpSpPr/>
        <p:nvPr/>
      </p:nvGrpSpPr>
      <p:grpSpPr>
        <a:xfrm>
          <a:off x="0" y="0"/>
          <a:ext cx="0" cy="0"/>
          <a:chOff x="0" y="0"/>
          <a:chExt cx="0" cy="0"/>
        </a:xfrm>
      </p:grpSpPr>
      <p:sp>
        <p:nvSpPr>
          <p:cNvPr id="251" name="矩形 250"/>
          <p:cNvSpPr/>
          <p:nvPr/>
        </p:nvSpPr>
        <p:spPr>
          <a:xfrm>
            <a:off x="0" y="0"/>
            <a:ext cx="12192000" cy="6858000"/>
          </a:xfrm>
          <a:prstGeom prst="rect">
            <a:avLst/>
          </a:prstGeom>
          <a:solidFill>
            <a:srgbClr val="FFFFFF"/>
          </a:solidFill>
        </p:spPr>
        <p:txBody>
          <a:bodyPr/>
          <a:p/>
        </p:txBody>
      </p:sp>
      <p:sp>
        <p:nvSpPr>
          <p:cNvPr id="252" name="矩形 251"/>
          <p:cNvSpPr/>
          <p:nvPr/>
        </p:nvSpPr>
        <p:spPr>
          <a:xfrm>
            <a:off x="0" y="0"/>
            <a:ext cx="12192000" cy="571500"/>
          </a:xfrm>
          <a:prstGeom prst="rect">
            <a:avLst/>
          </a:prstGeom>
          <a:solidFill>
            <a:srgbClr val="330662"/>
          </a:solidFill>
        </p:spPr>
        <p:txBody>
          <a:bodyPr/>
          <a:p/>
        </p:txBody>
      </p:sp>
      <p:sp>
        <p:nvSpPr>
          <p:cNvPr id="253" name="文本框 252" descr="{&quot;isTemplate&quot;:true,&quot;type&quot;:&quot;text&quot;}"/>
          <p:cNvSpPr txBox="1"/>
          <p:nvPr/>
        </p:nvSpPr>
        <p:spPr>
          <a:xfrm>
            <a:off x="0" y="0"/>
            <a:ext cx="12192000" cy="523875"/>
          </a:xfrm>
          <a:prstGeom prst="rect">
            <a:avLst/>
          </a:prstGeom>
        </p:spPr>
        <p:txBody>
          <a:bodyPr wrap="none" lIns="428625" tIns="100013" rIns="428625" bIns="100013"/>
          <a:p>
            <a:pPr>
              <a:lnSpc>
                <a:spcPct val="100000"/>
              </a:lnSpc>
            </a:pPr>
            <a:r>
              <a:rPr lang="en-US" sz="1650" b="1">
                <a:solidFill>
                  <a:srgbClr val="FFFFFF"/>
                </a:solidFill>
                <a:latin typeface="Source Han Sans"/>
                <a:ea typeface="Source Han Sans"/>
              </a:rPr>
              <a:t>Why this matters in an NYU Shanghai classroom</a:t>
            </a:r>
            <a:endParaRPr lang="en-US" sz="1650" b="1">
              <a:solidFill>
                <a:srgbClr val="FFFFFF"/>
              </a:solidFill>
              <a:latin typeface="Source Han Sans"/>
              <a:ea typeface="Source Han Sans"/>
            </a:endParaRPr>
          </a:p>
        </p:txBody>
      </p:sp>
      <p:sp>
        <p:nvSpPr>
          <p:cNvPr id="254" name="矩形 253"/>
          <p:cNvSpPr/>
          <p:nvPr/>
        </p:nvSpPr>
        <p:spPr>
          <a:xfrm>
            <a:off x="609600" y="1047750"/>
            <a:ext cx="3009900" cy="5143500"/>
          </a:xfrm>
          <a:prstGeom prst="rect">
            <a:avLst/>
          </a:prstGeom>
          <a:solidFill>
            <a:srgbClr val="F6F1FA"/>
          </a:solidFill>
        </p:spPr>
        <p:txBody>
          <a:bodyPr/>
          <a:p/>
        </p:txBody>
      </p:sp>
      <p:sp>
        <p:nvSpPr>
          <p:cNvPr id="255" name="任意多边形 254"/>
          <p:cNvSpPr/>
          <p:nvPr/>
        </p:nvSpPr>
        <p:spPr>
          <a:xfrm>
            <a:off x="571500" y="1047750"/>
            <a:ext cx="3048000" cy="5143500"/>
          </a:xfrm>
          <a:custGeom>
            <a:avLst/>
            <a:gdLst/>
            <a:ahLst/>
            <a:cxnLst/>
            <a:pathLst>
              <a:path w="320" h="540">
                <a:moveTo>
                  <a:pt x="0" y="0"/>
                </a:moveTo>
                <a:lnTo>
                  <a:pt x="4" y="0"/>
                </a:lnTo>
                <a:lnTo>
                  <a:pt x="4" y="540"/>
                </a:lnTo>
                <a:lnTo>
                  <a:pt x="0" y="540"/>
                </a:lnTo>
                <a:close/>
              </a:path>
            </a:pathLst>
          </a:custGeom>
          <a:solidFill>
            <a:srgbClr val="57068C"/>
          </a:solidFill>
        </p:spPr>
        <p:txBody>
          <a:bodyPr/>
          <a:p/>
        </p:txBody>
      </p:sp>
      <p:sp>
        <p:nvSpPr>
          <p:cNvPr id="256" name="文本框 255" descr="{&quot;isTemplate&quot;:true,&quot;type&quot;:&quot;text&quot;}"/>
          <p:cNvSpPr txBox="1"/>
          <p:nvPr/>
        </p:nvSpPr>
        <p:spPr>
          <a:xfrm>
            <a:off x="876300" y="1314450"/>
            <a:ext cx="2476500" cy="161925"/>
          </a:xfrm>
          <a:prstGeom prst="rect">
            <a:avLst/>
          </a:prstGeom>
        </p:spPr>
        <p:txBody>
          <a:bodyPr wrap="none" lIns="0" tIns="0" rIns="0" bIns="0"/>
          <a:p>
            <a:pPr>
              <a:lnSpc>
                <a:spcPct val="100000"/>
              </a:lnSpc>
            </a:pPr>
            <a:r>
              <a:rPr lang="en-US" sz="1050" b="1" spc="150">
                <a:solidFill>
                  <a:srgbClr val="57068C"/>
                </a:solidFill>
                <a:latin typeface="Source Han Sans"/>
                <a:ea typeface="Source Han Sans"/>
              </a:rPr>
              <a:t>OUR SETTING</a:t>
            </a:r>
            <a:endParaRPr lang="en-US" sz="1050" b="1" spc="150">
              <a:solidFill>
                <a:srgbClr val="57068C"/>
              </a:solidFill>
              <a:latin typeface="Source Han Sans"/>
              <a:ea typeface="Source Han Sans"/>
            </a:endParaRPr>
          </a:p>
        </p:txBody>
      </p:sp>
      <p:sp>
        <p:nvSpPr>
          <p:cNvPr id="257" name="文本框 256" descr="{&quot;isTemplate&quot;:true,&quot;type&quot;:&quot;text&quot;}"/>
          <p:cNvSpPr txBox="1"/>
          <p:nvPr/>
        </p:nvSpPr>
        <p:spPr>
          <a:xfrm>
            <a:off x="876300" y="1628775"/>
            <a:ext cx="2476500" cy="2057400"/>
          </a:xfrm>
          <a:prstGeom prst="rect">
            <a:avLst/>
          </a:prstGeom>
        </p:spPr>
        <p:txBody>
          <a:bodyPr wrap="square" lIns="0" tIns="0" rIns="0" bIns="0">
            <a:normAutofit/>
          </a:bodyPr>
          <a:p>
            <a:pPr>
              <a:lnSpc>
                <a:spcPct val="120000"/>
              </a:lnSpc>
            </a:pPr>
            <a:r>
              <a:rPr lang="en-US" sz="2250" b="1">
                <a:solidFill>
                  <a:srgbClr val="330662"/>
                </a:solidFill>
                <a:latin typeface="Source Serif Pro"/>
                <a:ea typeface="Source Serif Pro"/>
              </a:rPr>
              <a:t>Two courses in one summer </a:t>
            </a:r>
            <a:endParaRPr lang="en-US" sz="2250" b="1">
              <a:solidFill>
                <a:srgbClr val="330662"/>
              </a:solidFill>
              <a:latin typeface="Source Serif Pro"/>
              <a:ea typeface="Source Serif Pro"/>
            </a:endParaRPr>
          </a:p>
          <a:p>
            <a:pPr>
              <a:lnSpc>
                <a:spcPct val="120000"/>
              </a:lnSpc>
            </a:pPr>
            <a:r>
              <a:rPr lang="en-US" sz="2250" b="1">
                <a:solidFill>
                  <a:srgbClr val="330662"/>
                </a:solidFill>
                <a:latin typeface="Source Serif Pro"/>
                <a:ea typeface="Source Serif Pro"/>
              </a:rPr>
              <a:t>with</a:t>
            </a:r>
            <a:endParaRPr lang="en-US" sz="2250" b="1">
              <a:solidFill>
                <a:srgbClr val="330662"/>
              </a:solidFill>
              <a:latin typeface="Source Serif Pro"/>
              <a:ea typeface="Source Serif Pro"/>
            </a:endParaRPr>
          </a:p>
          <a:p>
            <a:pPr>
              <a:lnSpc>
                <a:spcPct val="120000"/>
              </a:lnSpc>
            </a:pPr>
            <a:r>
              <a:rPr lang="en-US" sz="2250" b="1">
                <a:solidFill>
                  <a:srgbClr val="330662"/>
                </a:solidFill>
                <a:latin typeface="Source Serif Pro"/>
                <a:ea typeface="Source Serif Pro"/>
              </a:rPr>
              <a:t>One Situation &amp;</a:t>
            </a:r>
            <a:br>
              <a:rPr lang="en-US" sz="2250" b="1">
                <a:solidFill>
                  <a:srgbClr val="330662"/>
                </a:solidFill>
                <a:latin typeface="Source Serif Pro"/>
                <a:ea typeface="Source Serif Pro"/>
              </a:rPr>
            </a:br>
            <a:r>
              <a:rPr lang="en-US" sz="2250" b="1">
                <a:solidFill>
                  <a:srgbClr val="330662"/>
                </a:solidFill>
                <a:latin typeface="Source Serif Pro"/>
                <a:ea typeface="Source Serif Pro"/>
              </a:rPr>
              <a:t>Two Missions</a:t>
            </a:r>
            <a:endParaRPr lang="en-US" sz="2250" b="1">
              <a:solidFill>
                <a:srgbClr val="330662"/>
              </a:solidFill>
              <a:latin typeface="Source Serif Pro"/>
              <a:ea typeface="Source Serif Pro"/>
            </a:endParaRPr>
          </a:p>
        </p:txBody>
      </p:sp>
      <p:sp>
        <p:nvSpPr>
          <p:cNvPr id="258" name="矩形 257"/>
          <p:cNvSpPr/>
          <p:nvPr/>
        </p:nvSpPr>
        <p:spPr>
          <a:xfrm>
            <a:off x="876300" y="3838575"/>
            <a:ext cx="381000" cy="28575"/>
          </a:xfrm>
          <a:prstGeom prst="rect">
            <a:avLst/>
          </a:prstGeom>
          <a:solidFill>
            <a:srgbClr val="57068C"/>
          </a:solidFill>
        </p:spPr>
        <p:txBody>
          <a:bodyPr/>
          <a:p/>
        </p:txBody>
      </p:sp>
      <p:sp>
        <p:nvSpPr>
          <p:cNvPr id="259" name="文本框 258" descr="{&quot;isTemplate&quot;:true,&quot;type&quot;:&quot;text&quot;}"/>
          <p:cNvSpPr txBox="1"/>
          <p:nvPr/>
        </p:nvSpPr>
        <p:spPr>
          <a:xfrm>
            <a:off x="876300" y="4019550"/>
            <a:ext cx="2476500" cy="1809750"/>
          </a:xfrm>
          <a:prstGeom prst="rect">
            <a:avLst/>
          </a:prstGeom>
        </p:spPr>
        <p:txBody>
          <a:bodyPr wrap="square" lIns="0" tIns="0" rIns="0" bIns="0">
            <a:normAutofit/>
          </a:bodyPr>
          <a:p>
            <a:pPr>
              <a:lnSpc>
                <a:spcPct val="155000"/>
              </a:lnSpc>
            </a:pPr>
            <a:r>
              <a:rPr lang="en-US" sz="1275">
                <a:solidFill>
                  <a:srgbClr val="1A2230"/>
                </a:solidFill>
                <a:latin typeface="Source Han Sans"/>
                <a:ea typeface="Source Han Sans"/>
              </a:rPr>
              <a:t>The IMA program draws students from across the liberal-arts curriculum. Game Design is not a vocational track — students enroll to learn how to </a:t>
            </a:r>
            <a:r>
              <a:rPr lang="en-US" sz="1275" b="1">
                <a:solidFill>
                  <a:srgbClr val="1A2230"/>
                </a:solidFill>
                <a:latin typeface="Source Han Sans"/>
                <a:ea typeface="Source Han Sans"/>
              </a:rPr>
              <a:t>use a system to express an experience</a:t>
            </a:r>
            <a:r>
              <a:rPr lang="en-US" sz="1275">
                <a:solidFill>
                  <a:srgbClr val="1A2230"/>
                </a:solidFill>
                <a:latin typeface="Source Han Sans"/>
                <a:ea typeface="Source Han Sans"/>
              </a:rPr>
              <a:t>.</a:t>
            </a:r>
            <a:endParaRPr lang="en-US" sz="1275">
              <a:solidFill>
                <a:srgbClr val="1A2230"/>
              </a:solidFill>
              <a:latin typeface="Source Han Sans"/>
              <a:ea typeface="Source Han Sans"/>
            </a:endParaRPr>
          </a:p>
        </p:txBody>
      </p:sp>
      <p:sp>
        <p:nvSpPr>
          <p:cNvPr id="260" name="圆角矩形 259"/>
          <p:cNvSpPr/>
          <p:nvPr/>
        </p:nvSpPr>
        <p:spPr>
          <a:xfrm>
            <a:off x="4191000" y="1047750"/>
            <a:ext cx="7429500" cy="1600200"/>
          </a:xfrm>
          <a:prstGeom prst="roundRect">
            <a:avLst>
              <a:gd name="adj" fmla="val 4762"/>
            </a:avLst>
          </a:prstGeom>
          <a:solidFill>
            <a:srgbClr val="FFFFFF"/>
          </a:solidFill>
          <a:ln w="12700">
            <a:solidFill>
              <a:srgbClr val="E4DCEC"/>
            </a:solidFill>
            <a:prstDash val="solid"/>
          </a:ln>
        </p:spPr>
        <p:txBody>
          <a:bodyPr/>
          <a:p/>
        </p:txBody>
      </p:sp>
      <p:sp>
        <p:nvSpPr>
          <p:cNvPr id="261" name="文本框 260" descr="{&quot;isTemplate&quot;:true,&quot;type&quot;:&quot;text&quot;}"/>
          <p:cNvSpPr txBox="1"/>
          <p:nvPr/>
        </p:nvSpPr>
        <p:spPr>
          <a:xfrm>
            <a:off x="4381500" y="1238250"/>
            <a:ext cx="7048500" cy="142875"/>
          </a:xfrm>
          <a:prstGeom prst="rect">
            <a:avLst/>
          </a:prstGeom>
        </p:spPr>
        <p:txBody>
          <a:bodyPr wrap="none" lIns="0" tIns="0" rIns="0" bIns="0"/>
          <a:p>
            <a:pPr>
              <a:lnSpc>
                <a:spcPct val="100000"/>
              </a:lnSpc>
            </a:pPr>
            <a:r>
              <a:rPr lang="en-US" sz="900" b="1" spc="150">
                <a:solidFill>
                  <a:srgbClr val="57068C"/>
                </a:solidFill>
                <a:latin typeface="Source Han Sans"/>
                <a:ea typeface="Source Han Sans"/>
              </a:rPr>
              <a:t>STUDENTS</a:t>
            </a:r>
            <a:endParaRPr lang="en-US" sz="900" b="1" spc="150">
              <a:solidFill>
                <a:srgbClr val="57068C"/>
              </a:solidFill>
              <a:latin typeface="Source Han Sans"/>
              <a:ea typeface="Source Han Sans"/>
            </a:endParaRPr>
          </a:p>
        </p:txBody>
      </p:sp>
      <p:sp>
        <p:nvSpPr>
          <p:cNvPr id="262" name="文本框 261" descr="{&quot;isTemplate&quot;:true,&quot;type&quot;:&quot;text&quot;}"/>
          <p:cNvSpPr txBox="1"/>
          <p:nvPr/>
        </p:nvSpPr>
        <p:spPr>
          <a:xfrm>
            <a:off x="4381500" y="1457325"/>
            <a:ext cx="7048500" cy="228600"/>
          </a:xfrm>
          <a:prstGeom prst="rect">
            <a:avLst/>
          </a:prstGeom>
        </p:spPr>
        <p:txBody>
          <a:bodyPr wrap="none" lIns="0" tIns="0" rIns="0" bIns="0"/>
          <a:p>
            <a:pPr>
              <a:lnSpc>
                <a:spcPct val="100000"/>
              </a:lnSpc>
            </a:pPr>
            <a:r>
              <a:rPr lang="en-US" sz="1500" b="1">
                <a:solidFill>
                  <a:srgbClr val="1A2230"/>
                </a:solidFill>
                <a:latin typeface="Source Han Sans"/>
                <a:ea typeface="Source Han Sans"/>
              </a:rPr>
              <a:t>Interdisciplinary cohort, mixed coding background</a:t>
            </a:r>
            <a:endParaRPr lang="en-US" sz="1500" b="1">
              <a:solidFill>
                <a:srgbClr val="1A2230"/>
              </a:solidFill>
              <a:latin typeface="Source Han Sans"/>
              <a:ea typeface="Source Han Sans"/>
            </a:endParaRPr>
          </a:p>
        </p:txBody>
      </p:sp>
      <p:sp>
        <p:nvSpPr>
          <p:cNvPr id="263" name="文本框 262" descr="{&quot;isTemplate&quot;:true,&quot;type&quot;:&quot;text&quot;}"/>
          <p:cNvSpPr txBox="1"/>
          <p:nvPr/>
        </p:nvSpPr>
        <p:spPr>
          <a:xfrm>
            <a:off x="4381500" y="1762125"/>
            <a:ext cx="7048500" cy="533400"/>
          </a:xfrm>
          <a:prstGeom prst="rect">
            <a:avLst/>
          </a:prstGeom>
        </p:spPr>
        <p:txBody>
          <a:bodyPr wrap="square" lIns="0" tIns="0" rIns="0" bIns="0">
            <a:normAutofit/>
          </a:bodyPr>
          <a:p>
            <a:pPr>
              <a:lnSpc>
                <a:spcPct val="155000"/>
              </a:lnSpc>
            </a:pPr>
            <a:r>
              <a:rPr lang="en-US" sz="1125">
                <a:solidFill>
                  <a:srgbClr val="4A5568"/>
                </a:solidFill>
                <a:latin typeface="Source Han Sans"/>
                <a:ea typeface="Source Han Sans"/>
              </a:rPr>
              <a:t>Many have never written a line of code. All have something they want to express — a frustration, a memory, a practice. The course exists to give that impulse a system.</a:t>
            </a:r>
            <a:endParaRPr lang="en-US" sz="1125">
              <a:solidFill>
                <a:srgbClr val="4A5568"/>
              </a:solidFill>
              <a:latin typeface="Source Han Sans"/>
              <a:ea typeface="Source Han Sans"/>
            </a:endParaRPr>
          </a:p>
        </p:txBody>
      </p:sp>
      <p:sp>
        <p:nvSpPr>
          <p:cNvPr id="264" name="圆角矩形 263"/>
          <p:cNvSpPr/>
          <p:nvPr/>
        </p:nvSpPr>
        <p:spPr>
          <a:xfrm>
            <a:off x="4191000" y="2819400"/>
            <a:ext cx="7429500" cy="1600200"/>
          </a:xfrm>
          <a:prstGeom prst="roundRect">
            <a:avLst>
              <a:gd name="adj" fmla="val 4762"/>
            </a:avLst>
          </a:prstGeom>
          <a:solidFill>
            <a:srgbClr val="FFFFFF"/>
          </a:solidFill>
          <a:ln w="12700">
            <a:solidFill>
              <a:srgbClr val="E4DCEC"/>
            </a:solidFill>
            <a:prstDash val="solid"/>
          </a:ln>
        </p:spPr>
        <p:txBody>
          <a:bodyPr/>
          <a:p/>
        </p:txBody>
      </p:sp>
      <p:sp>
        <p:nvSpPr>
          <p:cNvPr id="265" name="文本框 264" descr="{&quot;isTemplate&quot;:true,&quot;type&quot;:&quot;text&quot;}"/>
          <p:cNvSpPr txBox="1"/>
          <p:nvPr/>
        </p:nvSpPr>
        <p:spPr>
          <a:xfrm>
            <a:off x="4381500" y="3009900"/>
            <a:ext cx="7048500" cy="142875"/>
          </a:xfrm>
          <a:prstGeom prst="rect">
            <a:avLst/>
          </a:prstGeom>
        </p:spPr>
        <p:txBody>
          <a:bodyPr wrap="none" lIns="0" tIns="0" rIns="0" bIns="0"/>
          <a:p>
            <a:pPr>
              <a:lnSpc>
                <a:spcPct val="100000"/>
              </a:lnSpc>
            </a:pPr>
            <a:r>
              <a:rPr lang="en-US" sz="900" b="1" spc="150">
                <a:solidFill>
                  <a:srgbClr val="57068C"/>
                </a:solidFill>
                <a:latin typeface="Source Han Sans"/>
                <a:ea typeface="Source Han Sans"/>
              </a:rPr>
              <a:t>COURSE MISSION</a:t>
            </a:r>
            <a:endParaRPr lang="en-US" sz="900" b="1" spc="150">
              <a:solidFill>
                <a:srgbClr val="57068C"/>
              </a:solidFill>
              <a:latin typeface="Source Han Sans"/>
              <a:ea typeface="Source Han Sans"/>
            </a:endParaRPr>
          </a:p>
        </p:txBody>
      </p:sp>
      <p:sp>
        <p:nvSpPr>
          <p:cNvPr id="266" name="文本框 265" descr="{&quot;isTemplate&quot;:true,&quot;type&quot;:&quot;text&quot;}"/>
          <p:cNvSpPr txBox="1"/>
          <p:nvPr/>
        </p:nvSpPr>
        <p:spPr>
          <a:xfrm>
            <a:off x="4381500" y="3228975"/>
            <a:ext cx="7048500" cy="228600"/>
          </a:xfrm>
          <a:prstGeom prst="rect">
            <a:avLst/>
          </a:prstGeom>
        </p:spPr>
        <p:txBody>
          <a:bodyPr wrap="none" lIns="0" tIns="0" rIns="0" bIns="0"/>
          <a:p>
            <a:pPr>
              <a:lnSpc>
                <a:spcPct val="100000"/>
              </a:lnSpc>
            </a:pPr>
            <a:r>
              <a:rPr lang="en-US" sz="1500" b="1">
                <a:solidFill>
                  <a:srgbClr val="1A2230"/>
                </a:solidFill>
                <a:latin typeface="Source Han Sans"/>
                <a:ea typeface="Source Han Sans"/>
              </a:rPr>
              <a:t>Not "game developer" — "systematic expression of experience"</a:t>
            </a:r>
            <a:endParaRPr lang="en-US" sz="1500" b="1">
              <a:solidFill>
                <a:srgbClr val="1A2230"/>
              </a:solidFill>
              <a:latin typeface="Source Han Sans"/>
              <a:ea typeface="Source Han Sans"/>
            </a:endParaRPr>
          </a:p>
        </p:txBody>
      </p:sp>
      <p:sp>
        <p:nvSpPr>
          <p:cNvPr id="267" name="文本框 266" descr="{&quot;isTemplate&quot;:true,&quot;type&quot;:&quot;text&quot;}"/>
          <p:cNvSpPr txBox="1"/>
          <p:nvPr/>
        </p:nvSpPr>
        <p:spPr>
          <a:xfrm>
            <a:off x="4381500" y="3533775"/>
            <a:ext cx="7048500" cy="533400"/>
          </a:xfrm>
          <a:prstGeom prst="rect">
            <a:avLst/>
          </a:prstGeom>
        </p:spPr>
        <p:txBody>
          <a:bodyPr wrap="square" lIns="0" tIns="0" rIns="0" bIns="0">
            <a:normAutofit/>
          </a:bodyPr>
          <a:p>
            <a:pPr>
              <a:lnSpc>
                <a:spcPct val="155000"/>
              </a:lnSpc>
            </a:pPr>
            <a:r>
              <a:rPr lang="en-US" sz="1125">
                <a:solidFill>
                  <a:srgbClr val="4A5568"/>
                </a:solidFill>
                <a:latin typeface="Source Han Sans"/>
                <a:ea typeface="Source Han Sans"/>
              </a:rPr>
              <a:t>We treat the game as a structured translation of lived experience. The evaluation question is not "is it fun?" but "did the translation succeed?"</a:t>
            </a:r>
            <a:endParaRPr lang="en-US" sz="1125">
              <a:solidFill>
                <a:srgbClr val="4A5568"/>
              </a:solidFill>
              <a:latin typeface="Source Han Sans"/>
              <a:ea typeface="Source Han Sans"/>
            </a:endParaRPr>
          </a:p>
        </p:txBody>
      </p:sp>
      <p:sp>
        <p:nvSpPr>
          <p:cNvPr id="268" name="圆角矩形 267"/>
          <p:cNvSpPr/>
          <p:nvPr/>
        </p:nvSpPr>
        <p:spPr>
          <a:xfrm>
            <a:off x="4191000" y="4591050"/>
            <a:ext cx="7429500" cy="1600200"/>
          </a:xfrm>
          <a:prstGeom prst="roundRect">
            <a:avLst>
              <a:gd name="adj" fmla="val 4762"/>
            </a:avLst>
          </a:prstGeom>
          <a:solidFill>
            <a:srgbClr val="FFFFFF"/>
          </a:solidFill>
          <a:ln w="12700">
            <a:solidFill>
              <a:srgbClr val="E4DCEC"/>
            </a:solidFill>
            <a:prstDash val="solid"/>
          </a:ln>
        </p:spPr>
        <p:txBody>
          <a:bodyPr/>
          <a:p/>
        </p:txBody>
      </p:sp>
      <p:sp>
        <p:nvSpPr>
          <p:cNvPr id="269" name="文本框 268" descr="{&quot;isTemplate&quot;:true,&quot;type&quot;:&quot;text&quot;}"/>
          <p:cNvSpPr txBox="1"/>
          <p:nvPr/>
        </p:nvSpPr>
        <p:spPr>
          <a:xfrm>
            <a:off x="4381500" y="4781550"/>
            <a:ext cx="7048500" cy="142875"/>
          </a:xfrm>
          <a:prstGeom prst="rect">
            <a:avLst/>
          </a:prstGeom>
        </p:spPr>
        <p:txBody>
          <a:bodyPr wrap="none" lIns="0" tIns="0" rIns="0" bIns="0"/>
          <a:p>
            <a:pPr>
              <a:lnSpc>
                <a:spcPct val="100000"/>
              </a:lnSpc>
            </a:pPr>
            <a:r>
              <a:rPr lang="en-US" sz="900" b="1" spc="150">
                <a:solidFill>
                  <a:srgbClr val="57068C"/>
                </a:solidFill>
                <a:latin typeface="Source Han Sans"/>
                <a:ea typeface="Source Han Sans"/>
              </a:rPr>
              <a:t>TWO CONSEQUENCES</a:t>
            </a:r>
            <a:endParaRPr lang="en-US" sz="900" b="1" spc="150">
              <a:solidFill>
                <a:srgbClr val="57068C"/>
              </a:solidFill>
              <a:latin typeface="Source Han Sans"/>
              <a:ea typeface="Source Han Sans"/>
            </a:endParaRPr>
          </a:p>
        </p:txBody>
      </p:sp>
      <p:sp>
        <p:nvSpPr>
          <p:cNvPr id="270" name="文本框 269" descr="{&quot;isTemplate&quot;:true,&quot;type&quot;:&quot;text&quot;}"/>
          <p:cNvSpPr txBox="1"/>
          <p:nvPr/>
        </p:nvSpPr>
        <p:spPr>
          <a:xfrm>
            <a:off x="4381500" y="5000625"/>
            <a:ext cx="7048500" cy="228600"/>
          </a:xfrm>
          <a:prstGeom prst="rect">
            <a:avLst/>
          </a:prstGeom>
        </p:spPr>
        <p:txBody>
          <a:bodyPr wrap="none" lIns="0" tIns="0" rIns="0" bIns="0"/>
          <a:p>
            <a:pPr>
              <a:lnSpc>
                <a:spcPct val="100000"/>
              </a:lnSpc>
            </a:pPr>
            <a:r>
              <a:rPr lang="en-US" sz="1500" b="1">
                <a:solidFill>
                  <a:srgbClr val="1A2230"/>
                </a:solidFill>
                <a:latin typeface="Source Han Sans"/>
                <a:ea typeface="Source Han Sans"/>
              </a:rPr>
              <a:t>AI is welcome — but only within a boundary</a:t>
            </a:r>
            <a:endParaRPr lang="en-US" sz="1500" b="1">
              <a:solidFill>
                <a:srgbClr val="1A2230"/>
              </a:solidFill>
              <a:latin typeface="Source Han Sans"/>
              <a:ea typeface="Source Han Sans"/>
            </a:endParaRPr>
          </a:p>
        </p:txBody>
      </p:sp>
      <p:sp>
        <p:nvSpPr>
          <p:cNvPr id="271" name="文本框 270" descr="{&quot;isTemplate&quot;:true,&quot;type&quot;:&quot;text&quot;}"/>
          <p:cNvSpPr txBox="1"/>
          <p:nvPr/>
        </p:nvSpPr>
        <p:spPr>
          <a:xfrm>
            <a:off x="4381500" y="5305425"/>
            <a:ext cx="7048500" cy="533400"/>
          </a:xfrm>
          <a:prstGeom prst="rect">
            <a:avLst/>
          </a:prstGeom>
        </p:spPr>
        <p:txBody>
          <a:bodyPr wrap="square" lIns="0" tIns="0" rIns="0" bIns="0">
            <a:normAutofit/>
          </a:bodyPr>
          <a:p>
            <a:pPr>
              <a:lnSpc>
                <a:spcPct val="155000"/>
              </a:lnSpc>
            </a:pPr>
            <a:r>
              <a:rPr lang="en-US" sz="1125">
                <a:solidFill>
                  <a:srgbClr val="4A5568"/>
                </a:solidFill>
                <a:latin typeface="Source Han Sans"/>
                <a:ea typeface="Source Han Sans"/>
              </a:rPr>
              <a:t>Because coding is not the learning goal, AI assistance is legitimate. Because intent and emotional structure are the learning goal, those cannot be outsourced. The question becomes how to draw the line.</a:t>
            </a:r>
            <a:endParaRPr lang="en-US" sz="1125">
              <a:solidFill>
                <a:srgbClr val="4A5568"/>
              </a:solidFill>
              <a:latin typeface="Source Han Sans"/>
              <a:ea typeface="Source Han Sans"/>
            </a:endParaRPr>
          </a:p>
        </p:txBody>
      </p:sp>
      <p:sp>
        <p:nvSpPr>
          <p:cNvPr id="272" name="文本框 271" descr="{&quot;isTemplate&quot;:true,&quot;type&quot;:&quot;text&quot;}"/>
          <p:cNvSpPr txBox="1"/>
          <p:nvPr/>
        </p:nvSpPr>
        <p:spPr>
          <a:xfrm>
            <a:off x="571500" y="6477000"/>
            <a:ext cx="3448050" cy="161925"/>
          </a:xfrm>
          <a:prstGeom prst="rect">
            <a:avLst/>
          </a:prstGeom>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lang="en-US" sz="1050">
              <a:solidFill>
                <a:srgbClr val="8B97A8"/>
              </a:solidFill>
              <a:latin typeface="Source Han Sans"/>
              <a:ea typeface="Source Han Sans"/>
            </a:endParaRPr>
          </a:p>
        </p:txBody>
      </p:sp>
      <p:sp>
        <p:nvSpPr>
          <p:cNvPr id="273" name="文本框 272" descr="{&quot;isTemplate&quot;:true,&quot;type&quot;:&quot;text&quot;}"/>
          <p:cNvSpPr txBox="1"/>
          <p:nvPr/>
        </p:nvSpPr>
        <p:spPr>
          <a:xfrm>
            <a:off x="11210925" y="6477000"/>
            <a:ext cx="409575" cy="161925"/>
          </a:xfrm>
          <a:prstGeom prst="rect">
            <a:avLst/>
          </a:prstGeom>
        </p:spPr>
        <p:txBody>
          <a:bodyPr wrap="none" lIns="0" tIns="0" rIns="0" bIns="0"/>
          <a:p>
            <a:pPr>
              <a:lnSpc>
                <a:spcPct val="100000"/>
              </a:lnSpc>
            </a:pPr>
            <a:r>
              <a:rPr lang="en-US" sz="1050" b="1">
                <a:solidFill>
                  <a:srgbClr val="57068C"/>
                </a:solidFill>
                <a:latin typeface="Source Han Sans"/>
                <a:ea typeface="Source Han Sans"/>
              </a:rPr>
              <a:t>06 / 16</a:t>
            </a:r>
            <a:endParaRPr lang="en-US" sz="1050" b="1">
              <a:solidFill>
                <a:srgbClr val="57068C"/>
              </a:solidFill>
              <a:latin typeface="Source Han Sans"/>
              <a:ea typeface="Source Ha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74" name="" descr="&lt;Slide style={{ width: '1280px', height: '720px', background: '#FFFFFF', position: 'relative', fontFamily: 'Source Han Sans, Noto Sans CJK SC, sans-serif' }}&gt;&#10;  &lt;Box style={{ position: 'absolute', top: 0, left: 0, width: '100%', height: 40, background: '#F0F5FC' }} /&gt;&#10;  &lt;Box style={{ position: 'absolute', top: 36, left: 0, width: '100%', height: 4, background: '#1E4FA8' }} /&gt;&#10;  &lt;Box style={{ position: 'absolute', top: 130, left: 80, flexDirection: 'column', gap: 12 }}&gt;&#10;    &lt;Text style={{ fontSize: 16, color: '#1E4FA8', fontWeight: 'bold', letterSpacing: 2 }}&gt;PART TWO&lt;/Text&gt;&#10;    &lt;Text style={{ fontSize: 220, fontWeight: 'bold', fontFamily: 'Source Serif Pro, Georgia, serif', color: '#E8EFF8', lineHeight: 1 }}&gt;02&lt;/Text&gt;&#10;  &lt;/Box&gt;&#10;  &lt;Box style={{ position: 'absolute', top: 260, left: 80, width: 1120, flexDirection: 'column', gap: 24 }}&gt;&#10;    &lt;Text style={{ fontSize: 48, fontWeight: 'bold', fontFamily: 'Source Serif Pro, Georgia, serif', color: '#0E3F8C', lineHeight: 1.15 }}&gt;The method&lt;/Text&gt;&#10;    &lt;Box style={{ width: 80, height: 3, background: '#1E4FA8' }} /&gt;&#10;    &lt;Text style={{ fontSize: 22, color: '#1A2230', lineHeight: 1.55 }}&gt;&#10;      Game Design from Life, in six steps. The decisive move: replace the prompt with a guided interview, and let the development log carry the accountability that a chat history cannot.&#10;    &lt;/Text&gt;&#10;    &lt;Box style={{ marginTop: 16, flexDirection: 'row', gap: 24 }}&gt;&#10;      {['Six steps in one picture', 'From prompt to guided interview', 'Accountability in a development log'].map((line, i) =&gt; (&#10;        &lt;Box key={i} style={{ flex: 1, padding: 16, background: '#F7F9FC', border: '1px solid #E5E7EB', borderRadius: 8, flexDirection: 'row', alignItems: 'center', gap: 12 }}&gt;&#10;          &lt;Box style={{ width: 28, height: 28, borderRadius: 14, background: '#1E4FA8', justifyContent: 'center', alignItems: 'center' }}&gt;&#10;            &lt;Text style={{ color: '#FFFFFF', fontSize: 14, fontWeight: 'bold' }}&gt;{i + 1}&lt;/Text&gt;&#10;          &lt;/Box&gt;&#10;          &lt;Text style={{ fontSize: 16, color: '#1A2230', flex: 1 }}&gt;{line}&lt;/Text&gt;&#10;        &lt;/Box&gt;&#10;      ))}&#10;    &lt;/Box&gt;&#10;  &lt;/Box&gt;&#10;  &lt;Box style={{ position: 'absolute', top: 680, left: 60, right: 60, flexDirection: 'row', justifyContent: 'space-between' }}&gt;&#10;    &lt;Text style={{ fontSize: 14, color: '#8B97A8' }}&gt;Xingchen Zhang · NYU Shanghai · XJTLU 2026 · Panel 11&lt;/Text&gt;&#10;    &lt;Text style={{ fontSize: 14, color: '#1E4FA8', fontWeight: 'bold' }}&gt;07 / 16&lt;/Text&gt;&#10;  &lt;/Box&gt;&#10;&lt;/Slide&gt;&#10;"/>
        <p:cNvGrpSpPr/>
        <p:nvPr/>
      </p:nvGrpSpPr>
      <p:grpSpPr>
        <a:xfrm>
          <a:off x="0" y="0"/>
          <a:ext cx="0" cy="0"/>
          <a:chOff x="0" y="0"/>
          <a:chExt cx="0" cy="0"/>
        </a:xfrm>
      </p:grpSpPr>
      <p:sp>
        <p:nvSpPr>
          <p:cNvPr id="275" name="矩形 274"/>
          <p:cNvSpPr/>
          <p:nvPr/>
        </p:nvSpPr>
        <p:spPr>
          <a:xfrm>
            <a:off x="0" y="11430"/>
            <a:ext cx="12192000" cy="6858000"/>
          </a:xfrm>
          <a:prstGeom prst="rect">
            <a:avLst/>
          </a:prstGeom>
          <a:solidFill>
            <a:srgbClr val="FFFFFF"/>
          </a:solidFill>
        </p:spPr>
        <p:txBody>
          <a:bodyPr/>
          <a:p/>
        </p:txBody>
      </p:sp>
      <p:sp>
        <p:nvSpPr>
          <p:cNvPr id="276" name="矩形 275"/>
          <p:cNvSpPr/>
          <p:nvPr/>
        </p:nvSpPr>
        <p:spPr>
          <a:xfrm>
            <a:off x="0" y="0"/>
            <a:ext cx="12192000" cy="381000"/>
          </a:xfrm>
          <a:prstGeom prst="rect">
            <a:avLst/>
          </a:prstGeom>
          <a:solidFill>
            <a:srgbClr val="F6F1FA"/>
          </a:solidFill>
        </p:spPr>
        <p:txBody>
          <a:bodyPr/>
          <a:p/>
        </p:txBody>
      </p:sp>
      <p:sp>
        <p:nvSpPr>
          <p:cNvPr id="277" name="矩形 276"/>
          <p:cNvSpPr/>
          <p:nvPr/>
        </p:nvSpPr>
        <p:spPr>
          <a:xfrm>
            <a:off x="0" y="342900"/>
            <a:ext cx="12192000" cy="38100"/>
          </a:xfrm>
          <a:prstGeom prst="rect">
            <a:avLst/>
          </a:prstGeom>
          <a:solidFill>
            <a:srgbClr val="57068C"/>
          </a:solidFill>
        </p:spPr>
        <p:txBody>
          <a:bodyPr/>
          <a:p/>
        </p:txBody>
      </p:sp>
      <p:sp>
        <p:nvSpPr>
          <p:cNvPr id="278" name="文本框 277" descr="{&quot;isTemplate&quot;:true,&quot;type&quot;:&quot;text&quot;}"/>
          <p:cNvSpPr txBox="1"/>
          <p:nvPr/>
        </p:nvSpPr>
        <p:spPr>
          <a:xfrm>
            <a:off x="762000" y="1238250"/>
            <a:ext cx="2790825" cy="190500"/>
          </a:xfrm>
          <a:prstGeom prst="rect">
            <a:avLst/>
          </a:prstGeom>
        </p:spPr>
        <p:txBody>
          <a:bodyPr wrap="none" lIns="0" tIns="0" rIns="0" bIns="0"/>
          <a:p>
            <a:pPr>
              <a:lnSpc>
                <a:spcPct val="100000"/>
              </a:lnSpc>
            </a:pPr>
            <a:r>
              <a:rPr lang="en-US" sz="1200" b="1" spc="150">
                <a:solidFill>
                  <a:srgbClr val="57068C"/>
                </a:solidFill>
                <a:latin typeface="Source Han Sans"/>
                <a:ea typeface="Source Han Sans"/>
              </a:rPr>
              <a:t>PART TWO</a:t>
            </a:r>
            <a:endParaRPr lang="en-US" sz="1200" b="1" spc="150">
              <a:solidFill>
                <a:srgbClr val="57068C"/>
              </a:solidFill>
              <a:latin typeface="Source Han Sans"/>
              <a:ea typeface="Source Han Sans"/>
            </a:endParaRPr>
          </a:p>
        </p:txBody>
      </p:sp>
      <p:sp>
        <p:nvSpPr>
          <p:cNvPr id="279" name="文本框 278" descr="{&quot;isTemplate&quot;:true,&quot;type&quot;:&quot;text&quot;}"/>
          <p:cNvSpPr txBox="1"/>
          <p:nvPr/>
        </p:nvSpPr>
        <p:spPr>
          <a:xfrm>
            <a:off x="762000" y="1543050"/>
            <a:ext cx="2790825" cy="2514600"/>
          </a:xfrm>
          <a:prstGeom prst="rect">
            <a:avLst/>
          </a:prstGeom>
        </p:spPr>
        <p:txBody>
          <a:bodyPr wrap="none" lIns="0" tIns="0" rIns="0" bIns="0"/>
          <a:p>
            <a:pPr>
              <a:lnSpc>
                <a:spcPct val="100000"/>
              </a:lnSpc>
            </a:pPr>
            <a:r>
              <a:rPr lang="en-US" sz="16500" b="1">
                <a:solidFill>
                  <a:srgbClr val="EEE6F3"/>
                </a:solidFill>
                <a:latin typeface="Source Serif Pro"/>
                <a:ea typeface="Source Serif Pro"/>
              </a:rPr>
              <a:t>02</a:t>
            </a:r>
            <a:endParaRPr lang="en-US" sz="16500" b="1">
              <a:solidFill>
                <a:srgbClr val="EEE6F3"/>
              </a:solidFill>
              <a:latin typeface="Source Serif Pro"/>
              <a:ea typeface="Source Serif Pro"/>
            </a:endParaRPr>
          </a:p>
        </p:txBody>
      </p:sp>
      <p:sp>
        <p:nvSpPr>
          <p:cNvPr id="280" name="文本框 279" descr="{&quot;isTemplate&quot;:true,&quot;type&quot;:&quot;text&quot;}"/>
          <p:cNvSpPr txBox="1"/>
          <p:nvPr/>
        </p:nvSpPr>
        <p:spPr>
          <a:xfrm>
            <a:off x="762000" y="2476500"/>
            <a:ext cx="10668000" cy="638175"/>
          </a:xfrm>
          <a:prstGeom prst="rect">
            <a:avLst/>
          </a:prstGeom>
        </p:spPr>
        <p:txBody>
          <a:bodyPr wrap="none" lIns="0" tIns="0" rIns="0" bIns="0"/>
          <a:p>
            <a:pPr>
              <a:lnSpc>
                <a:spcPct val="115000"/>
              </a:lnSpc>
            </a:pPr>
            <a:r>
              <a:rPr lang="en-US" sz="3600" b="1">
                <a:solidFill>
                  <a:srgbClr val="330662"/>
                </a:solidFill>
                <a:latin typeface="Source Serif Pro"/>
                <a:ea typeface="Source Serif Pro"/>
              </a:rPr>
              <a:t>The method</a:t>
            </a:r>
            <a:endParaRPr lang="en-US" sz="3600" b="1">
              <a:solidFill>
                <a:srgbClr val="330662"/>
              </a:solidFill>
              <a:latin typeface="Source Serif Pro"/>
              <a:ea typeface="Source Serif Pro"/>
            </a:endParaRPr>
          </a:p>
        </p:txBody>
      </p:sp>
      <p:sp>
        <p:nvSpPr>
          <p:cNvPr id="281" name="矩形 280"/>
          <p:cNvSpPr/>
          <p:nvPr/>
        </p:nvSpPr>
        <p:spPr>
          <a:xfrm>
            <a:off x="762000" y="3343275"/>
            <a:ext cx="762000" cy="28575"/>
          </a:xfrm>
          <a:prstGeom prst="rect">
            <a:avLst/>
          </a:prstGeom>
          <a:solidFill>
            <a:srgbClr val="57068C"/>
          </a:solidFill>
        </p:spPr>
        <p:txBody>
          <a:bodyPr/>
          <a:p/>
        </p:txBody>
      </p:sp>
      <p:sp>
        <p:nvSpPr>
          <p:cNvPr id="282" name="文本框 281" descr="{&quot;isTemplate&quot;:true,&quot;type&quot;:&quot;text&quot;}"/>
          <p:cNvSpPr txBox="1"/>
          <p:nvPr/>
        </p:nvSpPr>
        <p:spPr>
          <a:xfrm>
            <a:off x="762000" y="3600450"/>
            <a:ext cx="10668000" cy="781050"/>
          </a:xfrm>
          <a:prstGeom prst="rect">
            <a:avLst/>
          </a:prstGeom>
        </p:spPr>
        <p:txBody>
          <a:bodyPr wrap="square" lIns="0" tIns="0" rIns="0" bIns="0">
            <a:normAutofit/>
          </a:bodyPr>
          <a:p>
            <a:pPr>
              <a:lnSpc>
                <a:spcPct val="155000"/>
              </a:lnSpc>
            </a:pPr>
            <a:r>
              <a:rPr lang="en-US" sz="1650">
                <a:solidFill>
                  <a:srgbClr val="1A2230"/>
                </a:solidFill>
                <a:latin typeface="Source Han Sans"/>
                <a:ea typeface="Source Han Sans"/>
              </a:rPr>
              <a:t>Game Design from Life, in six steps. The decisive move: replace the prompt with a guided interview, and let the development log carry the accountability that a chat history cannot.</a:t>
            </a:r>
            <a:endParaRPr lang="en-US" sz="1650">
              <a:solidFill>
                <a:srgbClr val="1A2230"/>
              </a:solidFill>
              <a:latin typeface="Source Han Sans"/>
              <a:ea typeface="Source Han Sans"/>
            </a:endParaRPr>
          </a:p>
        </p:txBody>
      </p:sp>
      <p:sp>
        <p:nvSpPr>
          <p:cNvPr id="283" name="圆角矩形 282"/>
          <p:cNvSpPr/>
          <p:nvPr/>
        </p:nvSpPr>
        <p:spPr>
          <a:xfrm>
            <a:off x="762000" y="4762500"/>
            <a:ext cx="3400425" cy="571500"/>
          </a:xfrm>
          <a:prstGeom prst="roundRect">
            <a:avLst>
              <a:gd name="adj" fmla="val 13333"/>
            </a:avLst>
          </a:prstGeom>
          <a:solidFill>
            <a:srgbClr val="FAF8FC"/>
          </a:solidFill>
          <a:ln w="12700">
            <a:solidFill>
              <a:srgbClr val="E4DCEC"/>
            </a:solidFill>
            <a:prstDash val="solid"/>
          </a:ln>
        </p:spPr>
        <p:txBody>
          <a:bodyPr/>
          <a:p/>
        </p:txBody>
      </p:sp>
      <p:sp>
        <p:nvSpPr>
          <p:cNvPr id="284" name="圆角矩形 283"/>
          <p:cNvSpPr/>
          <p:nvPr/>
        </p:nvSpPr>
        <p:spPr>
          <a:xfrm>
            <a:off x="914400" y="4914900"/>
            <a:ext cx="266700" cy="266700"/>
          </a:xfrm>
          <a:prstGeom prst="roundRect">
            <a:avLst>
              <a:gd name="adj" fmla="val 50000"/>
            </a:avLst>
          </a:prstGeom>
          <a:solidFill>
            <a:srgbClr val="57068C"/>
          </a:solidFill>
        </p:spPr>
        <p:txBody>
          <a:bodyPr/>
          <a:p/>
        </p:txBody>
      </p:sp>
      <p:sp>
        <p:nvSpPr>
          <p:cNvPr id="285" name="文本框 284" descr="{&quot;isTemplate&quot;:true,&quot;type&quot;:&quot;text&quot;}"/>
          <p:cNvSpPr txBox="1"/>
          <p:nvPr/>
        </p:nvSpPr>
        <p:spPr>
          <a:xfrm>
            <a:off x="1009650" y="4972050"/>
            <a:ext cx="76200" cy="161925"/>
          </a:xfrm>
          <a:prstGeom prst="rect">
            <a:avLst/>
          </a:prstGeom>
        </p:spPr>
        <p:txBody>
          <a:bodyPr wrap="none" lIns="0" tIns="0" rIns="0" bIns="0"/>
          <a:p>
            <a:pPr>
              <a:lnSpc>
                <a:spcPct val="100000"/>
              </a:lnSpc>
            </a:pPr>
            <a:r>
              <a:rPr lang="en-US" sz="1050" b="1">
                <a:solidFill>
                  <a:srgbClr val="FFFFFF"/>
                </a:solidFill>
                <a:latin typeface="Source Han Sans"/>
                <a:ea typeface="Source Han Sans"/>
              </a:rPr>
              <a:t>1</a:t>
            </a:r>
            <a:endParaRPr lang="en-US" sz="1050" b="1">
              <a:solidFill>
                <a:srgbClr val="FFFFFF"/>
              </a:solidFill>
              <a:latin typeface="Source Han Sans"/>
              <a:ea typeface="Source Han Sans"/>
            </a:endParaRPr>
          </a:p>
        </p:txBody>
      </p:sp>
      <p:sp>
        <p:nvSpPr>
          <p:cNvPr id="286" name="文本框 285" descr="{&quot;isTemplate&quot;:true,&quot;type&quot;:&quot;text&quot;}"/>
          <p:cNvSpPr txBox="1"/>
          <p:nvPr/>
        </p:nvSpPr>
        <p:spPr>
          <a:xfrm>
            <a:off x="1295400" y="4953000"/>
            <a:ext cx="2714625" cy="190500"/>
          </a:xfrm>
          <a:prstGeom prst="rect">
            <a:avLst/>
          </a:prstGeom>
        </p:spPr>
        <p:txBody>
          <a:bodyPr wrap="none" lIns="0" tIns="0" rIns="0" bIns="0"/>
          <a:p>
            <a:pPr>
              <a:lnSpc>
                <a:spcPct val="100000"/>
              </a:lnSpc>
            </a:pPr>
            <a:r>
              <a:rPr lang="en-US" sz="1200">
                <a:solidFill>
                  <a:srgbClr val="1A2230"/>
                </a:solidFill>
                <a:latin typeface="Source Han Sans"/>
                <a:ea typeface="Source Han Sans"/>
              </a:rPr>
              <a:t>Six steps in one picture</a:t>
            </a:r>
            <a:endParaRPr lang="en-US" sz="1200">
              <a:solidFill>
                <a:srgbClr val="1A2230"/>
              </a:solidFill>
              <a:latin typeface="Source Han Sans"/>
              <a:ea typeface="Source Han Sans"/>
            </a:endParaRPr>
          </a:p>
        </p:txBody>
      </p:sp>
      <p:sp>
        <p:nvSpPr>
          <p:cNvPr id="287" name="圆角矩形 286"/>
          <p:cNvSpPr/>
          <p:nvPr/>
        </p:nvSpPr>
        <p:spPr>
          <a:xfrm>
            <a:off x="4391025" y="4762500"/>
            <a:ext cx="3409950" cy="571500"/>
          </a:xfrm>
          <a:prstGeom prst="roundRect">
            <a:avLst>
              <a:gd name="adj" fmla="val 13333"/>
            </a:avLst>
          </a:prstGeom>
          <a:solidFill>
            <a:srgbClr val="FAF8FC"/>
          </a:solidFill>
          <a:ln w="12700">
            <a:solidFill>
              <a:srgbClr val="E4DCEC"/>
            </a:solidFill>
            <a:prstDash val="solid"/>
          </a:ln>
        </p:spPr>
        <p:txBody>
          <a:bodyPr/>
          <a:p/>
        </p:txBody>
      </p:sp>
      <p:sp>
        <p:nvSpPr>
          <p:cNvPr id="288" name="圆角矩形 287"/>
          <p:cNvSpPr/>
          <p:nvPr/>
        </p:nvSpPr>
        <p:spPr>
          <a:xfrm>
            <a:off x="4543425" y="4914900"/>
            <a:ext cx="266700" cy="266700"/>
          </a:xfrm>
          <a:prstGeom prst="roundRect">
            <a:avLst>
              <a:gd name="adj" fmla="val 50000"/>
            </a:avLst>
          </a:prstGeom>
          <a:solidFill>
            <a:srgbClr val="57068C"/>
          </a:solidFill>
        </p:spPr>
        <p:txBody>
          <a:bodyPr/>
          <a:p/>
        </p:txBody>
      </p:sp>
      <p:sp>
        <p:nvSpPr>
          <p:cNvPr id="289" name="文本框 288" descr="{&quot;isTemplate&quot;:true,&quot;type&quot;:&quot;text&quot;}"/>
          <p:cNvSpPr txBox="1"/>
          <p:nvPr/>
        </p:nvSpPr>
        <p:spPr>
          <a:xfrm>
            <a:off x="4638675" y="4972050"/>
            <a:ext cx="76200" cy="161925"/>
          </a:xfrm>
          <a:prstGeom prst="rect">
            <a:avLst/>
          </a:prstGeom>
        </p:spPr>
        <p:txBody>
          <a:bodyPr wrap="none" lIns="0" tIns="0" rIns="0" bIns="0"/>
          <a:p>
            <a:pPr>
              <a:lnSpc>
                <a:spcPct val="100000"/>
              </a:lnSpc>
            </a:pPr>
            <a:r>
              <a:rPr lang="en-US" sz="1050" b="1">
                <a:solidFill>
                  <a:srgbClr val="FFFFFF"/>
                </a:solidFill>
                <a:latin typeface="Source Han Sans"/>
                <a:ea typeface="Source Han Sans"/>
              </a:rPr>
              <a:t>2</a:t>
            </a:r>
            <a:endParaRPr lang="en-US" sz="1050" b="1">
              <a:solidFill>
                <a:srgbClr val="FFFFFF"/>
              </a:solidFill>
              <a:latin typeface="Source Han Sans"/>
              <a:ea typeface="Source Han Sans"/>
            </a:endParaRPr>
          </a:p>
        </p:txBody>
      </p:sp>
      <p:sp>
        <p:nvSpPr>
          <p:cNvPr id="290" name="文本框 289" descr="{&quot;isTemplate&quot;:true,&quot;type&quot;:&quot;text&quot;}"/>
          <p:cNvSpPr txBox="1"/>
          <p:nvPr/>
        </p:nvSpPr>
        <p:spPr>
          <a:xfrm>
            <a:off x="4924425" y="4953000"/>
            <a:ext cx="2724150" cy="190500"/>
          </a:xfrm>
          <a:prstGeom prst="rect">
            <a:avLst/>
          </a:prstGeom>
        </p:spPr>
        <p:txBody>
          <a:bodyPr wrap="none" lIns="0" tIns="0" rIns="0" bIns="0"/>
          <a:p>
            <a:pPr>
              <a:lnSpc>
                <a:spcPct val="100000"/>
              </a:lnSpc>
            </a:pPr>
            <a:r>
              <a:rPr lang="en-US" sz="1200">
                <a:solidFill>
                  <a:srgbClr val="1A2230"/>
                </a:solidFill>
                <a:latin typeface="Source Han Sans"/>
                <a:ea typeface="Source Han Sans"/>
              </a:rPr>
              <a:t>From prompt to guided interview</a:t>
            </a:r>
            <a:endParaRPr lang="en-US" sz="1200">
              <a:solidFill>
                <a:srgbClr val="1A2230"/>
              </a:solidFill>
              <a:latin typeface="Source Han Sans"/>
              <a:ea typeface="Source Han Sans"/>
            </a:endParaRPr>
          </a:p>
        </p:txBody>
      </p:sp>
      <p:sp>
        <p:nvSpPr>
          <p:cNvPr id="291" name="圆角矩形 290"/>
          <p:cNvSpPr/>
          <p:nvPr/>
        </p:nvSpPr>
        <p:spPr>
          <a:xfrm>
            <a:off x="8029575" y="4762500"/>
            <a:ext cx="3400425" cy="571500"/>
          </a:xfrm>
          <a:prstGeom prst="roundRect">
            <a:avLst>
              <a:gd name="adj" fmla="val 13333"/>
            </a:avLst>
          </a:prstGeom>
          <a:solidFill>
            <a:srgbClr val="FAF8FC"/>
          </a:solidFill>
          <a:ln w="12700">
            <a:solidFill>
              <a:srgbClr val="E4DCEC"/>
            </a:solidFill>
            <a:prstDash val="solid"/>
          </a:ln>
        </p:spPr>
        <p:txBody>
          <a:bodyPr/>
          <a:p/>
        </p:txBody>
      </p:sp>
      <p:sp>
        <p:nvSpPr>
          <p:cNvPr id="292" name="圆角矩形 291"/>
          <p:cNvSpPr/>
          <p:nvPr/>
        </p:nvSpPr>
        <p:spPr>
          <a:xfrm>
            <a:off x="8181975" y="4914900"/>
            <a:ext cx="266700" cy="266700"/>
          </a:xfrm>
          <a:prstGeom prst="roundRect">
            <a:avLst>
              <a:gd name="adj" fmla="val 50000"/>
            </a:avLst>
          </a:prstGeom>
          <a:solidFill>
            <a:srgbClr val="57068C"/>
          </a:solidFill>
        </p:spPr>
        <p:txBody>
          <a:bodyPr/>
          <a:p/>
        </p:txBody>
      </p:sp>
      <p:sp>
        <p:nvSpPr>
          <p:cNvPr id="293" name="文本框 292" descr="{&quot;isTemplate&quot;:true,&quot;type&quot;:&quot;text&quot;}"/>
          <p:cNvSpPr txBox="1"/>
          <p:nvPr/>
        </p:nvSpPr>
        <p:spPr>
          <a:xfrm>
            <a:off x="8277225" y="4972050"/>
            <a:ext cx="76200" cy="161925"/>
          </a:xfrm>
          <a:prstGeom prst="rect">
            <a:avLst/>
          </a:prstGeom>
        </p:spPr>
        <p:txBody>
          <a:bodyPr wrap="none" lIns="0" tIns="0" rIns="0" bIns="0"/>
          <a:p>
            <a:pPr>
              <a:lnSpc>
                <a:spcPct val="100000"/>
              </a:lnSpc>
            </a:pPr>
            <a:r>
              <a:rPr lang="en-US" sz="1050" b="1">
                <a:solidFill>
                  <a:srgbClr val="FFFFFF"/>
                </a:solidFill>
                <a:latin typeface="Source Han Sans"/>
                <a:ea typeface="Source Han Sans"/>
              </a:rPr>
              <a:t>3</a:t>
            </a:r>
            <a:endParaRPr lang="en-US" sz="1050" b="1">
              <a:solidFill>
                <a:srgbClr val="FFFFFF"/>
              </a:solidFill>
              <a:latin typeface="Source Han Sans"/>
              <a:ea typeface="Source Han Sans"/>
            </a:endParaRPr>
          </a:p>
        </p:txBody>
      </p:sp>
      <p:sp>
        <p:nvSpPr>
          <p:cNvPr id="294" name="文本框 293" descr="{&quot;isTemplate&quot;:true,&quot;type&quot;:&quot;text&quot;}"/>
          <p:cNvSpPr txBox="1"/>
          <p:nvPr/>
        </p:nvSpPr>
        <p:spPr>
          <a:xfrm>
            <a:off x="8562975" y="4953000"/>
            <a:ext cx="2714625" cy="190500"/>
          </a:xfrm>
          <a:prstGeom prst="rect">
            <a:avLst/>
          </a:prstGeom>
        </p:spPr>
        <p:txBody>
          <a:bodyPr wrap="none" lIns="0" tIns="0" rIns="0" bIns="0"/>
          <a:p>
            <a:pPr>
              <a:lnSpc>
                <a:spcPct val="100000"/>
              </a:lnSpc>
            </a:pPr>
            <a:r>
              <a:rPr lang="en-US" sz="1200">
                <a:solidFill>
                  <a:srgbClr val="1A2230"/>
                </a:solidFill>
                <a:latin typeface="Source Han Sans"/>
                <a:ea typeface="Source Han Sans"/>
              </a:rPr>
              <a:t>Accountability in a development log</a:t>
            </a:r>
            <a:endParaRPr lang="en-US" sz="1200">
              <a:solidFill>
                <a:srgbClr val="1A2230"/>
              </a:solidFill>
              <a:latin typeface="Source Han Sans"/>
              <a:ea typeface="Source Han Sans"/>
            </a:endParaRPr>
          </a:p>
        </p:txBody>
      </p:sp>
      <p:sp>
        <p:nvSpPr>
          <p:cNvPr id="295" name="文本框 294" descr="{&quot;isTemplate&quot;:true,&quot;type&quot;:&quot;text&quot;}"/>
          <p:cNvSpPr txBox="1"/>
          <p:nvPr/>
        </p:nvSpPr>
        <p:spPr>
          <a:xfrm>
            <a:off x="571500" y="6477000"/>
            <a:ext cx="3448050" cy="161925"/>
          </a:xfrm>
          <a:prstGeom prst="rect">
            <a:avLst/>
          </a:prstGeom>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lang="en-US" sz="1050">
              <a:solidFill>
                <a:srgbClr val="8B97A8"/>
              </a:solidFill>
              <a:latin typeface="Source Han Sans"/>
              <a:ea typeface="Source Han Sans"/>
            </a:endParaRPr>
          </a:p>
        </p:txBody>
      </p:sp>
      <p:sp>
        <p:nvSpPr>
          <p:cNvPr id="296" name="文本框 295" descr="{&quot;isTemplate&quot;:true,&quot;type&quot;:&quot;text&quot;}"/>
          <p:cNvSpPr txBox="1"/>
          <p:nvPr/>
        </p:nvSpPr>
        <p:spPr>
          <a:xfrm>
            <a:off x="11210925" y="6477000"/>
            <a:ext cx="409575" cy="161925"/>
          </a:xfrm>
          <a:prstGeom prst="rect">
            <a:avLst/>
          </a:prstGeom>
        </p:spPr>
        <p:txBody>
          <a:bodyPr wrap="none" lIns="0" tIns="0" rIns="0" bIns="0"/>
          <a:p>
            <a:pPr>
              <a:lnSpc>
                <a:spcPct val="100000"/>
              </a:lnSpc>
            </a:pPr>
            <a:r>
              <a:rPr lang="en-US" sz="1050" b="1">
                <a:solidFill>
                  <a:srgbClr val="57068C"/>
                </a:solidFill>
                <a:latin typeface="Source Han Sans"/>
                <a:ea typeface="Source Han Sans"/>
              </a:rPr>
              <a:t>07 / 16</a:t>
            </a:r>
            <a:endParaRPr lang="en-US" sz="1050" b="1">
              <a:solidFill>
                <a:srgbClr val="57068C"/>
              </a:solidFill>
              <a:latin typeface="Source Han Sans"/>
              <a:ea typeface="Source Ha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97" name="" descr="&lt;Slide style={{ width: '1280px', height: '720px', background: '#FFFFFF', position: 'relative', fontFamily: 'Source Han Sans, Noto Sans CJK SC, sans-serif' }}&gt;&#10;  &lt;Box style={{ position: 'absolute', top: 0, left: 0, width: '100%', height: 60, background: '#0E3F8C' }}&gt;&#10;    &lt;Text style={{ color: '#FFFFFF', fontSize: 22, fontWeight: 'bold', padding: '14px 60px' }}&gt;Game Design from Life, in six steps&lt;/Text&gt;&#10;  &lt;/Box&gt;&#10;  &lt;Box style={{ position: 'absolute', top: 100, left: 60, right: 60, height: 220, flexDirection: 'row', alignItems: 'center', justifyContent: 'space-between', padding: '0 20px' }}&gt;&#10;    {[&#10;      { n: '1', t: 'Lived experience', d: 'A specific moment that stuck with you' },&#10;      { n: '2', t: 'Emotional structure', d: 'Trigger, tension, turn, peak, aftertaste' },&#10;      { n: '3', t: 'Datalization', d: 'Map the structure to adjustable variables' },&#10;      { n: '3.5', t: 'System graph', d: 'Show the variables, rules, and feedback as a diagram' },&#10;      { n: '4', t: 'Minimum playable', d: 'Prototype in Unity / Tuanjie Engine' },&#10;      { n: '5+6', t: 'AI partner + world', d: 'AI for implementation and reflection; expand the world' },&#10;    ].map((s, i, arr) =&gt; (&#10;      &lt;Box key={s.n} style={{ flex: 1, flexDirection: 'row', alignItems: 'center' }}&gt;&#10;        &lt;Box style={{ flex: 1, padding: 14, background: '#F0F5FC', border: '1px solid #D6DCE5', borderRadius: 8, flexDirection: 'column', gap: 6 }}&gt;&#10;          &lt;Text style={{ fontSize: 12, color: '#1E4FA8', fontWeight: 'bold', letterSpacing: 1 }}&gt;STEP {s.n}&lt;/Text&gt;&#10;          &lt;Text style={{ fontSize: 16, color: '#0E3F8C', fontWeight: 'bold' }}&gt;{s.t}&lt;/Text&gt;&#10;          &lt;Text style={{ fontSize: 12, color: '#4A5568', lineHeight: 1.4 }}&gt;{s.d}&lt;/Text&gt;&#10;        &lt;/Box&gt;&#10;        {i &lt; arr.length - 1 &amp;&amp; (&#10;          &lt;Box style={{ width: 24, height: 2, background: '#1E4FA8', margin: '0 4px' }} /&gt;&#10;        )}&#10;      &lt;/Box&gt;&#10;    ))}&#10;  &lt;/Box&gt;&#10;  &lt;Box style={{ position: 'absolute', top: 360, left: 60, right: 60, height: 280, padding: 24, background: '#F7F9FC', border: '1px solid #E5E7EB', borderRadius: 10, flexDirection: 'column', gap: 14 }}&gt;&#10;    &lt;Text style={{ fontSize: 14, color: '#1E4FA8', fontWeight: 'bold', letterSpacing: 2 }}&gt;WHAT EACH STEP PRODUCES&lt;/Text&gt;&#10;    {[&#10;      ['1 Lived experience', 'a specific moment, not a topic'],&#10;      ['2 Emotional structure', 'a sequence the player should feel'],&#10;      ['3 Datalization', 'named, bounded, tunable variables'],&#10;      ['3.5 System graph', 'an inspectable blueprint (who proposes, who decides)'],&#10;      ['4 Minimum playable', 'a runnable build that someone can actually play'],&#10;      ['5 + 6 AI partner + world', 'an expanded system with documented decision provenance'],&#10;    ].map((row, i) =&gt; (&#10;      &lt;Box key={i} style={{ flexDirection: 'row', alignItems: 'center', gap: 16 }}&gt;&#10;        &lt;Text style={{ fontSize: 14, color: '#1E4FA8', fontWeight: 'bold', width: 220 }}&gt;{row[0]}&lt;/Text&gt;&#10;        &lt;Text style={{ fontSize: 16, color: '#1A2230' }}&gt;{row[1]}&lt;/Text&gt;&#10;      &lt;/Box&gt;&#10;    ))}&#10;  &lt;/Box&gt;&#10;  &lt;Box style={{ position: 'absolute', top: 680, left: 60, right: 60, flexDirection: 'row', justifyContent: 'space-between' }}&gt;&#10;    &lt;Text style={{ fontSize: 14, color: '#8B97A8' }}&gt;Xingchen Zhang · NYU Shanghai · XJTLU 2026 · Panel 11&lt;/Text&gt;&#10;    &lt;Text style={{ fontSize: 14, color: '#1E4FA8', fontWeight: 'bold' }}&gt;08 / 16&lt;/Text&gt;&#10;  &lt;/Box&gt;&#10;&lt;/Slide&gt;&#10;"/>
        <p:cNvGrpSpPr/>
        <p:nvPr/>
      </p:nvGrpSpPr>
      <p:grpSpPr>
        <a:xfrm>
          <a:off x="0" y="0"/>
          <a:ext cx="0" cy="0"/>
          <a:chOff x="0" y="0"/>
          <a:chExt cx="0" cy="0"/>
        </a:xfrm>
      </p:grpSpPr>
      <p:sp>
        <p:nvSpPr>
          <p:cNvPr id="298" name="矩形 297"/>
          <p:cNvSpPr/>
          <p:nvPr/>
        </p:nvSpPr>
        <p:spPr>
          <a:xfrm>
            <a:off x="0" y="0"/>
            <a:ext cx="12192000" cy="6858000"/>
          </a:xfrm>
          <a:prstGeom prst="rect">
            <a:avLst/>
          </a:prstGeom>
          <a:solidFill>
            <a:srgbClr val="FFFFFF"/>
          </a:solidFill>
        </p:spPr>
        <p:txBody>
          <a:bodyPr/>
          <a:p/>
        </p:txBody>
      </p:sp>
      <p:sp>
        <p:nvSpPr>
          <p:cNvPr id="299" name="矩形 298"/>
          <p:cNvSpPr/>
          <p:nvPr/>
        </p:nvSpPr>
        <p:spPr>
          <a:xfrm>
            <a:off x="0" y="0"/>
            <a:ext cx="12192000" cy="571500"/>
          </a:xfrm>
          <a:prstGeom prst="rect">
            <a:avLst/>
          </a:prstGeom>
          <a:solidFill>
            <a:srgbClr val="330662"/>
          </a:solidFill>
        </p:spPr>
        <p:txBody>
          <a:bodyPr/>
          <a:p/>
        </p:txBody>
      </p:sp>
      <p:sp>
        <p:nvSpPr>
          <p:cNvPr id="300" name="文本框 299" descr="{&quot;isTemplate&quot;:true,&quot;type&quot;:&quot;text&quot;}"/>
          <p:cNvSpPr txBox="1"/>
          <p:nvPr/>
        </p:nvSpPr>
        <p:spPr>
          <a:xfrm>
            <a:off x="0" y="0"/>
            <a:ext cx="12192000" cy="523875"/>
          </a:xfrm>
          <a:prstGeom prst="rect">
            <a:avLst/>
          </a:prstGeom>
        </p:spPr>
        <p:txBody>
          <a:bodyPr wrap="none" lIns="428625" tIns="100013" rIns="428625" bIns="100013"/>
          <a:p>
            <a:pPr>
              <a:lnSpc>
                <a:spcPct val="100000"/>
              </a:lnSpc>
            </a:pPr>
            <a:r>
              <a:rPr lang="en-US" sz="1650" b="1">
                <a:solidFill>
                  <a:srgbClr val="FFFFFF"/>
                </a:solidFill>
                <a:latin typeface="Source Han Sans"/>
                <a:ea typeface="Source Han Sans"/>
              </a:rPr>
              <a:t>Game Design from Life, in six steps</a:t>
            </a:r>
            <a:endParaRPr lang="en-US" sz="1650" b="1">
              <a:solidFill>
                <a:srgbClr val="FFFFFF"/>
              </a:solidFill>
              <a:latin typeface="Source Han Sans"/>
              <a:ea typeface="Source Han Sans"/>
            </a:endParaRPr>
          </a:p>
        </p:txBody>
      </p:sp>
      <p:sp>
        <p:nvSpPr>
          <p:cNvPr id="301" name="圆角矩形 300"/>
          <p:cNvSpPr/>
          <p:nvPr/>
        </p:nvSpPr>
        <p:spPr>
          <a:xfrm>
            <a:off x="762000" y="1447800"/>
            <a:ext cx="1476375" cy="1104900"/>
          </a:xfrm>
          <a:prstGeom prst="roundRect">
            <a:avLst>
              <a:gd name="adj" fmla="val 6897"/>
            </a:avLst>
          </a:prstGeom>
          <a:solidFill>
            <a:srgbClr val="F6F1FA"/>
          </a:solidFill>
          <a:ln w="12700">
            <a:solidFill>
              <a:srgbClr val="D9D0E4"/>
            </a:solidFill>
            <a:prstDash val="solid"/>
          </a:ln>
        </p:spPr>
        <p:txBody>
          <a:bodyPr/>
          <a:p/>
        </p:txBody>
      </p:sp>
      <p:sp>
        <p:nvSpPr>
          <p:cNvPr id="302" name="文本框 301" descr="{&quot;isTemplate&quot;:true,&quot;type&quot;:&quot;text&quot;}"/>
          <p:cNvSpPr txBox="1"/>
          <p:nvPr/>
        </p:nvSpPr>
        <p:spPr>
          <a:xfrm>
            <a:off x="895350" y="1581150"/>
            <a:ext cx="1209675" cy="142875"/>
          </a:xfrm>
          <a:prstGeom prst="rect">
            <a:avLst/>
          </a:prstGeom>
        </p:spPr>
        <p:txBody>
          <a:bodyPr wrap="none" lIns="0" tIns="0" rIns="0" bIns="0"/>
          <a:p>
            <a:pPr>
              <a:lnSpc>
                <a:spcPct val="100000"/>
              </a:lnSpc>
            </a:pPr>
            <a:r>
              <a:rPr lang="en-US" sz="900" b="1" spc="75">
                <a:solidFill>
                  <a:srgbClr val="57068C"/>
                </a:solidFill>
                <a:latin typeface="Source Han Sans"/>
                <a:ea typeface="Source Han Sans"/>
              </a:rPr>
              <a:t>STEP </a:t>
            </a:r>
            <a:r>
              <a:rPr lang="en-US" sz="900" b="1" spc="75">
                <a:solidFill>
                  <a:srgbClr val="57068C"/>
                </a:solidFill>
                <a:latin typeface="Source Han Sans"/>
                <a:ea typeface="Source Han Sans"/>
              </a:rPr>
              <a:t>1</a:t>
            </a:r>
            <a:endParaRPr lang="en-US" sz="900" b="1" spc="75">
              <a:solidFill>
                <a:srgbClr val="57068C"/>
              </a:solidFill>
              <a:latin typeface="Source Han Sans"/>
              <a:ea typeface="Source Han Sans"/>
            </a:endParaRPr>
          </a:p>
        </p:txBody>
      </p:sp>
      <p:sp>
        <p:nvSpPr>
          <p:cNvPr id="303" name="文本框 302" descr="{&quot;isTemplate&quot;:true,&quot;type&quot;:&quot;text&quot;}"/>
          <p:cNvSpPr txBox="1"/>
          <p:nvPr/>
        </p:nvSpPr>
        <p:spPr>
          <a:xfrm>
            <a:off x="895350" y="1781175"/>
            <a:ext cx="1209675" cy="371475"/>
          </a:xfrm>
          <a:prstGeom prst="rect">
            <a:avLst/>
          </a:prstGeom>
        </p:spPr>
        <p:txBody>
          <a:bodyPr wrap="square" lIns="0" tIns="0" rIns="0" bIns="0">
            <a:normAutofit/>
          </a:bodyPr>
          <a:p>
            <a:pPr>
              <a:lnSpc>
                <a:spcPct val="100000"/>
              </a:lnSpc>
            </a:pPr>
            <a:r>
              <a:rPr lang="en-US" sz="1200" b="1">
                <a:solidFill>
                  <a:srgbClr val="330662"/>
                </a:solidFill>
                <a:latin typeface="Source Han Sans"/>
                <a:ea typeface="Source Han Sans"/>
              </a:rPr>
              <a:t>Lived experience</a:t>
            </a:r>
            <a:endParaRPr lang="en-US" sz="1200" b="1">
              <a:solidFill>
                <a:srgbClr val="330662"/>
              </a:solidFill>
              <a:latin typeface="Source Han Sans"/>
              <a:ea typeface="Source Han Sans"/>
            </a:endParaRPr>
          </a:p>
        </p:txBody>
      </p:sp>
      <p:sp>
        <p:nvSpPr>
          <p:cNvPr id="304" name="文本框 303" descr="{&quot;isTemplate&quot;:true,&quot;type&quot;:&quot;text&quot;}"/>
          <p:cNvSpPr txBox="1"/>
          <p:nvPr/>
        </p:nvSpPr>
        <p:spPr>
          <a:xfrm>
            <a:off x="895350" y="2209800"/>
            <a:ext cx="1209675" cy="390525"/>
          </a:xfrm>
          <a:prstGeom prst="rect">
            <a:avLst/>
          </a:prstGeom>
        </p:spPr>
        <p:txBody>
          <a:bodyPr wrap="square" lIns="0" tIns="0" rIns="0" bIns="0">
            <a:normAutofit/>
          </a:bodyPr>
          <a:p>
            <a:pPr>
              <a:lnSpc>
                <a:spcPct val="140000"/>
              </a:lnSpc>
            </a:pPr>
            <a:r>
              <a:rPr lang="en-US" sz="900">
                <a:solidFill>
                  <a:srgbClr val="4A5568"/>
                </a:solidFill>
                <a:latin typeface="Source Han Sans"/>
                <a:ea typeface="Source Han Sans"/>
              </a:rPr>
              <a:t>An experience from real life</a:t>
            </a:r>
            <a:endParaRPr lang="en-US" sz="900">
              <a:solidFill>
                <a:srgbClr val="4A5568"/>
              </a:solidFill>
              <a:latin typeface="Source Han Sans"/>
              <a:ea typeface="Source Han Sans"/>
            </a:endParaRPr>
          </a:p>
        </p:txBody>
      </p:sp>
      <p:sp>
        <p:nvSpPr>
          <p:cNvPr id="305" name="矩形 304"/>
          <p:cNvSpPr/>
          <p:nvPr/>
        </p:nvSpPr>
        <p:spPr>
          <a:xfrm>
            <a:off x="2276475" y="1990725"/>
            <a:ext cx="228600" cy="19050"/>
          </a:xfrm>
          <a:prstGeom prst="rect">
            <a:avLst/>
          </a:prstGeom>
          <a:solidFill>
            <a:srgbClr val="57068C"/>
          </a:solidFill>
        </p:spPr>
        <p:txBody>
          <a:bodyPr/>
          <a:p/>
        </p:txBody>
      </p:sp>
      <p:sp>
        <p:nvSpPr>
          <p:cNvPr id="306" name="圆角矩形 305"/>
          <p:cNvSpPr/>
          <p:nvPr/>
        </p:nvSpPr>
        <p:spPr>
          <a:xfrm>
            <a:off x="2543175" y="1362075"/>
            <a:ext cx="1466850" cy="1285875"/>
          </a:xfrm>
          <a:prstGeom prst="roundRect">
            <a:avLst>
              <a:gd name="adj" fmla="val 5926"/>
            </a:avLst>
          </a:prstGeom>
          <a:solidFill>
            <a:srgbClr val="F6F1FA"/>
          </a:solidFill>
          <a:ln w="12700">
            <a:solidFill>
              <a:srgbClr val="D9D0E4"/>
            </a:solidFill>
            <a:prstDash val="solid"/>
          </a:ln>
        </p:spPr>
        <p:txBody>
          <a:bodyPr/>
          <a:p/>
        </p:txBody>
      </p:sp>
      <p:sp>
        <p:nvSpPr>
          <p:cNvPr id="307" name="文本框 306" descr="{&quot;isTemplate&quot;:true,&quot;type&quot;:&quot;text&quot;}"/>
          <p:cNvSpPr txBox="1"/>
          <p:nvPr/>
        </p:nvSpPr>
        <p:spPr>
          <a:xfrm>
            <a:off x="2676525" y="1495425"/>
            <a:ext cx="1200150" cy="142875"/>
          </a:xfrm>
          <a:prstGeom prst="rect">
            <a:avLst/>
          </a:prstGeom>
        </p:spPr>
        <p:txBody>
          <a:bodyPr wrap="none" lIns="0" tIns="0" rIns="0" bIns="0"/>
          <a:p>
            <a:pPr>
              <a:lnSpc>
                <a:spcPct val="100000"/>
              </a:lnSpc>
            </a:pPr>
            <a:r>
              <a:rPr lang="en-US" sz="900" b="1" spc="75">
                <a:solidFill>
                  <a:srgbClr val="57068C"/>
                </a:solidFill>
                <a:latin typeface="Source Han Sans"/>
                <a:ea typeface="Source Han Sans"/>
              </a:rPr>
              <a:t>STEP </a:t>
            </a:r>
            <a:r>
              <a:rPr lang="en-US" sz="900" b="1" spc="75">
                <a:solidFill>
                  <a:srgbClr val="57068C"/>
                </a:solidFill>
                <a:latin typeface="Source Han Sans"/>
                <a:ea typeface="Source Han Sans"/>
              </a:rPr>
              <a:t>2</a:t>
            </a:r>
            <a:endParaRPr lang="en-US" sz="900" b="1" spc="75">
              <a:solidFill>
                <a:srgbClr val="57068C"/>
              </a:solidFill>
              <a:latin typeface="Source Han Sans"/>
              <a:ea typeface="Source Han Sans"/>
            </a:endParaRPr>
          </a:p>
        </p:txBody>
      </p:sp>
      <p:sp>
        <p:nvSpPr>
          <p:cNvPr id="308" name="文本框 307" descr="{&quot;isTemplate&quot;:true,&quot;type&quot;:&quot;text&quot;}"/>
          <p:cNvSpPr txBox="1"/>
          <p:nvPr/>
        </p:nvSpPr>
        <p:spPr>
          <a:xfrm>
            <a:off x="2676525" y="1695450"/>
            <a:ext cx="1200150" cy="535305"/>
          </a:xfrm>
          <a:prstGeom prst="rect">
            <a:avLst/>
          </a:prstGeom>
        </p:spPr>
        <p:txBody>
          <a:bodyPr wrap="square" lIns="0" tIns="0" rIns="0" bIns="0">
            <a:normAutofit fontScale="80000"/>
          </a:bodyPr>
          <a:p>
            <a:pPr>
              <a:lnSpc>
                <a:spcPct val="100000"/>
              </a:lnSpc>
            </a:pPr>
            <a:r>
              <a:rPr lang="en-US" sz="1200" b="1">
                <a:solidFill>
                  <a:srgbClr val="330662"/>
                </a:solidFill>
                <a:latin typeface="Source Han Sans"/>
                <a:ea typeface="Source Han Sans"/>
              </a:rPr>
              <a:t>Emotional structure / domain </a:t>
            </a:r>
            <a:r>
              <a:rPr lang="en-US" sz="1200" b="1">
                <a:solidFill>
                  <a:srgbClr val="330662"/>
                </a:solidFill>
                <a:latin typeface="Source Han Sans"/>
                <a:ea typeface="Source Han Sans"/>
              </a:rPr>
              <a:t>knowledge</a:t>
            </a:r>
            <a:endParaRPr lang="en-US" sz="1200" b="1">
              <a:solidFill>
                <a:srgbClr val="330662"/>
              </a:solidFill>
              <a:latin typeface="Source Han Sans"/>
              <a:ea typeface="Source Han Sans"/>
            </a:endParaRPr>
          </a:p>
        </p:txBody>
      </p:sp>
      <p:sp>
        <p:nvSpPr>
          <p:cNvPr id="309" name="文本框 308" descr="{&quot;isTemplate&quot;:true,&quot;type&quot;:&quot;text&quot;}"/>
          <p:cNvSpPr txBox="1"/>
          <p:nvPr/>
        </p:nvSpPr>
        <p:spPr>
          <a:xfrm>
            <a:off x="2676525" y="2209800"/>
            <a:ext cx="1200150" cy="390525"/>
          </a:xfrm>
          <a:prstGeom prst="rect">
            <a:avLst/>
          </a:prstGeom>
        </p:spPr>
        <p:txBody>
          <a:bodyPr wrap="square" lIns="0" tIns="0" rIns="0" bIns="0">
            <a:normAutofit/>
          </a:bodyPr>
          <a:p>
            <a:pPr>
              <a:lnSpc>
                <a:spcPct val="140000"/>
              </a:lnSpc>
            </a:pPr>
            <a:r>
              <a:rPr lang="en-US" sz="900">
                <a:solidFill>
                  <a:srgbClr val="4A5568"/>
                </a:solidFill>
                <a:latin typeface="Source Han Sans"/>
                <a:ea typeface="Source Han Sans"/>
              </a:rPr>
              <a:t>Trigger, tension, turn, peak, aftertaste</a:t>
            </a:r>
            <a:endParaRPr lang="en-US" sz="900">
              <a:solidFill>
                <a:srgbClr val="4A5568"/>
              </a:solidFill>
              <a:latin typeface="Source Han Sans"/>
              <a:ea typeface="Source Han Sans"/>
            </a:endParaRPr>
          </a:p>
        </p:txBody>
      </p:sp>
      <p:sp>
        <p:nvSpPr>
          <p:cNvPr id="310" name="矩形 309"/>
          <p:cNvSpPr/>
          <p:nvPr/>
        </p:nvSpPr>
        <p:spPr>
          <a:xfrm>
            <a:off x="4048125" y="2000250"/>
            <a:ext cx="228600" cy="19050"/>
          </a:xfrm>
          <a:prstGeom prst="rect">
            <a:avLst/>
          </a:prstGeom>
          <a:solidFill>
            <a:srgbClr val="57068C"/>
          </a:solidFill>
        </p:spPr>
        <p:txBody>
          <a:bodyPr/>
          <a:p/>
        </p:txBody>
      </p:sp>
      <p:sp>
        <p:nvSpPr>
          <p:cNvPr id="311" name="圆角矩形 310"/>
          <p:cNvSpPr/>
          <p:nvPr/>
        </p:nvSpPr>
        <p:spPr>
          <a:xfrm>
            <a:off x="4314825" y="1447800"/>
            <a:ext cx="1476375" cy="1104900"/>
          </a:xfrm>
          <a:prstGeom prst="roundRect">
            <a:avLst>
              <a:gd name="adj" fmla="val 6897"/>
            </a:avLst>
          </a:prstGeom>
          <a:solidFill>
            <a:srgbClr val="F6F1FA"/>
          </a:solidFill>
          <a:ln w="12700">
            <a:solidFill>
              <a:srgbClr val="D9D0E4"/>
            </a:solidFill>
            <a:prstDash val="solid"/>
          </a:ln>
        </p:spPr>
        <p:txBody>
          <a:bodyPr/>
          <a:p/>
        </p:txBody>
      </p:sp>
      <p:sp>
        <p:nvSpPr>
          <p:cNvPr id="312" name="文本框 311" descr="{&quot;isTemplate&quot;:true,&quot;type&quot;:&quot;text&quot;}"/>
          <p:cNvSpPr txBox="1"/>
          <p:nvPr/>
        </p:nvSpPr>
        <p:spPr>
          <a:xfrm>
            <a:off x="4448175" y="1581150"/>
            <a:ext cx="1209675" cy="142875"/>
          </a:xfrm>
          <a:prstGeom prst="rect">
            <a:avLst/>
          </a:prstGeom>
        </p:spPr>
        <p:txBody>
          <a:bodyPr wrap="none" lIns="0" tIns="0" rIns="0" bIns="0"/>
          <a:p>
            <a:pPr>
              <a:lnSpc>
                <a:spcPct val="100000"/>
              </a:lnSpc>
            </a:pPr>
            <a:r>
              <a:rPr lang="en-US" sz="900" b="1" spc="75">
                <a:solidFill>
                  <a:srgbClr val="57068C"/>
                </a:solidFill>
                <a:latin typeface="Source Han Sans"/>
                <a:ea typeface="Source Han Sans"/>
              </a:rPr>
              <a:t>STEP </a:t>
            </a:r>
            <a:r>
              <a:rPr lang="en-US" sz="900" b="1" spc="75">
                <a:solidFill>
                  <a:srgbClr val="57068C"/>
                </a:solidFill>
                <a:latin typeface="Source Han Sans"/>
                <a:ea typeface="Source Han Sans"/>
              </a:rPr>
              <a:t>3</a:t>
            </a:r>
            <a:endParaRPr lang="en-US" sz="900" b="1" spc="75">
              <a:solidFill>
                <a:srgbClr val="57068C"/>
              </a:solidFill>
              <a:latin typeface="Source Han Sans"/>
              <a:ea typeface="Source Han Sans"/>
            </a:endParaRPr>
          </a:p>
        </p:txBody>
      </p:sp>
      <p:sp>
        <p:nvSpPr>
          <p:cNvPr id="313" name="文本框 312" descr="{&quot;isTemplate&quot;:true,&quot;type&quot;:&quot;text&quot;}"/>
          <p:cNvSpPr txBox="1"/>
          <p:nvPr/>
        </p:nvSpPr>
        <p:spPr>
          <a:xfrm>
            <a:off x="4448175" y="1781175"/>
            <a:ext cx="1209675" cy="190500"/>
          </a:xfrm>
          <a:prstGeom prst="rect">
            <a:avLst/>
          </a:prstGeom>
        </p:spPr>
        <p:txBody>
          <a:bodyPr wrap="none" lIns="0" tIns="0" rIns="0" bIns="0"/>
          <a:p>
            <a:pPr>
              <a:lnSpc>
                <a:spcPct val="100000"/>
              </a:lnSpc>
            </a:pPr>
            <a:r>
              <a:rPr lang="en-US" sz="1200" b="1">
                <a:solidFill>
                  <a:srgbClr val="330662"/>
                </a:solidFill>
                <a:latin typeface="Source Han Sans"/>
                <a:ea typeface="Source Han Sans"/>
              </a:rPr>
              <a:t>Datalization</a:t>
            </a:r>
            <a:endParaRPr lang="en-US" sz="1200" b="1">
              <a:solidFill>
                <a:srgbClr val="330662"/>
              </a:solidFill>
              <a:latin typeface="Source Han Sans"/>
              <a:ea typeface="Source Han Sans"/>
            </a:endParaRPr>
          </a:p>
        </p:txBody>
      </p:sp>
      <p:sp>
        <p:nvSpPr>
          <p:cNvPr id="314" name="文本框 313" descr="{&quot;isTemplate&quot;:true,&quot;type&quot;:&quot;text&quot;}"/>
          <p:cNvSpPr txBox="1"/>
          <p:nvPr/>
        </p:nvSpPr>
        <p:spPr>
          <a:xfrm>
            <a:off x="4448175" y="2028825"/>
            <a:ext cx="1209675" cy="390525"/>
          </a:xfrm>
          <a:prstGeom prst="rect">
            <a:avLst/>
          </a:prstGeom>
        </p:spPr>
        <p:txBody>
          <a:bodyPr wrap="square" lIns="0" tIns="0" rIns="0" bIns="0">
            <a:normAutofit/>
          </a:bodyPr>
          <a:p>
            <a:pPr>
              <a:lnSpc>
                <a:spcPct val="140000"/>
              </a:lnSpc>
            </a:pPr>
            <a:r>
              <a:rPr lang="en-US" sz="900">
                <a:solidFill>
                  <a:srgbClr val="4A5568"/>
                </a:solidFill>
                <a:latin typeface="Source Han Sans"/>
                <a:ea typeface="Source Han Sans"/>
              </a:rPr>
              <a:t>Map the structure to adjustable variables</a:t>
            </a:r>
            <a:endParaRPr lang="en-US" sz="900">
              <a:solidFill>
                <a:srgbClr val="4A5568"/>
              </a:solidFill>
              <a:latin typeface="Source Han Sans"/>
              <a:ea typeface="Source Han Sans"/>
            </a:endParaRPr>
          </a:p>
        </p:txBody>
      </p:sp>
      <p:sp>
        <p:nvSpPr>
          <p:cNvPr id="315" name="矩形 314"/>
          <p:cNvSpPr/>
          <p:nvPr/>
        </p:nvSpPr>
        <p:spPr>
          <a:xfrm>
            <a:off x="5829300" y="1990725"/>
            <a:ext cx="228600" cy="19050"/>
          </a:xfrm>
          <a:prstGeom prst="rect">
            <a:avLst/>
          </a:prstGeom>
          <a:solidFill>
            <a:srgbClr val="57068C"/>
          </a:solidFill>
        </p:spPr>
        <p:txBody>
          <a:bodyPr/>
          <a:p/>
        </p:txBody>
      </p:sp>
      <p:sp>
        <p:nvSpPr>
          <p:cNvPr id="316" name="圆角矩形 315"/>
          <p:cNvSpPr/>
          <p:nvPr/>
        </p:nvSpPr>
        <p:spPr>
          <a:xfrm>
            <a:off x="6096000" y="1352550"/>
            <a:ext cx="1476375" cy="1295400"/>
          </a:xfrm>
          <a:prstGeom prst="roundRect">
            <a:avLst>
              <a:gd name="adj" fmla="val 5882"/>
            </a:avLst>
          </a:prstGeom>
          <a:solidFill>
            <a:srgbClr val="F6F1FA"/>
          </a:solidFill>
          <a:ln w="12700">
            <a:solidFill>
              <a:srgbClr val="D9D0E4"/>
            </a:solidFill>
            <a:prstDash val="solid"/>
          </a:ln>
        </p:spPr>
        <p:txBody>
          <a:bodyPr/>
          <a:p/>
        </p:txBody>
      </p:sp>
      <p:sp>
        <p:nvSpPr>
          <p:cNvPr id="317" name="文本框 316" descr="{&quot;isTemplate&quot;:true,&quot;type&quot;:&quot;text&quot;}"/>
          <p:cNvSpPr txBox="1"/>
          <p:nvPr/>
        </p:nvSpPr>
        <p:spPr>
          <a:xfrm>
            <a:off x="6229350" y="1485900"/>
            <a:ext cx="1209675" cy="142875"/>
          </a:xfrm>
          <a:prstGeom prst="rect">
            <a:avLst/>
          </a:prstGeom>
        </p:spPr>
        <p:txBody>
          <a:bodyPr wrap="none" lIns="0" tIns="0" rIns="0" bIns="0"/>
          <a:p>
            <a:pPr>
              <a:lnSpc>
                <a:spcPct val="100000"/>
              </a:lnSpc>
            </a:pPr>
            <a:r>
              <a:rPr lang="en-US" sz="900" b="1" spc="75">
                <a:solidFill>
                  <a:srgbClr val="57068C"/>
                </a:solidFill>
                <a:latin typeface="Source Han Sans"/>
                <a:ea typeface="Source Han Sans"/>
              </a:rPr>
              <a:t>STEP </a:t>
            </a:r>
            <a:r>
              <a:rPr lang="en-US" sz="900" b="1" spc="75">
                <a:solidFill>
                  <a:srgbClr val="57068C"/>
                </a:solidFill>
                <a:latin typeface="Source Han Sans"/>
                <a:ea typeface="Source Han Sans"/>
              </a:rPr>
              <a:t>3.5</a:t>
            </a:r>
            <a:endParaRPr lang="en-US" sz="900" b="1" spc="75">
              <a:solidFill>
                <a:srgbClr val="57068C"/>
              </a:solidFill>
              <a:latin typeface="Source Han Sans"/>
              <a:ea typeface="Source Han Sans"/>
            </a:endParaRPr>
          </a:p>
        </p:txBody>
      </p:sp>
      <p:sp>
        <p:nvSpPr>
          <p:cNvPr id="318" name="文本框 317" descr="{&quot;isTemplate&quot;:true,&quot;type&quot;:&quot;text&quot;}"/>
          <p:cNvSpPr txBox="1"/>
          <p:nvPr/>
        </p:nvSpPr>
        <p:spPr>
          <a:xfrm>
            <a:off x="6229350" y="1685925"/>
            <a:ext cx="1209675" cy="190500"/>
          </a:xfrm>
          <a:prstGeom prst="rect">
            <a:avLst/>
          </a:prstGeom>
        </p:spPr>
        <p:txBody>
          <a:bodyPr wrap="none" lIns="0" tIns="0" rIns="0" bIns="0"/>
          <a:p>
            <a:pPr>
              <a:lnSpc>
                <a:spcPct val="100000"/>
              </a:lnSpc>
            </a:pPr>
            <a:r>
              <a:rPr lang="en-US" sz="1200" b="1">
                <a:solidFill>
                  <a:srgbClr val="330662"/>
                </a:solidFill>
                <a:latin typeface="Source Han Sans"/>
                <a:ea typeface="Source Han Sans"/>
              </a:rPr>
              <a:t>System graph</a:t>
            </a:r>
            <a:endParaRPr lang="en-US" sz="1200" b="1">
              <a:solidFill>
                <a:srgbClr val="330662"/>
              </a:solidFill>
              <a:latin typeface="Source Han Sans"/>
              <a:ea typeface="Source Han Sans"/>
            </a:endParaRPr>
          </a:p>
        </p:txBody>
      </p:sp>
      <p:sp>
        <p:nvSpPr>
          <p:cNvPr id="319" name="文本框 318" descr="{&quot;isTemplate&quot;:true,&quot;type&quot;:&quot;text&quot;}"/>
          <p:cNvSpPr txBox="1"/>
          <p:nvPr/>
        </p:nvSpPr>
        <p:spPr>
          <a:xfrm>
            <a:off x="6229350" y="1933575"/>
            <a:ext cx="1209675" cy="581025"/>
          </a:xfrm>
          <a:prstGeom prst="rect">
            <a:avLst/>
          </a:prstGeom>
        </p:spPr>
        <p:txBody>
          <a:bodyPr wrap="square" lIns="0" tIns="0" rIns="0" bIns="0">
            <a:normAutofit/>
          </a:bodyPr>
          <a:p>
            <a:pPr>
              <a:lnSpc>
                <a:spcPct val="140000"/>
              </a:lnSpc>
            </a:pPr>
            <a:r>
              <a:rPr lang="en-US" sz="900">
                <a:solidFill>
                  <a:srgbClr val="4A5568"/>
                </a:solidFill>
                <a:latin typeface="Source Han Sans"/>
                <a:ea typeface="Source Han Sans"/>
              </a:rPr>
              <a:t>Show the variables, rules, and feedback as a diagram</a:t>
            </a:r>
            <a:endParaRPr lang="en-US" sz="900">
              <a:solidFill>
                <a:srgbClr val="4A5568"/>
              </a:solidFill>
              <a:latin typeface="Source Han Sans"/>
              <a:ea typeface="Source Han Sans"/>
            </a:endParaRPr>
          </a:p>
        </p:txBody>
      </p:sp>
      <p:sp>
        <p:nvSpPr>
          <p:cNvPr id="320" name="矩形 319"/>
          <p:cNvSpPr/>
          <p:nvPr/>
        </p:nvSpPr>
        <p:spPr>
          <a:xfrm>
            <a:off x="7610475" y="1990725"/>
            <a:ext cx="228600" cy="19050"/>
          </a:xfrm>
          <a:prstGeom prst="rect">
            <a:avLst/>
          </a:prstGeom>
          <a:solidFill>
            <a:srgbClr val="57068C"/>
          </a:solidFill>
        </p:spPr>
        <p:txBody>
          <a:bodyPr/>
          <a:p/>
        </p:txBody>
      </p:sp>
      <p:sp>
        <p:nvSpPr>
          <p:cNvPr id="321" name="圆角矩形 320"/>
          <p:cNvSpPr/>
          <p:nvPr/>
        </p:nvSpPr>
        <p:spPr>
          <a:xfrm>
            <a:off x="7877175" y="1362075"/>
            <a:ext cx="1466850" cy="1285875"/>
          </a:xfrm>
          <a:prstGeom prst="roundRect">
            <a:avLst>
              <a:gd name="adj" fmla="val 5926"/>
            </a:avLst>
          </a:prstGeom>
          <a:solidFill>
            <a:srgbClr val="F6F1FA"/>
          </a:solidFill>
          <a:ln w="12700">
            <a:solidFill>
              <a:srgbClr val="D9D0E4"/>
            </a:solidFill>
            <a:prstDash val="solid"/>
          </a:ln>
        </p:spPr>
        <p:txBody>
          <a:bodyPr/>
          <a:p/>
        </p:txBody>
      </p:sp>
      <p:sp>
        <p:nvSpPr>
          <p:cNvPr id="322" name="文本框 321" descr="{&quot;isTemplate&quot;:true,&quot;type&quot;:&quot;text&quot;}"/>
          <p:cNvSpPr txBox="1"/>
          <p:nvPr/>
        </p:nvSpPr>
        <p:spPr>
          <a:xfrm>
            <a:off x="8010525" y="1495425"/>
            <a:ext cx="1200150" cy="142875"/>
          </a:xfrm>
          <a:prstGeom prst="rect">
            <a:avLst/>
          </a:prstGeom>
        </p:spPr>
        <p:txBody>
          <a:bodyPr wrap="none" lIns="0" tIns="0" rIns="0" bIns="0"/>
          <a:p>
            <a:pPr>
              <a:lnSpc>
                <a:spcPct val="100000"/>
              </a:lnSpc>
            </a:pPr>
            <a:r>
              <a:rPr lang="en-US" sz="900" b="1" spc="75">
                <a:solidFill>
                  <a:srgbClr val="57068C"/>
                </a:solidFill>
                <a:latin typeface="Source Han Sans"/>
                <a:ea typeface="Source Han Sans"/>
              </a:rPr>
              <a:t>STEP </a:t>
            </a:r>
            <a:r>
              <a:rPr lang="en-US" sz="900" b="1" spc="75">
                <a:solidFill>
                  <a:srgbClr val="57068C"/>
                </a:solidFill>
                <a:latin typeface="Source Han Sans"/>
                <a:ea typeface="Source Han Sans"/>
              </a:rPr>
              <a:t>4</a:t>
            </a:r>
            <a:endParaRPr lang="en-US" sz="900" b="1" spc="75">
              <a:solidFill>
                <a:srgbClr val="57068C"/>
              </a:solidFill>
              <a:latin typeface="Source Han Sans"/>
              <a:ea typeface="Source Han Sans"/>
            </a:endParaRPr>
          </a:p>
        </p:txBody>
      </p:sp>
      <p:sp>
        <p:nvSpPr>
          <p:cNvPr id="323" name="文本框 322" descr="{&quot;isTemplate&quot;:true,&quot;type&quot;:&quot;text&quot;}"/>
          <p:cNvSpPr txBox="1"/>
          <p:nvPr/>
        </p:nvSpPr>
        <p:spPr>
          <a:xfrm>
            <a:off x="8010525" y="1695450"/>
            <a:ext cx="1200150" cy="371475"/>
          </a:xfrm>
          <a:prstGeom prst="rect">
            <a:avLst/>
          </a:prstGeom>
        </p:spPr>
        <p:txBody>
          <a:bodyPr wrap="square" lIns="0" tIns="0" rIns="0" bIns="0">
            <a:normAutofit/>
          </a:bodyPr>
          <a:p>
            <a:pPr>
              <a:lnSpc>
                <a:spcPct val="100000"/>
              </a:lnSpc>
            </a:pPr>
            <a:r>
              <a:rPr lang="en-US" sz="1200" b="1">
                <a:solidFill>
                  <a:srgbClr val="330662"/>
                </a:solidFill>
                <a:latin typeface="Source Han Sans"/>
                <a:ea typeface="Source Han Sans"/>
              </a:rPr>
              <a:t>Minimum playable</a:t>
            </a:r>
            <a:endParaRPr lang="en-US" sz="1200" b="1">
              <a:solidFill>
                <a:srgbClr val="330662"/>
              </a:solidFill>
              <a:latin typeface="Source Han Sans"/>
              <a:ea typeface="Source Han Sans"/>
            </a:endParaRPr>
          </a:p>
        </p:txBody>
      </p:sp>
      <p:sp>
        <p:nvSpPr>
          <p:cNvPr id="324" name="文本框 323" descr="{&quot;isTemplate&quot;:true,&quot;type&quot;:&quot;text&quot;}"/>
          <p:cNvSpPr txBox="1"/>
          <p:nvPr/>
        </p:nvSpPr>
        <p:spPr>
          <a:xfrm>
            <a:off x="8010525" y="2124075"/>
            <a:ext cx="1200150" cy="390525"/>
          </a:xfrm>
          <a:prstGeom prst="rect">
            <a:avLst/>
          </a:prstGeom>
        </p:spPr>
        <p:txBody>
          <a:bodyPr wrap="square" lIns="0" tIns="0" rIns="0" bIns="0">
            <a:normAutofit/>
          </a:bodyPr>
          <a:p>
            <a:pPr>
              <a:lnSpc>
                <a:spcPct val="140000"/>
              </a:lnSpc>
            </a:pPr>
            <a:r>
              <a:rPr lang="en-US" sz="900">
                <a:solidFill>
                  <a:srgbClr val="4A5568"/>
                </a:solidFill>
                <a:latin typeface="Source Han Sans"/>
                <a:ea typeface="Source Han Sans"/>
              </a:rPr>
              <a:t>Prototype in Unity / on Web </a:t>
            </a:r>
            <a:r>
              <a:rPr lang="en-US" sz="900">
                <a:solidFill>
                  <a:srgbClr val="4A5568"/>
                </a:solidFill>
                <a:latin typeface="Source Han Sans"/>
                <a:ea typeface="Source Han Sans"/>
              </a:rPr>
              <a:t>page</a:t>
            </a:r>
            <a:endParaRPr lang="en-US" sz="900">
              <a:solidFill>
                <a:srgbClr val="4A5568"/>
              </a:solidFill>
              <a:latin typeface="Source Han Sans"/>
              <a:ea typeface="Source Han Sans"/>
            </a:endParaRPr>
          </a:p>
        </p:txBody>
      </p:sp>
      <p:sp>
        <p:nvSpPr>
          <p:cNvPr id="325" name="矩形 324"/>
          <p:cNvSpPr/>
          <p:nvPr/>
        </p:nvSpPr>
        <p:spPr>
          <a:xfrm>
            <a:off x="9382125" y="2000250"/>
            <a:ext cx="228600" cy="19050"/>
          </a:xfrm>
          <a:prstGeom prst="rect">
            <a:avLst/>
          </a:prstGeom>
          <a:solidFill>
            <a:srgbClr val="57068C"/>
          </a:solidFill>
        </p:spPr>
        <p:txBody>
          <a:bodyPr/>
          <a:p/>
        </p:txBody>
      </p:sp>
      <p:sp>
        <p:nvSpPr>
          <p:cNvPr id="326" name="圆角矩形 325"/>
          <p:cNvSpPr/>
          <p:nvPr/>
        </p:nvSpPr>
        <p:spPr>
          <a:xfrm>
            <a:off x="9648825" y="1447800"/>
            <a:ext cx="1781175" cy="1104900"/>
          </a:xfrm>
          <a:prstGeom prst="roundRect">
            <a:avLst>
              <a:gd name="adj" fmla="val 6897"/>
            </a:avLst>
          </a:prstGeom>
          <a:solidFill>
            <a:srgbClr val="F6F1FA"/>
          </a:solidFill>
          <a:ln w="12700">
            <a:solidFill>
              <a:srgbClr val="D9D0E4"/>
            </a:solidFill>
            <a:prstDash val="solid"/>
          </a:ln>
        </p:spPr>
        <p:txBody>
          <a:bodyPr/>
          <a:p/>
        </p:txBody>
      </p:sp>
      <p:sp>
        <p:nvSpPr>
          <p:cNvPr id="327" name="文本框 326" descr="{&quot;isTemplate&quot;:true,&quot;type&quot;:&quot;text&quot;}"/>
          <p:cNvSpPr txBox="1"/>
          <p:nvPr/>
        </p:nvSpPr>
        <p:spPr>
          <a:xfrm>
            <a:off x="9782175" y="1581150"/>
            <a:ext cx="1514475" cy="142875"/>
          </a:xfrm>
          <a:prstGeom prst="rect">
            <a:avLst/>
          </a:prstGeom>
        </p:spPr>
        <p:txBody>
          <a:bodyPr wrap="none" lIns="0" tIns="0" rIns="0" bIns="0"/>
          <a:p>
            <a:pPr>
              <a:lnSpc>
                <a:spcPct val="100000"/>
              </a:lnSpc>
            </a:pPr>
            <a:r>
              <a:rPr lang="en-US" sz="900" b="1" spc="75">
                <a:solidFill>
                  <a:srgbClr val="57068C"/>
                </a:solidFill>
                <a:latin typeface="Source Han Sans"/>
                <a:ea typeface="Source Han Sans"/>
              </a:rPr>
              <a:t>STEP </a:t>
            </a:r>
            <a:r>
              <a:rPr lang="en-US" sz="900" b="1" spc="75">
                <a:solidFill>
                  <a:srgbClr val="57068C"/>
                </a:solidFill>
                <a:latin typeface="Source Han Sans"/>
                <a:ea typeface="Source Han Sans"/>
              </a:rPr>
              <a:t>5+6</a:t>
            </a:r>
            <a:endParaRPr lang="en-US" sz="900" b="1" spc="75">
              <a:solidFill>
                <a:srgbClr val="57068C"/>
              </a:solidFill>
              <a:latin typeface="Source Han Sans"/>
              <a:ea typeface="Source Han Sans"/>
            </a:endParaRPr>
          </a:p>
        </p:txBody>
      </p:sp>
      <p:sp>
        <p:nvSpPr>
          <p:cNvPr id="328" name="文本框 327" descr="{&quot;isTemplate&quot;:true,&quot;type&quot;:&quot;text&quot;}"/>
          <p:cNvSpPr txBox="1"/>
          <p:nvPr/>
        </p:nvSpPr>
        <p:spPr>
          <a:xfrm>
            <a:off x="9782175" y="1781175"/>
            <a:ext cx="1514475" cy="190500"/>
          </a:xfrm>
          <a:prstGeom prst="rect">
            <a:avLst/>
          </a:prstGeom>
        </p:spPr>
        <p:txBody>
          <a:bodyPr wrap="none" lIns="0" tIns="0" rIns="0" bIns="0"/>
          <a:p>
            <a:pPr>
              <a:lnSpc>
                <a:spcPct val="100000"/>
              </a:lnSpc>
            </a:pPr>
            <a:r>
              <a:rPr lang="en-US" sz="1200" b="1">
                <a:solidFill>
                  <a:srgbClr val="330662"/>
                </a:solidFill>
                <a:latin typeface="Source Han Sans"/>
                <a:ea typeface="Source Han Sans"/>
              </a:rPr>
              <a:t>AI partner + world</a:t>
            </a:r>
            <a:endParaRPr lang="en-US" sz="1200" b="1">
              <a:solidFill>
                <a:srgbClr val="330662"/>
              </a:solidFill>
              <a:latin typeface="Source Han Sans"/>
              <a:ea typeface="Source Han Sans"/>
            </a:endParaRPr>
          </a:p>
        </p:txBody>
      </p:sp>
      <p:sp>
        <p:nvSpPr>
          <p:cNvPr id="329" name="文本框 328" descr="{&quot;isTemplate&quot;:true,&quot;type&quot;:&quot;text&quot;}"/>
          <p:cNvSpPr txBox="1"/>
          <p:nvPr/>
        </p:nvSpPr>
        <p:spPr>
          <a:xfrm>
            <a:off x="9782175" y="2028825"/>
            <a:ext cx="1514475" cy="390525"/>
          </a:xfrm>
          <a:prstGeom prst="rect">
            <a:avLst/>
          </a:prstGeom>
        </p:spPr>
        <p:txBody>
          <a:bodyPr wrap="square" lIns="0" tIns="0" rIns="0" bIns="0">
            <a:normAutofit/>
          </a:bodyPr>
          <a:p>
            <a:pPr>
              <a:lnSpc>
                <a:spcPct val="140000"/>
              </a:lnSpc>
            </a:pPr>
            <a:r>
              <a:rPr lang="en-US" sz="900">
                <a:solidFill>
                  <a:srgbClr val="4A5568"/>
                </a:solidFill>
                <a:latin typeface="Source Han Sans"/>
                <a:ea typeface="Source Han Sans"/>
              </a:rPr>
              <a:t>AI for implementation and reflection; expand the world</a:t>
            </a:r>
            <a:endParaRPr lang="en-US" sz="900">
              <a:solidFill>
                <a:srgbClr val="4A5568"/>
              </a:solidFill>
              <a:latin typeface="Source Han Sans"/>
              <a:ea typeface="Source Han Sans"/>
            </a:endParaRPr>
          </a:p>
        </p:txBody>
      </p:sp>
      <p:sp>
        <p:nvSpPr>
          <p:cNvPr id="330" name="圆角矩形 329"/>
          <p:cNvSpPr/>
          <p:nvPr/>
        </p:nvSpPr>
        <p:spPr>
          <a:xfrm>
            <a:off x="571500" y="3429000"/>
            <a:ext cx="11049000" cy="2667000"/>
          </a:xfrm>
          <a:prstGeom prst="roundRect">
            <a:avLst>
              <a:gd name="adj" fmla="val 3571"/>
            </a:avLst>
          </a:prstGeom>
          <a:solidFill>
            <a:srgbClr val="FAF8FC"/>
          </a:solidFill>
          <a:ln w="12700">
            <a:solidFill>
              <a:srgbClr val="E4DCEC"/>
            </a:solidFill>
            <a:prstDash val="solid"/>
          </a:ln>
        </p:spPr>
        <p:txBody>
          <a:bodyPr/>
          <a:p/>
        </p:txBody>
      </p:sp>
      <p:sp>
        <p:nvSpPr>
          <p:cNvPr id="331" name="文本框 330" descr="{&quot;isTemplate&quot;:true,&quot;type&quot;:&quot;text&quot;}"/>
          <p:cNvSpPr txBox="1"/>
          <p:nvPr/>
        </p:nvSpPr>
        <p:spPr>
          <a:xfrm>
            <a:off x="800100" y="3657600"/>
            <a:ext cx="10591800" cy="161925"/>
          </a:xfrm>
          <a:prstGeom prst="rect">
            <a:avLst/>
          </a:prstGeom>
        </p:spPr>
        <p:txBody>
          <a:bodyPr wrap="none" lIns="0" tIns="0" rIns="0" bIns="0"/>
          <a:p>
            <a:pPr>
              <a:lnSpc>
                <a:spcPct val="100000"/>
              </a:lnSpc>
            </a:pPr>
            <a:r>
              <a:rPr lang="en-US" sz="1050" b="1" spc="150">
                <a:solidFill>
                  <a:srgbClr val="57068C"/>
                </a:solidFill>
                <a:latin typeface="Source Han Sans"/>
                <a:ea typeface="Source Han Sans"/>
              </a:rPr>
              <a:t>WHAT EACH STEP PRODUCES</a:t>
            </a:r>
            <a:endParaRPr lang="en-US" sz="1050" b="1" spc="150">
              <a:solidFill>
                <a:srgbClr val="57068C"/>
              </a:solidFill>
              <a:latin typeface="Source Han Sans"/>
              <a:ea typeface="Source Han Sans"/>
            </a:endParaRPr>
          </a:p>
        </p:txBody>
      </p:sp>
      <p:sp>
        <p:nvSpPr>
          <p:cNvPr id="332" name="文本框 331" descr="{&quot;isTemplate&quot;:true,&quot;type&quot;:&quot;text&quot;}"/>
          <p:cNvSpPr txBox="1"/>
          <p:nvPr/>
        </p:nvSpPr>
        <p:spPr>
          <a:xfrm>
            <a:off x="800100" y="3971925"/>
            <a:ext cx="2095500" cy="161925"/>
          </a:xfrm>
          <a:prstGeom prst="rect">
            <a:avLst/>
          </a:prstGeom>
        </p:spPr>
        <p:txBody>
          <a:bodyPr wrap="none" lIns="0" tIns="0" rIns="0" bIns="0"/>
          <a:p>
            <a:pPr>
              <a:lnSpc>
                <a:spcPct val="100000"/>
              </a:lnSpc>
            </a:pPr>
            <a:r>
              <a:rPr lang="en-US" sz="1050" b="1">
                <a:solidFill>
                  <a:srgbClr val="57068C"/>
                </a:solidFill>
                <a:latin typeface="Source Han Sans"/>
                <a:ea typeface="Source Han Sans"/>
              </a:rPr>
              <a:t>1 Lived experience</a:t>
            </a:r>
            <a:endParaRPr lang="en-US" sz="1050" b="1">
              <a:solidFill>
                <a:srgbClr val="57068C"/>
              </a:solidFill>
              <a:latin typeface="Source Han Sans"/>
              <a:ea typeface="Source Han Sans"/>
            </a:endParaRPr>
          </a:p>
        </p:txBody>
      </p:sp>
      <p:sp>
        <p:nvSpPr>
          <p:cNvPr id="333" name="文本框 332" descr="{&quot;isTemplate&quot;:true,&quot;type&quot;:&quot;text&quot;}"/>
          <p:cNvSpPr txBox="1"/>
          <p:nvPr/>
        </p:nvSpPr>
        <p:spPr>
          <a:xfrm>
            <a:off x="4042410" y="3952875"/>
            <a:ext cx="2019300" cy="190500"/>
          </a:xfrm>
          <a:prstGeom prst="rect">
            <a:avLst/>
          </a:prstGeom>
        </p:spPr>
        <p:txBody>
          <a:bodyPr wrap="none" lIns="0" tIns="0" rIns="0" bIns="0"/>
          <a:p>
            <a:pPr>
              <a:lnSpc>
                <a:spcPct val="100000"/>
              </a:lnSpc>
            </a:pPr>
            <a:r>
              <a:rPr lang="en-US" sz="1200">
                <a:solidFill>
                  <a:srgbClr val="1A2230"/>
                </a:solidFill>
                <a:latin typeface="Source Han Sans"/>
                <a:ea typeface="Source Han Sans"/>
              </a:rPr>
              <a:t>a specific life </a:t>
            </a:r>
            <a:r>
              <a:rPr lang="en-US" sz="1200">
                <a:solidFill>
                  <a:srgbClr val="1A2230"/>
                </a:solidFill>
                <a:latin typeface="Source Han Sans"/>
                <a:ea typeface="Source Han Sans"/>
              </a:rPr>
              <a:t>experience, not a topic</a:t>
            </a:r>
            <a:endParaRPr lang="en-US" sz="1200">
              <a:solidFill>
                <a:srgbClr val="1A2230"/>
              </a:solidFill>
              <a:latin typeface="Source Han Sans"/>
              <a:ea typeface="Source Han Sans"/>
            </a:endParaRPr>
          </a:p>
        </p:txBody>
      </p:sp>
      <p:sp>
        <p:nvSpPr>
          <p:cNvPr id="334" name="文本框 333" descr="{&quot;isTemplate&quot;:true,&quot;type&quot;:&quot;text&quot;}"/>
          <p:cNvSpPr txBox="1"/>
          <p:nvPr/>
        </p:nvSpPr>
        <p:spPr>
          <a:xfrm>
            <a:off x="800100" y="4295775"/>
            <a:ext cx="2095500" cy="161925"/>
          </a:xfrm>
          <a:prstGeom prst="rect">
            <a:avLst/>
          </a:prstGeom>
        </p:spPr>
        <p:txBody>
          <a:bodyPr wrap="none" lIns="0" tIns="0" rIns="0" bIns="0"/>
          <a:p>
            <a:pPr>
              <a:lnSpc>
                <a:spcPct val="100000"/>
              </a:lnSpc>
            </a:pPr>
            <a:r>
              <a:rPr lang="en-US" sz="1050" b="1">
                <a:solidFill>
                  <a:srgbClr val="57068C"/>
                </a:solidFill>
                <a:latin typeface="Source Han Sans"/>
                <a:ea typeface="Source Han Sans"/>
              </a:rPr>
              <a:t>2 Emotional structure / domain </a:t>
            </a:r>
            <a:r>
              <a:rPr lang="en-US" sz="1050" b="1">
                <a:solidFill>
                  <a:srgbClr val="57068C"/>
                </a:solidFill>
                <a:latin typeface="Source Han Sans"/>
                <a:ea typeface="Source Han Sans"/>
              </a:rPr>
              <a:t>knowledge</a:t>
            </a:r>
            <a:endParaRPr lang="en-US" sz="1050" b="1">
              <a:solidFill>
                <a:srgbClr val="57068C"/>
              </a:solidFill>
              <a:latin typeface="Source Han Sans"/>
              <a:ea typeface="Source Han Sans"/>
            </a:endParaRPr>
          </a:p>
        </p:txBody>
      </p:sp>
      <p:sp>
        <p:nvSpPr>
          <p:cNvPr id="335" name="文本框 334" descr="{&quot;isTemplate&quot;:true,&quot;type&quot;:&quot;text&quot;}"/>
          <p:cNvSpPr txBox="1"/>
          <p:nvPr/>
        </p:nvSpPr>
        <p:spPr>
          <a:xfrm>
            <a:off x="4042410" y="4276725"/>
            <a:ext cx="2286000" cy="190500"/>
          </a:xfrm>
          <a:prstGeom prst="rect">
            <a:avLst/>
          </a:prstGeom>
        </p:spPr>
        <p:txBody>
          <a:bodyPr wrap="none" lIns="0" tIns="0" rIns="0" bIns="0"/>
          <a:p>
            <a:pPr>
              <a:lnSpc>
                <a:spcPct val="100000"/>
              </a:lnSpc>
            </a:pPr>
            <a:r>
              <a:rPr lang="en-US" sz="1200">
                <a:solidFill>
                  <a:srgbClr val="1A2230"/>
                </a:solidFill>
                <a:latin typeface="Source Han Sans"/>
                <a:ea typeface="Source Han Sans"/>
              </a:rPr>
              <a:t>a sequence the player should feel</a:t>
            </a:r>
            <a:endParaRPr lang="en-US" sz="1200">
              <a:solidFill>
                <a:srgbClr val="1A2230"/>
              </a:solidFill>
              <a:latin typeface="Source Han Sans"/>
              <a:ea typeface="Source Han Sans"/>
            </a:endParaRPr>
          </a:p>
        </p:txBody>
      </p:sp>
      <p:sp>
        <p:nvSpPr>
          <p:cNvPr id="336" name="文本框 335" descr="{&quot;isTemplate&quot;:true,&quot;type&quot;:&quot;text&quot;}"/>
          <p:cNvSpPr txBox="1"/>
          <p:nvPr/>
        </p:nvSpPr>
        <p:spPr>
          <a:xfrm>
            <a:off x="800100" y="4619625"/>
            <a:ext cx="2095500" cy="161925"/>
          </a:xfrm>
          <a:prstGeom prst="rect">
            <a:avLst/>
          </a:prstGeom>
        </p:spPr>
        <p:txBody>
          <a:bodyPr wrap="none" lIns="0" tIns="0" rIns="0" bIns="0"/>
          <a:p>
            <a:pPr>
              <a:lnSpc>
                <a:spcPct val="100000"/>
              </a:lnSpc>
            </a:pPr>
            <a:r>
              <a:rPr lang="en-US" sz="1050" b="1">
                <a:solidFill>
                  <a:srgbClr val="57068C"/>
                </a:solidFill>
                <a:latin typeface="Source Han Sans"/>
                <a:ea typeface="Source Han Sans"/>
              </a:rPr>
              <a:t>3 Datalization</a:t>
            </a:r>
            <a:endParaRPr lang="en-US" sz="1050" b="1">
              <a:solidFill>
                <a:srgbClr val="57068C"/>
              </a:solidFill>
              <a:latin typeface="Source Han Sans"/>
              <a:ea typeface="Source Han Sans"/>
            </a:endParaRPr>
          </a:p>
        </p:txBody>
      </p:sp>
      <p:sp>
        <p:nvSpPr>
          <p:cNvPr id="337" name="文本框 336" descr="{&quot;isTemplate&quot;:true,&quot;type&quot;:&quot;text&quot;}"/>
          <p:cNvSpPr txBox="1"/>
          <p:nvPr/>
        </p:nvSpPr>
        <p:spPr>
          <a:xfrm>
            <a:off x="4042410" y="4600575"/>
            <a:ext cx="2381250" cy="190500"/>
          </a:xfrm>
          <a:prstGeom prst="rect">
            <a:avLst/>
          </a:prstGeom>
        </p:spPr>
        <p:txBody>
          <a:bodyPr wrap="none" lIns="0" tIns="0" rIns="0" bIns="0"/>
          <a:p>
            <a:pPr>
              <a:lnSpc>
                <a:spcPct val="100000"/>
              </a:lnSpc>
            </a:pPr>
            <a:r>
              <a:rPr lang="en-US" sz="1200">
                <a:solidFill>
                  <a:srgbClr val="1A2230"/>
                </a:solidFill>
                <a:latin typeface="Source Han Sans"/>
                <a:ea typeface="Source Han Sans"/>
              </a:rPr>
              <a:t>named, bounded, tunable variables</a:t>
            </a:r>
            <a:endParaRPr lang="en-US" sz="1200">
              <a:solidFill>
                <a:srgbClr val="1A2230"/>
              </a:solidFill>
              <a:latin typeface="Source Han Sans"/>
              <a:ea typeface="Source Han Sans"/>
            </a:endParaRPr>
          </a:p>
        </p:txBody>
      </p:sp>
      <p:sp>
        <p:nvSpPr>
          <p:cNvPr id="338" name="文本框 337" descr="{&quot;isTemplate&quot;:true,&quot;type&quot;:&quot;text&quot;}"/>
          <p:cNvSpPr txBox="1"/>
          <p:nvPr/>
        </p:nvSpPr>
        <p:spPr>
          <a:xfrm>
            <a:off x="800100" y="4943475"/>
            <a:ext cx="2095500" cy="161925"/>
          </a:xfrm>
          <a:prstGeom prst="rect">
            <a:avLst/>
          </a:prstGeom>
        </p:spPr>
        <p:txBody>
          <a:bodyPr wrap="none" lIns="0" tIns="0" rIns="0" bIns="0"/>
          <a:p>
            <a:pPr>
              <a:lnSpc>
                <a:spcPct val="100000"/>
              </a:lnSpc>
            </a:pPr>
            <a:r>
              <a:rPr lang="en-US" sz="1050" b="1">
                <a:solidFill>
                  <a:srgbClr val="57068C"/>
                </a:solidFill>
                <a:latin typeface="Source Han Sans"/>
                <a:ea typeface="Source Han Sans"/>
              </a:rPr>
              <a:t>3.5 System graph</a:t>
            </a:r>
            <a:endParaRPr lang="en-US" sz="1050" b="1">
              <a:solidFill>
                <a:srgbClr val="57068C"/>
              </a:solidFill>
              <a:latin typeface="Source Han Sans"/>
              <a:ea typeface="Source Han Sans"/>
            </a:endParaRPr>
          </a:p>
        </p:txBody>
      </p:sp>
      <p:sp>
        <p:nvSpPr>
          <p:cNvPr id="339" name="文本框 338" descr="{&quot;isTemplate&quot;:true,&quot;type&quot;:&quot;text&quot;}"/>
          <p:cNvSpPr txBox="1"/>
          <p:nvPr/>
        </p:nvSpPr>
        <p:spPr>
          <a:xfrm>
            <a:off x="4042410" y="4924425"/>
            <a:ext cx="3638550" cy="190500"/>
          </a:xfrm>
          <a:prstGeom prst="rect">
            <a:avLst/>
          </a:prstGeom>
        </p:spPr>
        <p:txBody>
          <a:bodyPr wrap="none" lIns="0" tIns="0" rIns="0" bIns="0"/>
          <a:p>
            <a:pPr>
              <a:lnSpc>
                <a:spcPct val="100000"/>
              </a:lnSpc>
            </a:pPr>
            <a:r>
              <a:rPr lang="en-US" sz="1200">
                <a:solidFill>
                  <a:srgbClr val="1A2230"/>
                </a:solidFill>
                <a:latin typeface="Source Han Sans"/>
                <a:ea typeface="Source Han Sans"/>
              </a:rPr>
              <a:t>an inspectable blueprint (who proposes, who decides)</a:t>
            </a:r>
            <a:endParaRPr lang="en-US" sz="1200">
              <a:solidFill>
                <a:srgbClr val="1A2230"/>
              </a:solidFill>
              <a:latin typeface="Source Han Sans"/>
              <a:ea typeface="Source Han Sans"/>
            </a:endParaRPr>
          </a:p>
        </p:txBody>
      </p:sp>
      <p:sp>
        <p:nvSpPr>
          <p:cNvPr id="340" name="文本框 339" descr="{&quot;isTemplate&quot;:true,&quot;type&quot;:&quot;text&quot;}"/>
          <p:cNvSpPr txBox="1"/>
          <p:nvPr/>
        </p:nvSpPr>
        <p:spPr>
          <a:xfrm>
            <a:off x="800100" y="5267325"/>
            <a:ext cx="2095500" cy="161925"/>
          </a:xfrm>
          <a:prstGeom prst="rect">
            <a:avLst/>
          </a:prstGeom>
        </p:spPr>
        <p:txBody>
          <a:bodyPr wrap="none" lIns="0" tIns="0" rIns="0" bIns="0"/>
          <a:p>
            <a:pPr>
              <a:lnSpc>
                <a:spcPct val="100000"/>
              </a:lnSpc>
            </a:pPr>
            <a:r>
              <a:rPr lang="en-US" sz="1050" b="1">
                <a:solidFill>
                  <a:srgbClr val="57068C"/>
                </a:solidFill>
                <a:latin typeface="Source Han Sans"/>
                <a:ea typeface="Source Han Sans"/>
              </a:rPr>
              <a:t>4 Minimum playable</a:t>
            </a:r>
            <a:endParaRPr lang="en-US" sz="1050" b="1">
              <a:solidFill>
                <a:srgbClr val="57068C"/>
              </a:solidFill>
              <a:latin typeface="Source Han Sans"/>
              <a:ea typeface="Source Han Sans"/>
            </a:endParaRPr>
          </a:p>
        </p:txBody>
      </p:sp>
      <p:sp>
        <p:nvSpPr>
          <p:cNvPr id="341" name="文本框 340" descr="{&quot;isTemplate&quot;:true,&quot;type&quot;:&quot;text&quot;}"/>
          <p:cNvSpPr txBox="1"/>
          <p:nvPr/>
        </p:nvSpPr>
        <p:spPr>
          <a:xfrm>
            <a:off x="4042410" y="5248275"/>
            <a:ext cx="3219450" cy="190500"/>
          </a:xfrm>
          <a:prstGeom prst="rect">
            <a:avLst/>
          </a:prstGeom>
        </p:spPr>
        <p:txBody>
          <a:bodyPr wrap="none" lIns="0" tIns="0" rIns="0" bIns="0"/>
          <a:p>
            <a:pPr>
              <a:lnSpc>
                <a:spcPct val="100000"/>
              </a:lnSpc>
            </a:pPr>
            <a:r>
              <a:rPr lang="en-US" sz="1200">
                <a:solidFill>
                  <a:srgbClr val="1A2230"/>
                </a:solidFill>
                <a:latin typeface="Source Han Sans"/>
                <a:ea typeface="Source Han Sans"/>
              </a:rPr>
              <a:t>a runnable build that someone can actually play</a:t>
            </a:r>
            <a:endParaRPr lang="en-US" sz="1200">
              <a:solidFill>
                <a:srgbClr val="1A2230"/>
              </a:solidFill>
              <a:latin typeface="Source Han Sans"/>
              <a:ea typeface="Source Han Sans"/>
            </a:endParaRPr>
          </a:p>
        </p:txBody>
      </p:sp>
      <p:sp>
        <p:nvSpPr>
          <p:cNvPr id="342" name="文本框 341" descr="{&quot;isTemplate&quot;:true,&quot;type&quot;:&quot;text&quot;}"/>
          <p:cNvSpPr txBox="1"/>
          <p:nvPr/>
        </p:nvSpPr>
        <p:spPr>
          <a:xfrm>
            <a:off x="800100" y="5591175"/>
            <a:ext cx="2095500" cy="161925"/>
          </a:xfrm>
          <a:prstGeom prst="rect">
            <a:avLst/>
          </a:prstGeom>
        </p:spPr>
        <p:txBody>
          <a:bodyPr wrap="none" lIns="0" tIns="0" rIns="0" bIns="0"/>
          <a:p>
            <a:pPr>
              <a:lnSpc>
                <a:spcPct val="100000"/>
              </a:lnSpc>
            </a:pPr>
            <a:r>
              <a:rPr lang="en-US" sz="1050" b="1">
                <a:solidFill>
                  <a:srgbClr val="57068C"/>
                </a:solidFill>
                <a:latin typeface="Source Han Sans"/>
                <a:ea typeface="Source Han Sans"/>
              </a:rPr>
              <a:t>5 + 6 AI partner + world</a:t>
            </a:r>
            <a:endParaRPr lang="en-US" sz="1050" b="1">
              <a:solidFill>
                <a:srgbClr val="57068C"/>
              </a:solidFill>
              <a:latin typeface="Source Han Sans"/>
              <a:ea typeface="Source Han Sans"/>
            </a:endParaRPr>
          </a:p>
        </p:txBody>
      </p:sp>
      <p:sp>
        <p:nvSpPr>
          <p:cNvPr id="343" name="文本框 342" descr="{&quot;isTemplate&quot;:true,&quot;type&quot;:&quot;text&quot;}"/>
          <p:cNvSpPr txBox="1"/>
          <p:nvPr/>
        </p:nvSpPr>
        <p:spPr>
          <a:xfrm>
            <a:off x="4042410" y="5572125"/>
            <a:ext cx="4048125" cy="190500"/>
          </a:xfrm>
          <a:prstGeom prst="rect">
            <a:avLst/>
          </a:prstGeom>
        </p:spPr>
        <p:txBody>
          <a:bodyPr wrap="none" lIns="0" tIns="0" rIns="0" bIns="0"/>
          <a:p>
            <a:pPr>
              <a:lnSpc>
                <a:spcPct val="100000"/>
              </a:lnSpc>
            </a:pPr>
            <a:r>
              <a:rPr lang="en-US" sz="1200">
                <a:solidFill>
                  <a:srgbClr val="1A2230"/>
                </a:solidFill>
                <a:latin typeface="Source Han Sans"/>
                <a:ea typeface="Source Han Sans"/>
              </a:rPr>
              <a:t>an expanded system with documented decision provenance</a:t>
            </a:r>
            <a:endParaRPr lang="en-US" sz="1200">
              <a:solidFill>
                <a:srgbClr val="1A2230"/>
              </a:solidFill>
              <a:latin typeface="Source Han Sans"/>
              <a:ea typeface="Source Han Sans"/>
            </a:endParaRPr>
          </a:p>
        </p:txBody>
      </p:sp>
      <p:sp>
        <p:nvSpPr>
          <p:cNvPr id="344" name="文本框 343" descr="{&quot;isTemplate&quot;:true,&quot;type&quot;:&quot;text&quot;}"/>
          <p:cNvSpPr txBox="1"/>
          <p:nvPr/>
        </p:nvSpPr>
        <p:spPr>
          <a:xfrm>
            <a:off x="571500" y="6477000"/>
            <a:ext cx="3448050" cy="161925"/>
          </a:xfrm>
          <a:prstGeom prst="rect">
            <a:avLst/>
          </a:prstGeom>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lang="en-US" sz="1050">
              <a:solidFill>
                <a:srgbClr val="8B97A8"/>
              </a:solidFill>
              <a:latin typeface="Source Han Sans"/>
              <a:ea typeface="Source Han Sans"/>
            </a:endParaRPr>
          </a:p>
        </p:txBody>
      </p:sp>
      <p:sp>
        <p:nvSpPr>
          <p:cNvPr id="345" name="文本框 344" descr="{&quot;isTemplate&quot;:true,&quot;type&quot;:&quot;text&quot;}"/>
          <p:cNvSpPr txBox="1"/>
          <p:nvPr/>
        </p:nvSpPr>
        <p:spPr>
          <a:xfrm>
            <a:off x="11210925" y="6477000"/>
            <a:ext cx="409575" cy="161925"/>
          </a:xfrm>
          <a:prstGeom prst="rect">
            <a:avLst/>
          </a:prstGeom>
        </p:spPr>
        <p:txBody>
          <a:bodyPr wrap="none" lIns="0" tIns="0" rIns="0" bIns="0"/>
          <a:p>
            <a:pPr>
              <a:lnSpc>
                <a:spcPct val="100000"/>
              </a:lnSpc>
            </a:pPr>
            <a:r>
              <a:rPr lang="en-US" sz="1050" b="1">
                <a:solidFill>
                  <a:srgbClr val="57068C"/>
                </a:solidFill>
                <a:latin typeface="Source Han Sans"/>
                <a:ea typeface="Source Han Sans"/>
              </a:rPr>
              <a:t>08 / 16</a:t>
            </a:r>
            <a:endParaRPr lang="en-US" sz="1050" b="1">
              <a:solidFill>
                <a:srgbClr val="57068C"/>
              </a:solidFill>
              <a:latin typeface="Source Han Sans"/>
              <a:ea typeface="Source Ha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46" name="" descr="&lt;Slide style={{ width: '1280px', height: '720px', background: '#FFFFFF', position: 'relative', fontFamily: 'Source Han Sans, Noto Sans CJK SC, sans-serif' }}&gt;&#10;  &lt;Box style={{ position: 'absolute', top: 0, left: 0, width: '100%', height: 60, background: '#0E3F8C' }}&gt;&#10;    &lt;Text style={{ color: '#FFFFFF', fontSize: 22, fontWeight: 'bold', padding: '14px 60px' }}&gt;From one prompt to a guided interview&lt;/Text&gt;&#10;  &lt;/Box&gt;&#10;  &lt;Box style={{ position: 'absolute', top: 100, left: 60, width: 1160, flexDirection: 'column', gap: 8 }}&gt;&#10;    &lt;Text style={{ fontSize: 16, color: '#1E4FA8', fontWeight: 'bold', letterSpacing: 2 }}&gt;THE DECISIVE MOVE&lt;/Text&gt;&#10;    &lt;Box style={{ width: 40, height: 3, background: '#1E4FA8' }} /&gt;&#10;  &lt;/Box&gt;&#10;  &lt;Box style={{ position: 'absolute', top: 160, left: 60, width: 500, height: 380, padding: 24, background: '#F7F9FC', border: '1px solid #E5E7EB', borderRadius: 10, flexDirection: 'column', gap: 16 }}&gt;&#10;    &lt;Box style={{ flexDirection: 'row', alignItems: 'center', gap: 12 }}&gt;&#10;      &lt;Box style={{ padding: '4px 12px', background: '#D9534F', borderRadius: 4 }}&gt;&#10;        &lt;Text style={{ color: '#FFFFFF', fontSize: 12, fontWeight: 'bold', letterSpacing: 1 }}&gt;ONE PROMPT&lt;/Text&gt;&#10;      &lt;/Box&gt;&#10;    &lt;/Box&gt;&#10;    &lt;Text style={{ fontSize: 18, color: '#1A2230', lineHeight: 1.4 }}&gt;&#10;      &quot;Make me a game about feeling overwhelmed in a Shanghai subway at rush hour.&quot;&#10;    &lt;/Text&gt;&#10;    &lt;Box style={{ width: 32, height: 2, background: '#D6DCE5' }} /&gt;&#10;    {[&#10;      ['Intent', 'compressed into a few words'],&#10;      ['Iteration', 'one shot'],&#10;      ['Output', 'whatever the model proposes'],&#10;      ['Accountability', 'none beyond the chat log'],&#10;    ].map((row, i) =&gt; (&#10;      &lt;Box key={i} style={{ flexDirection: 'row', gap: 12 }}&gt;&#10;        &lt;Text style={{ fontSize: 14, color: '#1E4FA8', fontWeight: 'bold', width: 110 }}&gt;{row[0]}&lt;/Text&gt;&#10;        &lt;Text style={{ fontSize: 15, color: '#4A5568', flex: 1 }}&gt;{row[1]}&lt;/Text&gt;&#10;      &lt;/Box&gt;&#10;    ))}&#10;  &lt;/Box&gt;&#10;  &lt;Box style={{ position: 'absolute', top: 240, left: 580, width: 80, height: 2, background: '#1E4FA8' }} /&gt;&#10;  &lt;Box style={{ position: 'absolute', top: 220, left: 600, width: 32, height: 32, borderRadius: 16, background: '#1E4FA8', justifyContent: 'center', alignItems: 'center' }}&gt;&#10;    &lt;Text style={{ color: '#FFFFFF', fontSize: 18, fontWeight: 'bold' }}&gt;→&lt;/Text&gt;&#10;  &lt;/Box&gt;&#10;  &lt;Box style={{ position: 'absolute', top: 160, left: 660, width: 560, height: 380, padding: 24, background: '#0E3F8C', borderRadius: 10, flexDirection: 'column', gap: 14 }}&gt;&#10;    &lt;Box style={{ flexDirection: 'row', alignItems: 'center', gap: 12 }}&gt;&#10;      &lt;Box style={{ padding: '4px 12px', background: '#FFC107', borderRadius: 4 }}&gt;&#10;        &lt;Text style={{ color: '#0E3F8C', fontSize: 12, fontWeight: 'bold', letterSpacing: 1 }}&gt;GUIDED INTERVIEW&lt;/Text&gt;&#10;      &lt;/Box&gt;&#10;    &lt;/Box&gt;&#10;    &lt;Text style={{ fontSize: 16, color: '#E8EFF8', lineHeight: 1.5, fontStyle: 'italic' }}&gt;&#10;      &quot;What was happening just before the overwhelm? What time were you trying to be somewhere? What were you watching for — an empty seat, a face, the door closing?&quot;&#10;    &lt;/Text&gt;&#10;    &lt;Box style={{ width: 32, height: 2, background: '#3D7BD9' }} /&gt;&#10;    {[&#10;      ['Intent', 'expanded through a question list, until inspectable'],&#10;      ['Iteration', 'multi-turn, with reflection pauses'],&#10;      ['Output', 'a system description, not a finished game'],&#10;      ['Accountability', 'a development log records who proposed what, and who accepted'],&#10;    ].map((row, i) =&gt; (&#10;      &lt;Box key={i} style={{ flexDirection: 'row', gap: 12 }}&gt;&#10;        &lt;Text style={{ fontSize: 14, color: '#FFC107', fontWeight: 'bold', width: 110 }}&gt;{row[0]}&lt;/Text&gt;&#10;        &lt;Text style={{ fontSize: 15, color: '#FFFFFF', flex: 1 }}&gt;{row[1]}&lt;/Text&gt;&#10;      &lt;/Box&gt;&#10;    ))}&#10;  &lt;/Box&gt;&#10;  &lt;Box style={{ position: 'absolute', top: 560, left: 60, right: 60, height: 80, padding: 18, background: '#F0F5FC', borderLeft: '4px solid #1E4FA8', flexDirection: 'column', gap: 4 }}&gt;&#10;    &lt;Text style={{ fontSize: 14, color: '#1E4FA8', fontWeight: 'bold', letterSpacing: 1 }}&gt;SYSTEM DESCRIPTION, NOT PROMPT&lt;/Text&gt;&#10;    &lt;Text style={{ fontSize: 18, color: '#1A2230', lineHeight: 1.45 }}&gt;&#10;      Intent is not compressed in five words. It is unfolded by a question list until a verifiable system description emerges — and that description is what the AI works from.&#10;    &lt;/Text&gt;&#10;  &lt;/Box&gt;&#10;  &lt;Box style={{ position: 'absolute', top: 680, left: 60, right: 60, flexDirection: 'row', justifyContent: 'space-between' }}&gt;&#10;    &lt;Text style={{ fontSize: 14, color: '#8B97A8' }}&gt;Xingchen Zhang · NYU Shanghai · XJTLU 2026 · Panel 11&lt;/Text&gt;&#10;    &lt;Text style={{ fontSize: 14, color: '#1E4FA8', fontWeight: 'bold' }}&gt;09 / 16&lt;/Text&gt;&#10;  &lt;/Box&gt;&#10;&lt;/Slide&gt;&#10;"/>
        <p:cNvGrpSpPr/>
        <p:nvPr/>
      </p:nvGrpSpPr>
      <p:grpSpPr>
        <a:xfrm>
          <a:off x="0" y="0"/>
          <a:ext cx="0" cy="0"/>
          <a:chOff x="0" y="0"/>
          <a:chExt cx="0" cy="0"/>
        </a:xfrm>
      </p:grpSpPr>
      <p:sp>
        <p:nvSpPr>
          <p:cNvPr id="347" name="矩形 346"/>
          <p:cNvSpPr/>
          <p:nvPr/>
        </p:nvSpPr>
        <p:spPr>
          <a:xfrm>
            <a:off x="0" y="0"/>
            <a:ext cx="12192000" cy="6858000"/>
          </a:xfrm>
          <a:prstGeom prst="rect">
            <a:avLst/>
          </a:prstGeom>
          <a:solidFill>
            <a:srgbClr val="FFFFFF"/>
          </a:solidFill>
        </p:spPr>
        <p:txBody>
          <a:bodyPr/>
          <a:p/>
        </p:txBody>
      </p:sp>
      <p:sp>
        <p:nvSpPr>
          <p:cNvPr id="348" name="矩形 347"/>
          <p:cNvSpPr/>
          <p:nvPr/>
        </p:nvSpPr>
        <p:spPr>
          <a:xfrm>
            <a:off x="0" y="0"/>
            <a:ext cx="12192000" cy="571500"/>
          </a:xfrm>
          <a:prstGeom prst="rect">
            <a:avLst/>
          </a:prstGeom>
          <a:solidFill>
            <a:srgbClr val="330662"/>
          </a:solidFill>
        </p:spPr>
        <p:txBody>
          <a:bodyPr/>
          <a:p/>
        </p:txBody>
      </p:sp>
      <p:sp>
        <p:nvSpPr>
          <p:cNvPr id="349" name="文本框 348" descr="{&quot;isTemplate&quot;:true,&quot;type&quot;:&quot;text&quot;}"/>
          <p:cNvSpPr txBox="1"/>
          <p:nvPr/>
        </p:nvSpPr>
        <p:spPr>
          <a:xfrm>
            <a:off x="0" y="0"/>
            <a:ext cx="12192000" cy="523875"/>
          </a:xfrm>
          <a:prstGeom prst="rect">
            <a:avLst/>
          </a:prstGeom>
        </p:spPr>
        <p:txBody>
          <a:bodyPr wrap="none" lIns="428625" tIns="100013" rIns="428625" bIns="100013"/>
          <a:p>
            <a:pPr>
              <a:lnSpc>
                <a:spcPct val="100000"/>
              </a:lnSpc>
            </a:pPr>
            <a:r>
              <a:rPr lang="en-US" sz="1650" b="1">
                <a:solidFill>
                  <a:srgbClr val="FFFFFF"/>
                </a:solidFill>
                <a:latin typeface="Source Han Sans"/>
                <a:ea typeface="Source Han Sans"/>
              </a:rPr>
              <a:t>From one prompt to a guided interview</a:t>
            </a:r>
            <a:endParaRPr lang="en-US" sz="1650" b="1">
              <a:solidFill>
                <a:srgbClr val="FFFFFF"/>
              </a:solidFill>
              <a:latin typeface="Source Han Sans"/>
              <a:ea typeface="Source Han Sans"/>
            </a:endParaRPr>
          </a:p>
        </p:txBody>
      </p:sp>
      <p:sp>
        <p:nvSpPr>
          <p:cNvPr id="350" name="文本框 349" descr="{&quot;isTemplate&quot;:true,&quot;type&quot;:&quot;text&quot;}"/>
          <p:cNvSpPr txBox="1"/>
          <p:nvPr/>
        </p:nvSpPr>
        <p:spPr>
          <a:xfrm>
            <a:off x="571500" y="952500"/>
            <a:ext cx="11049000" cy="190500"/>
          </a:xfrm>
          <a:prstGeom prst="rect">
            <a:avLst/>
          </a:prstGeom>
        </p:spPr>
        <p:txBody>
          <a:bodyPr wrap="none" lIns="0" tIns="0" rIns="0" bIns="0"/>
          <a:p>
            <a:pPr>
              <a:lnSpc>
                <a:spcPct val="100000"/>
              </a:lnSpc>
            </a:pPr>
            <a:r>
              <a:rPr lang="en-US" sz="1200" b="1" spc="150">
                <a:solidFill>
                  <a:srgbClr val="57068C"/>
                </a:solidFill>
                <a:latin typeface="Source Han Sans"/>
                <a:ea typeface="Source Han Sans"/>
              </a:rPr>
              <a:t>THE DECISIVE MOVE</a:t>
            </a:r>
            <a:endParaRPr lang="en-US" sz="1200" b="1" spc="150">
              <a:solidFill>
                <a:srgbClr val="57068C"/>
              </a:solidFill>
              <a:latin typeface="Source Han Sans"/>
              <a:ea typeface="Source Han Sans"/>
            </a:endParaRPr>
          </a:p>
        </p:txBody>
      </p:sp>
      <p:sp>
        <p:nvSpPr>
          <p:cNvPr id="351" name="矩形 350"/>
          <p:cNvSpPr/>
          <p:nvPr/>
        </p:nvSpPr>
        <p:spPr>
          <a:xfrm>
            <a:off x="571500" y="1219200"/>
            <a:ext cx="381000" cy="28575"/>
          </a:xfrm>
          <a:prstGeom prst="rect">
            <a:avLst/>
          </a:prstGeom>
          <a:solidFill>
            <a:srgbClr val="57068C"/>
          </a:solidFill>
        </p:spPr>
        <p:txBody>
          <a:bodyPr/>
          <a:p/>
        </p:txBody>
      </p:sp>
      <p:sp>
        <p:nvSpPr>
          <p:cNvPr id="352" name="圆角矩形 351"/>
          <p:cNvSpPr/>
          <p:nvPr/>
        </p:nvSpPr>
        <p:spPr>
          <a:xfrm>
            <a:off x="571500" y="1524000"/>
            <a:ext cx="4762500" cy="3619500"/>
          </a:xfrm>
          <a:prstGeom prst="roundRect">
            <a:avLst>
              <a:gd name="adj" fmla="val 2632"/>
            </a:avLst>
          </a:prstGeom>
          <a:solidFill>
            <a:srgbClr val="FAF8FC"/>
          </a:solidFill>
          <a:ln w="12700">
            <a:solidFill>
              <a:srgbClr val="E4DCEC"/>
            </a:solidFill>
            <a:prstDash val="solid"/>
          </a:ln>
        </p:spPr>
        <p:txBody>
          <a:bodyPr/>
          <a:p/>
        </p:txBody>
      </p:sp>
      <p:sp>
        <p:nvSpPr>
          <p:cNvPr id="353" name="圆角矩形 352"/>
          <p:cNvSpPr/>
          <p:nvPr/>
        </p:nvSpPr>
        <p:spPr>
          <a:xfrm>
            <a:off x="800100" y="1752600"/>
            <a:ext cx="1095375" cy="219075"/>
          </a:xfrm>
          <a:prstGeom prst="roundRect">
            <a:avLst>
              <a:gd name="adj" fmla="val 17391"/>
            </a:avLst>
          </a:prstGeom>
          <a:solidFill>
            <a:srgbClr val="D9534F"/>
          </a:solidFill>
        </p:spPr>
        <p:txBody>
          <a:bodyPr/>
          <a:p/>
        </p:txBody>
      </p:sp>
      <p:sp>
        <p:nvSpPr>
          <p:cNvPr id="354" name="文本框 353" descr="{&quot;isTemplate&quot;:true,&quot;type&quot;:&quot;text&quot;}"/>
          <p:cNvSpPr txBox="1"/>
          <p:nvPr/>
        </p:nvSpPr>
        <p:spPr>
          <a:xfrm>
            <a:off x="914400" y="1790700"/>
            <a:ext cx="866775" cy="142875"/>
          </a:xfrm>
          <a:prstGeom prst="rect">
            <a:avLst/>
          </a:prstGeom>
        </p:spPr>
        <p:txBody>
          <a:bodyPr wrap="none" lIns="0" tIns="0" rIns="0" bIns="0"/>
          <a:p>
            <a:pPr>
              <a:lnSpc>
                <a:spcPct val="100000"/>
              </a:lnSpc>
            </a:pPr>
            <a:r>
              <a:rPr lang="en-US" sz="900" b="1" spc="75">
                <a:solidFill>
                  <a:srgbClr val="FFFFFF"/>
                </a:solidFill>
                <a:latin typeface="Source Han Sans"/>
                <a:ea typeface="Source Han Sans"/>
              </a:rPr>
              <a:t>ONE PROMPT</a:t>
            </a:r>
            <a:endParaRPr lang="en-US" sz="900" b="1" spc="75">
              <a:solidFill>
                <a:srgbClr val="FFFFFF"/>
              </a:solidFill>
              <a:latin typeface="Source Han Sans"/>
              <a:ea typeface="Source Han Sans"/>
            </a:endParaRPr>
          </a:p>
        </p:txBody>
      </p:sp>
      <p:sp>
        <p:nvSpPr>
          <p:cNvPr id="355" name="文本框 354" descr="{&quot;isTemplate&quot;:true,&quot;type&quot;:&quot;text&quot;}"/>
          <p:cNvSpPr txBox="1"/>
          <p:nvPr/>
        </p:nvSpPr>
        <p:spPr>
          <a:xfrm>
            <a:off x="800100" y="2124075"/>
            <a:ext cx="4305300" cy="581025"/>
          </a:xfrm>
          <a:prstGeom prst="rect">
            <a:avLst/>
          </a:prstGeom>
        </p:spPr>
        <p:txBody>
          <a:bodyPr wrap="square" lIns="0" tIns="0" rIns="0" bIns="0">
            <a:normAutofit/>
          </a:bodyPr>
          <a:p>
            <a:pPr>
              <a:lnSpc>
                <a:spcPct val="140000"/>
              </a:lnSpc>
            </a:pPr>
            <a:r>
              <a:rPr lang="en-US" sz="1350">
                <a:solidFill>
                  <a:srgbClr val="1A2230"/>
                </a:solidFill>
                <a:latin typeface="Source Han Sans"/>
                <a:ea typeface="Source Han Sans"/>
              </a:rPr>
              <a:t>"Make me a game about feeling overwhelmed in a Shanghai subway at rush hour."</a:t>
            </a:r>
            <a:endParaRPr lang="en-US" sz="1350">
              <a:solidFill>
                <a:srgbClr val="1A2230"/>
              </a:solidFill>
              <a:latin typeface="Source Han Sans"/>
              <a:ea typeface="Source Han Sans"/>
            </a:endParaRPr>
          </a:p>
        </p:txBody>
      </p:sp>
      <p:sp>
        <p:nvSpPr>
          <p:cNvPr id="356" name="矩形 355"/>
          <p:cNvSpPr/>
          <p:nvPr/>
        </p:nvSpPr>
        <p:spPr>
          <a:xfrm>
            <a:off x="800100" y="2857500"/>
            <a:ext cx="304800" cy="19050"/>
          </a:xfrm>
          <a:prstGeom prst="rect">
            <a:avLst/>
          </a:prstGeom>
          <a:solidFill>
            <a:srgbClr val="D9D0E4"/>
          </a:solidFill>
        </p:spPr>
        <p:txBody>
          <a:bodyPr/>
          <a:p/>
        </p:txBody>
      </p:sp>
      <p:sp>
        <p:nvSpPr>
          <p:cNvPr id="357" name="文本框 356" descr="{&quot;isTemplate&quot;:true,&quot;type&quot;:&quot;text&quot;}"/>
          <p:cNvSpPr txBox="1"/>
          <p:nvPr/>
        </p:nvSpPr>
        <p:spPr>
          <a:xfrm>
            <a:off x="800100" y="3028950"/>
            <a:ext cx="1047750" cy="171450"/>
          </a:xfrm>
          <a:prstGeom prst="rect">
            <a:avLst/>
          </a:prstGeom>
        </p:spPr>
        <p:txBody>
          <a:bodyPr wrap="none" lIns="0" tIns="0" rIns="0" bIns="0"/>
          <a:p>
            <a:pPr>
              <a:lnSpc>
                <a:spcPct val="100000"/>
              </a:lnSpc>
            </a:pPr>
            <a:r>
              <a:rPr lang="en-US" sz="1050" b="1">
                <a:solidFill>
                  <a:srgbClr val="57068C"/>
                </a:solidFill>
                <a:latin typeface="Source Han Sans"/>
                <a:ea typeface="Source Han Sans"/>
              </a:rPr>
              <a:t>Intent</a:t>
            </a:r>
            <a:endParaRPr lang="en-US" sz="1050" b="1">
              <a:solidFill>
                <a:srgbClr val="57068C"/>
              </a:solidFill>
              <a:latin typeface="Source Han Sans"/>
              <a:ea typeface="Source Han Sans"/>
            </a:endParaRPr>
          </a:p>
        </p:txBody>
      </p:sp>
      <p:sp>
        <p:nvSpPr>
          <p:cNvPr id="358" name="文本框 357" descr="{&quot;isTemplate&quot;:true,&quot;type&quot;:&quot;text&quot;}"/>
          <p:cNvSpPr txBox="1"/>
          <p:nvPr/>
        </p:nvSpPr>
        <p:spPr>
          <a:xfrm>
            <a:off x="1962150" y="3028950"/>
            <a:ext cx="3143250" cy="171450"/>
          </a:xfrm>
          <a:prstGeom prst="rect">
            <a:avLst/>
          </a:prstGeom>
        </p:spPr>
        <p:txBody>
          <a:bodyPr wrap="none" lIns="0" tIns="0" rIns="0" bIns="0"/>
          <a:p>
            <a:pPr>
              <a:lnSpc>
                <a:spcPct val="100000"/>
              </a:lnSpc>
            </a:pPr>
            <a:r>
              <a:rPr lang="en-US" sz="1125">
                <a:solidFill>
                  <a:srgbClr val="4A5568"/>
                </a:solidFill>
                <a:latin typeface="Source Han Sans"/>
                <a:ea typeface="Source Han Sans"/>
              </a:rPr>
              <a:t>compressed into a few words</a:t>
            </a:r>
            <a:endParaRPr lang="en-US" sz="1125">
              <a:solidFill>
                <a:srgbClr val="4A5568"/>
              </a:solidFill>
              <a:latin typeface="Source Han Sans"/>
              <a:ea typeface="Source Han Sans"/>
            </a:endParaRPr>
          </a:p>
        </p:txBody>
      </p:sp>
      <p:sp>
        <p:nvSpPr>
          <p:cNvPr id="359" name="文本框 358" descr="{&quot;isTemplate&quot;:true,&quot;type&quot;:&quot;text&quot;}"/>
          <p:cNvSpPr txBox="1"/>
          <p:nvPr/>
        </p:nvSpPr>
        <p:spPr>
          <a:xfrm>
            <a:off x="800100" y="3352800"/>
            <a:ext cx="1047750" cy="171450"/>
          </a:xfrm>
          <a:prstGeom prst="rect">
            <a:avLst/>
          </a:prstGeom>
        </p:spPr>
        <p:txBody>
          <a:bodyPr wrap="none" lIns="0" tIns="0" rIns="0" bIns="0"/>
          <a:p>
            <a:pPr>
              <a:lnSpc>
                <a:spcPct val="100000"/>
              </a:lnSpc>
            </a:pPr>
            <a:r>
              <a:rPr lang="en-US" sz="1050" b="1">
                <a:solidFill>
                  <a:srgbClr val="57068C"/>
                </a:solidFill>
                <a:latin typeface="Source Han Sans"/>
                <a:ea typeface="Source Han Sans"/>
              </a:rPr>
              <a:t>Iteration</a:t>
            </a:r>
            <a:endParaRPr lang="en-US" sz="1050" b="1">
              <a:solidFill>
                <a:srgbClr val="57068C"/>
              </a:solidFill>
              <a:latin typeface="Source Han Sans"/>
              <a:ea typeface="Source Han Sans"/>
            </a:endParaRPr>
          </a:p>
        </p:txBody>
      </p:sp>
      <p:sp>
        <p:nvSpPr>
          <p:cNvPr id="360" name="文本框 359" descr="{&quot;isTemplate&quot;:true,&quot;type&quot;:&quot;text&quot;}"/>
          <p:cNvSpPr txBox="1"/>
          <p:nvPr/>
        </p:nvSpPr>
        <p:spPr>
          <a:xfrm>
            <a:off x="1962150" y="3352800"/>
            <a:ext cx="3143250" cy="171450"/>
          </a:xfrm>
          <a:prstGeom prst="rect">
            <a:avLst/>
          </a:prstGeom>
        </p:spPr>
        <p:txBody>
          <a:bodyPr wrap="none" lIns="0" tIns="0" rIns="0" bIns="0"/>
          <a:p>
            <a:pPr>
              <a:lnSpc>
                <a:spcPct val="100000"/>
              </a:lnSpc>
            </a:pPr>
            <a:r>
              <a:rPr lang="en-US" sz="1125">
                <a:solidFill>
                  <a:srgbClr val="4A5568"/>
                </a:solidFill>
                <a:latin typeface="Source Han Sans"/>
                <a:ea typeface="Source Han Sans"/>
              </a:rPr>
              <a:t>one shot</a:t>
            </a:r>
            <a:endParaRPr lang="en-US" sz="1125">
              <a:solidFill>
                <a:srgbClr val="4A5568"/>
              </a:solidFill>
              <a:latin typeface="Source Han Sans"/>
              <a:ea typeface="Source Han Sans"/>
            </a:endParaRPr>
          </a:p>
        </p:txBody>
      </p:sp>
      <p:sp>
        <p:nvSpPr>
          <p:cNvPr id="361" name="文本框 360" descr="{&quot;isTemplate&quot;:true,&quot;type&quot;:&quot;text&quot;}"/>
          <p:cNvSpPr txBox="1"/>
          <p:nvPr/>
        </p:nvSpPr>
        <p:spPr>
          <a:xfrm>
            <a:off x="800100" y="3676650"/>
            <a:ext cx="1047750" cy="171450"/>
          </a:xfrm>
          <a:prstGeom prst="rect">
            <a:avLst/>
          </a:prstGeom>
        </p:spPr>
        <p:txBody>
          <a:bodyPr wrap="none" lIns="0" tIns="0" rIns="0" bIns="0"/>
          <a:p>
            <a:pPr>
              <a:lnSpc>
                <a:spcPct val="100000"/>
              </a:lnSpc>
            </a:pPr>
            <a:r>
              <a:rPr lang="en-US" sz="1050" b="1">
                <a:solidFill>
                  <a:srgbClr val="57068C"/>
                </a:solidFill>
                <a:latin typeface="Source Han Sans"/>
                <a:ea typeface="Source Han Sans"/>
              </a:rPr>
              <a:t>Output</a:t>
            </a:r>
            <a:endParaRPr lang="en-US" sz="1050" b="1">
              <a:solidFill>
                <a:srgbClr val="57068C"/>
              </a:solidFill>
              <a:latin typeface="Source Han Sans"/>
              <a:ea typeface="Source Han Sans"/>
            </a:endParaRPr>
          </a:p>
        </p:txBody>
      </p:sp>
      <p:sp>
        <p:nvSpPr>
          <p:cNvPr id="362" name="文本框 361" descr="{&quot;isTemplate&quot;:true,&quot;type&quot;:&quot;text&quot;}"/>
          <p:cNvSpPr txBox="1"/>
          <p:nvPr/>
        </p:nvSpPr>
        <p:spPr>
          <a:xfrm>
            <a:off x="1962150" y="3676650"/>
            <a:ext cx="3143250" cy="171450"/>
          </a:xfrm>
          <a:prstGeom prst="rect">
            <a:avLst/>
          </a:prstGeom>
        </p:spPr>
        <p:txBody>
          <a:bodyPr wrap="none" lIns="0" tIns="0" rIns="0" bIns="0"/>
          <a:p>
            <a:pPr>
              <a:lnSpc>
                <a:spcPct val="100000"/>
              </a:lnSpc>
            </a:pPr>
            <a:r>
              <a:rPr lang="en-US" sz="1125">
                <a:solidFill>
                  <a:srgbClr val="4A5568"/>
                </a:solidFill>
                <a:latin typeface="Source Han Sans"/>
                <a:ea typeface="Source Han Sans"/>
              </a:rPr>
              <a:t>whatever the model proposes</a:t>
            </a:r>
            <a:endParaRPr lang="en-US" sz="1125">
              <a:solidFill>
                <a:srgbClr val="4A5568"/>
              </a:solidFill>
              <a:latin typeface="Source Han Sans"/>
              <a:ea typeface="Source Han Sans"/>
            </a:endParaRPr>
          </a:p>
        </p:txBody>
      </p:sp>
      <p:sp>
        <p:nvSpPr>
          <p:cNvPr id="363" name="文本框 362" descr="{&quot;isTemplate&quot;:true,&quot;type&quot;:&quot;text&quot;}"/>
          <p:cNvSpPr txBox="1"/>
          <p:nvPr/>
        </p:nvSpPr>
        <p:spPr>
          <a:xfrm>
            <a:off x="800100" y="4000500"/>
            <a:ext cx="1047750" cy="171450"/>
          </a:xfrm>
          <a:prstGeom prst="rect">
            <a:avLst/>
          </a:prstGeom>
        </p:spPr>
        <p:txBody>
          <a:bodyPr wrap="none" lIns="0" tIns="0" rIns="0" bIns="0"/>
          <a:p>
            <a:pPr>
              <a:lnSpc>
                <a:spcPct val="100000"/>
              </a:lnSpc>
            </a:pPr>
            <a:r>
              <a:rPr lang="en-US" sz="1050" b="1">
                <a:solidFill>
                  <a:srgbClr val="57068C"/>
                </a:solidFill>
                <a:latin typeface="Source Han Sans"/>
                <a:ea typeface="Source Han Sans"/>
              </a:rPr>
              <a:t>Accountability</a:t>
            </a:r>
            <a:endParaRPr lang="en-US" sz="1050" b="1">
              <a:solidFill>
                <a:srgbClr val="57068C"/>
              </a:solidFill>
              <a:latin typeface="Source Han Sans"/>
              <a:ea typeface="Source Han Sans"/>
            </a:endParaRPr>
          </a:p>
        </p:txBody>
      </p:sp>
      <p:sp>
        <p:nvSpPr>
          <p:cNvPr id="364" name="文本框 363" descr="{&quot;isTemplate&quot;:true,&quot;type&quot;:&quot;text&quot;}"/>
          <p:cNvSpPr txBox="1"/>
          <p:nvPr/>
        </p:nvSpPr>
        <p:spPr>
          <a:xfrm>
            <a:off x="1962150" y="4000500"/>
            <a:ext cx="3143250" cy="171450"/>
          </a:xfrm>
          <a:prstGeom prst="rect">
            <a:avLst/>
          </a:prstGeom>
        </p:spPr>
        <p:txBody>
          <a:bodyPr wrap="none" lIns="0" tIns="0" rIns="0" bIns="0"/>
          <a:p>
            <a:pPr>
              <a:lnSpc>
                <a:spcPct val="100000"/>
              </a:lnSpc>
            </a:pPr>
            <a:r>
              <a:rPr lang="en-US" sz="1125">
                <a:solidFill>
                  <a:srgbClr val="4A5568"/>
                </a:solidFill>
                <a:latin typeface="Source Han Sans"/>
                <a:ea typeface="Source Han Sans"/>
              </a:rPr>
              <a:t>none beyond the chat log</a:t>
            </a:r>
            <a:endParaRPr lang="en-US" sz="1125">
              <a:solidFill>
                <a:srgbClr val="4A5568"/>
              </a:solidFill>
              <a:latin typeface="Source Han Sans"/>
              <a:ea typeface="Source Han Sans"/>
            </a:endParaRPr>
          </a:p>
        </p:txBody>
      </p:sp>
      <p:sp>
        <p:nvSpPr>
          <p:cNvPr id="365" name="矩形 364"/>
          <p:cNvSpPr/>
          <p:nvPr/>
        </p:nvSpPr>
        <p:spPr>
          <a:xfrm>
            <a:off x="5524500" y="2286000"/>
            <a:ext cx="762000" cy="19050"/>
          </a:xfrm>
          <a:prstGeom prst="rect">
            <a:avLst/>
          </a:prstGeom>
          <a:solidFill>
            <a:srgbClr val="57068C"/>
          </a:solidFill>
        </p:spPr>
        <p:txBody>
          <a:bodyPr/>
          <a:p/>
        </p:txBody>
      </p:sp>
      <p:sp>
        <p:nvSpPr>
          <p:cNvPr id="366" name="圆角矩形 365"/>
          <p:cNvSpPr/>
          <p:nvPr/>
        </p:nvSpPr>
        <p:spPr>
          <a:xfrm>
            <a:off x="5715000" y="2129790"/>
            <a:ext cx="304800" cy="304800"/>
          </a:xfrm>
          <a:prstGeom prst="roundRect">
            <a:avLst>
              <a:gd name="adj" fmla="val 50000"/>
            </a:avLst>
          </a:prstGeom>
          <a:solidFill>
            <a:srgbClr val="57068C"/>
          </a:solidFill>
        </p:spPr>
        <p:txBody>
          <a:bodyPr/>
          <a:p/>
        </p:txBody>
      </p:sp>
      <p:sp>
        <p:nvSpPr>
          <p:cNvPr id="367" name="文本框 366" descr="{&quot;isTemplate&quot;:true,&quot;type&quot;:&quot;text&quot;}"/>
          <p:cNvSpPr txBox="1"/>
          <p:nvPr/>
        </p:nvSpPr>
        <p:spPr>
          <a:xfrm>
            <a:off x="5781675" y="2177415"/>
            <a:ext cx="171450" cy="209550"/>
          </a:xfrm>
          <a:prstGeom prst="rect">
            <a:avLst/>
          </a:prstGeom>
        </p:spPr>
        <p:txBody>
          <a:bodyPr wrap="none" lIns="0" tIns="0" rIns="0" bIns="0"/>
          <a:p>
            <a:pPr>
              <a:lnSpc>
                <a:spcPct val="100000"/>
              </a:lnSpc>
            </a:pPr>
            <a:r>
              <a:rPr sz="1350" b="1">
                <a:solidFill>
                  <a:srgbClr val="FFFFFF"/>
                </a:solidFill>
                <a:latin typeface="Source Han Sans"/>
                <a:ea typeface="Source Han Sans"/>
              </a:rPr>
              <a:t>→</a:t>
            </a:r>
            <a:endParaRPr sz="1350" b="1">
              <a:solidFill>
                <a:srgbClr val="FFFFFF"/>
              </a:solidFill>
              <a:latin typeface="Source Han Sans"/>
              <a:ea typeface="Source Han Sans"/>
            </a:endParaRPr>
          </a:p>
        </p:txBody>
      </p:sp>
      <p:sp>
        <p:nvSpPr>
          <p:cNvPr id="368" name="圆角矩形 367"/>
          <p:cNvSpPr/>
          <p:nvPr/>
        </p:nvSpPr>
        <p:spPr>
          <a:xfrm>
            <a:off x="6286500" y="1524000"/>
            <a:ext cx="5334000" cy="3619500"/>
          </a:xfrm>
          <a:prstGeom prst="roundRect">
            <a:avLst>
              <a:gd name="adj" fmla="val 2632"/>
            </a:avLst>
          </a:prstGeom>
          <a:solidFill>
            <a:srgbClr val="330662"/>
          </a:solidFill>
        </p:spPr>
        <p:txBody>
          <a:bodyPr/>
          <a:p/>
        </p:txBody>
      </p:sp>
      <p:sp>
        <p:nvSpPr>
          <p:cNvPr id="369" name="圆角矩形 368"/>
          <p:cNvSpPr/>
          <p:nvPr/>
        </p:nvSpPr>
        <p:spPr>
          <a:xfrm>
            <a:off x="6515100" y="1752600"/>
            <a:ext cx="1495425" cy="219075"/>
          </a:xfrm>
          <a:prstGeom prst="roundRect">
            <a:avLst>
              <a:gd name="adj" fmla="val 17391"/>
            </a:avLst>
          </a:prstGeom>
          <a:solidFill>
            <a:srgbClr val="FFC107"/>
          </a:solidFill>
        </p:spPr>
        <p:txBody>
          <a:bodyPr/>
          <a:p/>
        </p:txBody>
      </p:sp>
      <p:sp>
        <p:nvSpPr>
          <p:cNvPr id="370" name="文本框 369" descr="{&quot;isTemplate&quot;:true,&quot;type&quot;:&quot;text&quot;}"/>
          <p:cNvSpPr txBox="1"/>
          <p:nvPr/>
        </p:nvSpPr>
        <p:spPr>
          <a:xfrm>
            <a:off x="6629400" y="1790700"/>
            <a:ext cx="1266825" cy="142875"/>
          </a:xfrm>
          <a:prstGeom prst="rect">
            <a:avLst/>
          </a:prstGeom>
        </p:spPr>
        <p:txBody>
          <a:bodyPr wrap="none" lIns="0" tIns="0" rIns="0" bIns="0"/>
          <a:p>
            <a:pPr>
              <a:lnSpc>
                <a:spcPct val="100000"/>
              </a:lnSpc>
            </a:pPr>
            <a:r>
              <a:rPr lang="en-US" sz="900" b="1" spc="75">
                <a:solidFill>
                  <a:srgbClr val="330662"/>
                </a:solidFill>
                <a:latin typeface="Source Han Sans"/>
                <a:ea typeface="Source Han Sans"/>
              </a:rPr>
              <a:t>GUIDED INTERVIEW</a:t>
            </a:r>
            <a:endParaRPr lang="en-US" sz="900" b="1" spc="75">
              <a:solidFill>
                <a:srgbClr val="330662"/>
              </a:solidFill>
              <a:latin typeface="Source Han Sans"/>
              <a:ea typeface="Source Han Sans"/>
            </a:endParaRPr>
          </a:p>
        </p:txBody>
      </p:sp>
      <p:sp>
        <p:nvSpPr>
          <p:cNvPr id="371" name="文本框 370" descr="{&quot;isTemplate&quot;:true,&quot;type&quot;:&quot;text&quot;}"/>
          <p:cNvSpPr txBox="1"/>
          <p:nvPr/>
        </p:nvSpPr>
        <p:spPr>
          <a:xfrm>
            <a:off x="6515100" y="2105025"/>
            <a:ext cx="4876800" cy="828675"/>
          </a:xfrm>
          <a:prstGeom prst="rect">
            <a:avLst/>
          </a:prstGeom>
        </p:spPr>
        <p:txBody>
          <a:bodyPr wrap="square" lIns="0" tIns="0" rIns="0" bIns="0">
            <a:normAutofit/>
          </a:bodyPr>
          <a:p>
            <a:pPr>
              <a:lnSpc>
                <a:spcPct val="150000"/>
              </a:lnSpc>
            </a:pPr>
            <a:r>
              <a:rPr lang="en-US" sz="1200" i="1">
                <a:solidFill>
                  <a:srgbClr val="EEE6F3"/>
                </a:solidFill>
                <a:latin typeface="Source Han Sans"/>
                <a:ea typeface="Source Han Sans"/>
              </a:rPr>
              <a:t>"What was happening just before the overwhelm? What time were you trying to be somewhere? What were you watching for — an empty seat, a face, the door closing?"</a:t>
            </a:r>
            <a:endParaRPr lang="en-US" sz="1200" i="1">
              <a:solidFill>
                <a:srgbClr val="EEE6F3"/>
              </a:solidFill>
              <a:latin typeface="Source Han Sans"/>
              <a:ea typeface="Source Han Sans"/>
            </a:endParaRPr>
          </a:p>
        </p:txBody>
      </p:sp>
      <p:sp>
        <p:nvSpPr>
          <p:cNvPr id="372" name="矩形 371"/>
          <p:cNvSpPr/>
          <p:nvPr/>
        </p:nvSpPr>
        <p:spPr>
          <a:xfrm>
            <a:off x="6515100" y="3067050"/>
            <a:ext cx="304800" cy="19050"/>
          </a:xfrm>
          <a:prstGeom prst="rect">
            <a:avLst/>
          </a:prstGeom>
          <a:solidFill>
            <a:srgbClr val="7B5AA6"/>
          </a:solidFill>
        </p:spPr>
        <p:txBody>
          <a:bodyPr/>
          <a:p/>
        </p:txBody>
      </p:sp>
      <p:sp>
        <p:nvSpPr>
          <p:cNvPr id="373" name="文本框 372" descr="{&quot;isTemplate&quot;:true,&quot;type&quot;:&quot;text&quot;}"/>
          <p:cNvSpPr txBox="1"/>
          <p:nvPr/>
        </p:nvSpPr>
        <p:spPr>
          <a:xfrm>
            <a:off x="6515100" y="3219450"/>
            <a:ext cx="1047750" cy="171450"/>
          </a:xfrm>
          <a:prstGeom prst="rect">
            <a:avLst/>
          </a:prstGeom>
        </p:spPr>
        <p:txBody>
          <a:bodyPr wrap="none" lIns="0" tIns="0" rIns="0" bIns="0"/>
          <a:p>
            <a:pPr>
              <a:lnSpc>
                <a:spcPct val="100000"/>
              </a:lnSpc>
            </a:pPr>
            <a:r>
              <a:rPr lang="en-US" sz="1050" b="1">
                <a:solidFill>
                  <a:srgbClr val="FFC107"/>
                </a:solidFill>
                <a:latin typeface="Source Han Sans"/>
                <a:ea typeface="Source Han Sans"/>
              </a:rPr>
              <a:t>Intent</a:t>
            </a:r>
            <a:endParaRPr lang="en-US" sz="1050" b="1">
              <a:solidFill>
                <a:srgbClr val="FFC107"/>
              </a:solidFill>
              <a:latin typeface="Source Han Sans"/>
              <a:ea typeface="Source Han Sans"/>
            </a:endParaRPr>
          </a:p>
        </p:txBody>
      </p:sp>
      <p:sp>
        <p:nvSpPr>
          <p:cNvPr id="374" name="文本框 373" descr="{&quot;isTemplate&quot;:true,&quot;type&quot;:&quot;text&quot;}"/>
          <p:cNvSpPr txBox="1"/>
          <p:nvPr/>
        </p:nvSpPr>
        <p:spPr>
          <a:xfrm>
            <a:off x="7677150" y="3219450"/>
            <a:ext cx="3714750" cy="171450"/>
          </a:xfrm>
          <a:prstGeom prst="rect">
            <a:avLst/>
          </a:prstGeom>
        </p:spPr>
        <p:txBody>
          <a:bodyPr wrap="none" lIns="0" tIns="0" rIns="0" bIns="0"/>
          <a:p>
            <a:pPr>
              <a:lnSpc>
                <a:spcPct val="100000"/>
              </a:lnSpc>
            </a:pPr>
            <a:r>
              <a:rPr lang="en-US" sz="1125">
                <a:solidFill>
                  <a:srgbClr val="FFFFFF"/>
                </a:solidFill>
                <a:latin typeface="Source Han Sans"/>
                <a:ea typeface="Source Han Sans"/>
              </a:rPr>
              <a:t>expanded through a question list, until inspectable</a:t>
            </a:r>
            <a:endParaRPr lang="en-US" sz="1125">
              <a:solidFill>
                <a:srgbClr val="FFFFFF"/>
              </a:solidFill>
              <a:latin typeface="Source Han Sans"/>
              <a:ea typeface="Source Han Sans"/>
            </a:endParaRPr>
          </a:p>
        </p:txBody>
      </p:sp>
      <p:sp>
        <p:nvSpPr>
          <p:cNvPr id="375" name="文本框 374" descr="{&quot;isTemplate&quot;:true,&quot;type&quot;:&quot;text&quot;}"/>
          <p:cNvSpPr txBox="1"/>
          <p:nvPr/>
        </p:nvSpPr>
        <p:spPr>
          <a:xfrm>
            <a:off x="6515100" y="3524250"/>
            <a:ext cx="1047750" cy="171450"/>
          </a:xfrm>
          <a:prstGeom prst="rect">
            <a:avLst/>
          </a:prstGeom>
        </p:spPr>
        <p:txBody>
          <a:bodyPr wrap="none" lIns="0" tIns="0" rIns="0" bIns="0"/>
          <a:p>
            <a:pPr>
              <a:lnSpc>
                <a:spcPct val="100000"/>
              </a:lnSpc>
            </a:pPr>
            <a:r>
              <a:rPr lang="en-US" sz="1050" b="1">
                <a:solidFill>
                  <a:srgbClr val="FFC107"/>
                </a:solidFill>
                <a:latin typeface="Source Han Sans"/>
                <a:ea typeface="Source Han Sans"/>
              </a:rPr>
              <a:t>Iteration</a:t>
            </a:r>
            <a:endParaRPr lang="en-US" sz="1050" b="1">
              <a:solidFill>
                <a:srgbClr val="FFC107"/>
              </a:solidFill>
              <a:latin typeface="Source Han Sans"/>
              <a:ea typeface="Source Han Sans"/>
            </a:endParaRPr>
          </a:p>
        </p:txBody>
      </p:sp>
      <p:sp>
        <p:nvSpPr>
          <p:cNvPr id="376" name="文本框 375" descr="{&quot;isTemplate&quot;:true,&quot;type&quot;:&quot;text&quot;}"/>
          <p:cNvSpPr txBox="1"/>
          <p:nvPr/>
        </p:nvSpPr>
        <p:spPr>
          <a:xfrm>
            <a:off x="7677150" y="3524250"/>
            <a:ext cx="3714750" cy="171450"/>
          </a:xfrm>
          <a:prstGeom prst="rect">
            <a:avLst/>
          </a:prstGeom>
        </p:spPr>
        <p:txBody>
          <a:bodyPr wrap="none" lIns="0" tIns="0" rIns="0" bIns="0"/>
          <a:p>
            <a:pPr>
              <a:lnSpc>
                <a:spcPct val="100000"/>
              </a:lnSpc>
            </a:pPr>
            <a:r>
              <a:rPr lang="en-US" sz="1125">
                <a:solidFill>
                  <a:srgbClr val="FFFFFF"/>
                </a:solidFill>
                <a:latin typeface="Source Han Sans"/>
                <a:ea typeface="Source Han Sans"/>
              </a:rPr>
              <a:t>multi-turn, with reflection pauses</a:t>
            </a:r>
            <a:endParaRPr lang="en-US" sz="1125">
              <a:solidFill>
                <a:srgbClr val="FFFFFF"/>
              </a:solidFill>
              <a:latin typeface="Source Han Sans"/>
              <a:ea typeface="Source Han Sans"/>
            </a:endParaRPr>
          </a:p>
        </p:txBody>
      </p:sp>
      <p:sp>
        <p:nvSpPr>
          <p:cNvPr id="377" name="文本框 376" descr="{&quot;isTemplate&quot;:true,&quot;type&quot;:&quot;text&quot;}"/>
          <p:cNvSpPr txBox="1"/>
          <p:nvPr/>
        </p:nvSpPr>
        <p:spPr>
          <a:xfrm>
            <a:off x="6515100" y="3829050"/>
            <a:ext cx="1047750" cy="171450"/>
          </a:xfrm>
          <a:prstGeom prst="rect">
            <a:avLst/>
          </a:prstGeom>
        </p:spPr>
        <p:txBody>
          <a:bodyPr wrap="none" lIns="0" tIns="0" rIns="0" bIns="0"/>
          <a:p>
            <a:pPr>
              <a:lnSpc>
                <a:spcPct val="100000"/>
              </a:lnSpc>
            </a:pPr>
            <a:r>
              <a:rPr lang="en-US" sz="1050" b="1">
                <a:solidFill>
                  <a:srgbClr val="FFC107"/>
                </a:solidFill>
                <a:latin typeface="Source Han Sans"/>
                <a:ea typeface="Source Han Sans"/>
              </a:rPr>
              <a:t>Output</a:t>
            </a:r>
            <a:endParaRPr lang="en-US" sz="1050" b="1">
              <a:solidFill>
                <a:srgbClr val="FFC107"/>
              </a:solidFill>
              <a:latin typeface="Source Han Sans"/>
              <a:ea typeface="Source Han Sans"/>
            </a:endParaRPr>
          </a:p>
        </p:txBody>
      </p:sp>
      <p:sp>
        <p:nvSpPr>
          <p:cNvPr id="378" name="文本框 377" descr="{&quot;isTemplate&quot;:true,&quot;type&quot;:&quot;text&quot;}"/>
          <p:cNvSpPr txBox="1"/>
          <p:nvPr/>
        </p:nvSpPr>
        <p:spPr>
          <a:xfrm>
            <a:off x="7677150" y="3829050"/>
            <a:ext cx="3714750" cy="171450"/>
          </a:xfrm>
          <a:prstGeom prst="rect">
            <a:avLst/>
          </a:prstGeom>
        </p:spPr>
        <p:txBody>
          <a:bodyPr wrap="none" lIns="0" tIns="0" rIns="0" bIns="0"/>
          <a:p>
            <a:pPr>
              <a:lnSpc>
                <a:spcPct val="100000"/>
              </a:lnSpc>
            </a:pPr>
            <a:r>
              <a:rPr lang="en-US" sz="1125">
                <a:solidFill>
                  <a:srgbClr val="FFFFFF"/>
                </a:solidFill>
                <a:latin typeface="Source Han Sans"/>
                <a:ea typeface="Source Han Sans"/>
              </a:rPr>
              <a:t>a system description, not a finished game</a:t>
            </a:r>
            <a:endParaRPr lang="en-US" sz="1125">
              <a:solidFill>
                <a:srgbClr val="FFFFFF"/>
              </a:solidFill>
              <a:latin typeface="Source Han Sans"/>
              <a:ea typeface="Source Han Sans"/>
            </a:endParaRPr>
          </a:p>
        </p:txBody>
      </p:sp>
      <p:sp>
        <p:nvSpPr>
          <p:cNvPr id="379" name="文本框 378" descr="{&quot;isTemplate&quot;:true,&quot;type&quot;:&quot;text&quot;}"/>
          <p:cNvSpPr txBox="1"/>
          <p:nvPr/>
        </p:nvSpPr>
        <p:spPr>
          <a:xfrm>
            <a:off x="6515100" y="4133850"/>
            <a:ext cx="1047750" cy="342900"/>
          </a:xfrm>
          <a:prstGeom prst="rect">
            <a:avLst/>
          </a:prstGeom>
        </p:spPr>
        <p:txBody>
          <a:bodyPr wrap="none" lIns="0" tIns="0" rIns="0" bIns="0"/>
          <a:p>
            <a:pPr>
              <a:lnSpc>
                <a:spcPct val="100000"/>
              </a:lnSpc>
            </a:pPr>
            <a:r>
              <a:rPr lang="en-US" sz="1050" b="1">
                <a:solidFill>
                  <a:srgbClr val="FFC107"/>
                </a:solidFill>
                <a:latin typeface="Source Han Sans"/>
                <a:ea typeface="Source Han Sans"/>
              </a:rPr>
              <a:t>Accountability</a:t>
            </a:r>
            <a:endParaRPr lang="en-US" sz="1050" b="1">
              <a:solidFill>
                <a:srgbClr val="FFC107"/>
              </a:solidFill>
              <a:latin typeface="Source Han Sans"/>
              <a:ea typeface="Source Han Sans"/>
            </a:endParaRPr>
          </a:p>
        </p:txBody>
      </p:sp>
      <p:sp>
        <p:nvSpPr>
          <p:cNvPr id="380" name="文本框 379" descr="{&quot;isTemplate&quot;:true,&quot;type&quot;:&quot;text&quot;}"/>
          <p:cNvSpPr txBox="1"/>
          <p:nvPr/>
        </p:nvSpPr>
        <p:spPr>
          <a:xfrm>
            <a:off x="7677150" y="4133850"/>
            <a:ext cx="3714750" cy="342900"/>
          </a:xfrm>
          <a:prstGeom prst="rect">
            <a:avLst/>
          </a:prstGeom>
        </p:spPr>
        <p:txBody>
          <a:bodyPr wrap="square" lIns="0" tIns="0" rIns="0" bIns="0">
            <a:normAutofit/>
          </a:bodyPr>
          <a:p>
            <a:pPr>
              <a:lnSpc>
                <a:spcPct val="100000"/>
              </a:lnSpc>
            </a:pPr>
            <a:r>
              <a:rPr lang="en-US" sz="1125">
                <a:solidFill>
                  <a:srgbClr val="FFFFFF"/>
                </a:solidFill>
                <a:latin typeface="Source Han Sans"/>
                <a:ea typeface="Source Han Sans"/>
              </a:rPr>
              <a:t>a development log records who proposed what, and who accepted</a:t>
            </a:r>
            <a:endParaRPr lang="en-US" sz="1125">
              <a:solidFill>
                <a:srgbClr val="FFFFFF"/>
              </a:solidFill>
              <a:latin typeface="Source Han Sans"/>
              <a:ea typeface="Source Han Sans"/>
            </a:endParaRPr>
          </a:p>
        </p:txBody>
      </p:sp>
      <p:sp>
        <p:nvSpPr>
          <p:cNvPr id="381" name="矩形 380"/>
          <p:cNvSpPr/>
          <p:nvPr/>
        </p:nvSpPr>
        <p:spPr>
          <a:xfrm>
            <a:off x="609600" y="5334000"/>
            <a:ext cx="11049000" cy="1056640"/>
          </a:xfrm>
          <a:prstGeom prst="rect">
            <a:avLst/>
          </a:prstGeom>
          <a:solidFill>
            <a:srgbClr val="F6F1FA"/>
          </a:solidFill>
        </p:spPr>
        <p:txBody>
          <a:bodyPr/>
          <a:p/>
        </p:txBody>
      </p:sp>
      <p:sp>
        <p:nvSpPr>
          <p:cNvPr id="382" name="任意多边形 381"/>
          <p:cNvSpPr/>
          <p:nvPr/>
        </p:nvSpPr>
        <p:spPr>
          <a:xfrm>
            <a:off x="571500" y="5334000"/>
            <a:ext cx="11087100" cy="762000"/>
          </a:xfrm>
          <a:custGeom>
            <a:avLst/>
            <a:gdLst/>
            <a:ahLst/>
            <a:cxnLst/>
            <a:pathLst>
              <a:path w="1164" h="80">
                <a:moveTo>
                  <a:pt x="0" y="0"/>
                </a:moveTo>
                <a:lnTo>
                  <a:pt x="4" y="0"/>
                </a:lnTo>
                <a:lnTo>
                  <a:pt x="4" y="80"/>
                </a:lnTo>
                <a:lnTo>
                  <a:pt x="0" y="80"/>
                </a:lnTo>
                <a:close/>
              </a:path>
            </a:pathLst>
          </a:custGeom>
          <a:solidFill>
            <a:srgbClr val="57068C"/>
          </a:solidFill>
        </p:spPr>
        <p:txBody>
          <a:bodyPr/>
          <a:p/>
        </p:txBody>
      </p:sp>
      <p:sp>
        <p:nvSpPr>
          <p:cNvPr id="383" name="文本框 382" descr="{&quot;isTemplate&quot;:true,&quot;type&quot;:&quot;text&quot;}"/>
          <p:cNvSpPr txBox="1"/>
          <p:nvPr/>
        </p:nvSpPr>
        <p:spPr>
          <a:xfrm>
            <a:off x="781050" y="5505450"/>
            <a:ext cx="10668000" cy="161925"/>
          </a:xfrm>
          <a:prstGeom prst="rect">
            <a:avLst/>
          </a:prstGeom>
        </p:spPr>
        <p:txBody>
          <a:bodyPr wrap="none" lIns="0" tIns="0" rIns="0" bIns="0"/>
          <a:p>
            <a:pPr>
              <a:lnSpc>
                <a:spcPct val="100000"/>
              </a:lnSpc>
            </a:pPr>
            <a:r>
              <a:rPr lang="en-US" sz="1050" b="1" spc="75">
                <a:solidFill>
                  <a:srgbClr val="57068C"/>
                </a:solidFill>
                <a:latin typeface="Source Han Sans"/>
                <a:ea typeface="Source Han Sans"/>
              </a:rPr>
              <a:t>SYSTEM DESCRIPTION, NOT PROMPT</a:t>
            </a:r>
            <a:endParaRPr lang="en-US" sz="1050" b="1" spc="75">
              <a:solidFill>
                <a:srgbClr val="57068C"/>
              </a:solidFill>
              <a:latin typeface="Source Han Sans"/>
              <a:ea typeface="Source Han Sans"/>
            </a:endParaRPr>
          </a:p>
        </p:txBody>
      </p:sp>
      <p:sp>
        <p:nvSpPr>
          <p:cNvPr id="384" name="文本框 383" descr="{&quot;isTemplate&quot;:true,&quot;type&quot;:&quot;text&quot;}"/>
          <p:cNvSpPr txBox="1"/>
          <p:nvPr/>
        </p:nvSpPr>
        <p:spPr>
          <a:xfrm>
            <a:off x="781050" y="5705475"/>
            <a:ext cx="10668000" cy="600075"/>
          </a:xfrm>
          <a:prstGeom prst="rect">
            <a:avLst/>
          </a:prstGeom>
        </p:spPr>
        <p:txBody>
          <a:bodyPr wrap="square" lIns="0" tIns="0" rIns="0" bIns="0">
            <a:normAutofit/>
          </a:bodyPr>
          <a:p>
            <a:pPr>
              <a:lnSpc>
                <a:spcPct val="145000"/>
              </a:lnSpc>
            </a:pPr>
            <a:r>
              <a:rPr lang="en-US" sz="1350">
                <a:solidFill>
                  <a:srgbClr val="1A2230"/>
                </a:solidFill>
                <a:latin typeface="Source Han Sans"/>
                <a:ea typeface="Source Han Sans"/>
              </a:rPr>
              <a:t>Intent is not compressed in five words. It is unfolded by a question list until a verifiable system description emerges — and that description is what the AI works from.</a:t>
            </a:r>
            <a:endParaRPr lang="en-US" sz="1350">
              <a:solidFill>
                <a:srgbClr val="1A2230"/>
              </a:solidFill>
              <a:latin typeface="Source Han Sans"/>
              <a:ea typeface="Source Han Sans"/>
            </a:endParaRPr>
          </a:p>
        </p:txBody>
      </p:sp>
      <p:sp>
        <p:nvSpPr>
          <p:cNvPr id="385" name="文本框 384" descr="{&quot;isTemplate&quot;:true,&quot;type&quot;:&quot;text&quot;}"/>
          <p:cNvSpPr txBox="1"/>
          <p:nvPr/>
        </p:nvSpPr>
        <p:spPr>
          <a:xfrm>
            <a:off x="571500" y="6477000"/>
            <a:ext cx="3448050" cy="161925"/>
          </a:xfrm>
          <a:prstGeom prst="rect">
            <a:avLst/>
          </a:prstGeom>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lang="en-US" sz="1050">
              <a:solidFill>
                <a:srgbClr val="8B97A8"/>
              </a:solidFill>
              <a:latin typeface="Source Han Sans"/>
              <a:ea typeface="Source Han Sans"/>
            </a:endParaRPr>
          </a:p>
        </p:txBody>
      </p:sp>
      <p:sp>
        <p:nvSpPr>
          <p:cNvPr id="386" name="文本框 385" descr="{&quot;isTemplate&quot;:true,&quot;type&quot;:&quot;text&quot;}"/>
          <p:cNvSpPr txBox="1"/>
          <p:nvPr/>
        </p:nvSpPr>
        <p:spPr>
          <a:xfrm>
            <a:off x="11210925" y="6477000"/>
            <a:ext cx="409575" cy="161925"/>
          </a:xfrm>
          <a:prstGeom prst="rect">
            <a:avLst/>
          </a:prstGeom>
        </p:spPr>
        <p:txBody>
          <a:bodyPr wrap="none" lIns="0" tIns="0" rIns="0" bIns="0"/>
          <a:p>
            <a:pPr>
              <a:lnSpc>
                <a:spcPct val="100000"/>
              </a:lnSpc>
            </a:pPr>
            <a:r>
              <a:rPr lang="en-US" sz="1050" b="1">
                <a:solidFill>
                  <a:srgbClr val="57068C"/>
                </a:solidFill>
                <a:latin typeface="Source Han Sans"/>
                <a:ea typeface="Source Han Sans"/>
              </a:rPr>
              <a:t>09 / 16</a:t>
            </a:r>
            <a:endParaRPr lang="en-US" sz="1050" b="1">
              <a:solidFill>
                <a:srgbClr val="57068C"/>
              </a:solidFill>
              <a:latin typeface="Source Han Sans"/>
              <a:ea typeface="Source Ha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41" name="" descr="&lt;Slide style={{ width: '1280px', height: '720px', background: '#FFFFFF', position: 'relative', fontFamily: 'Source Han Sans, Noto Sans CJK SC, sans-serif' }}&gt;&#10;  &lt;Box style={{ position: 'absolute', top: 0, left: 0, width: '100%', height: 40, background: '#F0F5FC' }} /&gt;&#10;  &lt;Box style={{ position: 'absolute', top: 36, left: 0, width: '100%', height: 4, background: '#1E4FA8' }} /&gt;&#10;  &lt;Box style={{ position: 'absolute', top: 130, left: 80, flexDirection: 'column', gap: 12 }}&gt;&#10;    &lt;Text style={{ fontSize: 16, color: '#1E4FA8', fontWeight: 'bold', letterSpacing: 2 }}&gt;PART THREE&lt;/Text&gt;&#10;    &lt;Text style={{ fontSize: 220, fontWeight: 'bold', fontFamily: 'Source Serif Pro, Georgia, serif', color: '#E8EFF8', lineHeight: 1 }}&gt;03&lt;/Text&gt;&#10;  &lt;/Box&gt;&#10;  &lt;Box style={{ position: 'absolute', top: 260, left: 80, width: 1120, flexDirection: 'column', gap: 24 }}&gt;&#10;    &lt;Text style={{ fontSize: 48, fontWeight: 'bold', fontFamily: 'Source Serif Pro, Georgia, serif', color: '#0E3F8C', lineHeight: 1.15 }}&gt;What we learned&lt;/Text&gt;&#10;    &lt;Box style={{ width: 80, height: 3, background: '#1E4FA8' }} /&gt;&#10;    &lt;Text style={{ fontSize: 22, color: '#1A2230', lineHeight: 1.55 }}&gt;&#10;      Thirty playable games, one case in depth, three findings, and where the field is going next.&#10;    &lt;/Text&gt;&#10;    &lt;Box style={{ marginTop: 16, flexDirection: 'column', gap: 10 }}&gt;&#10;      {[&#10;        '12 / 30 student works on screen in 36 seconds',&#10;        'One case in depth: The Darkroom by Boyan',&#10;        'Three findings, and one honest limitation',&#10;        'Where the next generation of tools should point',&#10;      ].map((line, i) =&gt; (&#10;        &lt;Box key={i} style={{ flexDirection: 'row', alignItems: 'flex-start', gap: 12 }}&gt;&#10;          &lt;Box style={{ width: 8, height: 8, borderRadius: 4, background: '#1E4FA8', marginTop: 12 }} /&gt;&#10;          &lt;Text style={{ fontSize: 18, color: '#4A5568', lineHeight: 1.5, flex: 1 }}&gt;{line}&lt;/Text&gt;&#10;        &lt;/Box&gt;&#10;      ))}&#10;    &lt;/Box&gt;&#10;  &lt;/Box&gt;&#10;  &lt;Box style={{ position: 'absolute', top: 680, left: 60, right: 60, flexDirection: 'row', justifyContent: 'space-between' }}&gt;&#10;    &lt;Text style={{ fontSize: 14, color: '#8B97A8' }}&gt;Xingchen Zhang · NYU Shanghai · XJTLU 2026 · Panel 11&lt;/Text&gt;&#10;    &lt;Text style={{ fontSize: 14, color: '#1E4FA8', fontWeight: 'bold' }}&gt;11 / 16&lt;/Text&gt;&#10;  &lt;/Box&gt;&#10;&lt;/Slide&gt;&#10;"/>
        <p:cNvGrpSpPr/>
        <p:nvPr/>
      </p:nvGrpSpPr>
      <p:grpSpPr>
        <a:xfrm>
          <a:off x="0" y="0"/>
          <a:ext cx="0" cy="0"/>
          <a:chOff x="0" y="0"/>
          <a:chExt cx="0" cy="0"/>
        </a:xfrm>
      </p:grpSpPr>
      <p:sp>
        <p:nvSpPr>
          <p:cNvPr id="42" name="矩形 41"/>
          <p:cNvSpPr/>
          <p:nvPr/>
        </p:nvSpPr>
        <p:spPr>
          <a:xfrm>
            <a:off x="0" y="0"/>
            <a:ext cx="12192000" cy="6858000"/>
          </a:xfrm>
          <a:prstGeom prst="rect">
            <a:avLst/>
          </a:prstGeom>
          <a:solidFill>
            <a:srgbClr val="FFFFFF"/>
          </a:solidFill>
        </p:spPr>
        <p:txBody>
          <a:bodyPr/>
          <a:p/>
        </p:txBody>
      </p:sp>
      <p:sp>
        <p:nvSpPr>
          <p:cNvPr id="43" name="矩形 42"/>
          <p:cNvSpPr/>
          <p:nvPr/>
        </p:nvSpPr>
        <p:spPr>
          <a:xfrm>
            <a:off x="0" y="0"/>
            <a:ext cx="12192000" cy="381000"/>
          </a:xfrm>
          <a:prstGeom prst="rect">
            <a:avLst/>
          </a:prstGeom>
          <a:solidFill>
            <a:srgbClr val="F6F1FA"/>
          </a:solidFill>
        </p:spPr>
        <p:txBody>
          <a:bodyPr/>
          <a:p/>
        </p:txBody>
      </p:sp>
      <p:sp>
        <p:nvSpPr>
          <p:cNvPr id="44" name="矩形 43"/>
          <p:cNvSpPr/>
          <p:nvPr/>
        </p:nvSpPr>
        <p:spPr>
          <a:xfrm>
            <a:off x="0" y="342900"/>
            <a:ext cx="12192000" cy="38100"/>
          </a:xfrm>
          <a:prstGeom prst="rect">
            <a:avLst/>
          </a:prstGeom>
          <a:solidFill>
            <a:srgbClr val="57068C"/>
          </a:solidFill>
        </p:spPr>
        <p:txBody>
          <a:bodyPr/>
          <a:p/>
        </p:txBody>
      </p:sp>
      <p:sp>
        <p:nvSpPr>
          <p:cNvPr id="45" name="文本框 44" descr="{&quot;isTemplate&quot;:true,&quot;type&quot;:&quot;text&quot;}"/>
          <p:cNvSpPr txBox="1"/>
          <p:nvPr/>
        </p:nvSpPr>
        <p:spPr>
          <a:xfrm>
            <a:off x="762000" y="1238250"/>
            <a:ext cx="2781300" cy="190500"/>
          </a:xfrm>
          <a:prstGeom prst="rect">
            <a:avLst/>
          </a:prstGeom>
        </p:spPr>
        <p:txBody>
          <a:bodyPr wrap="none" lIns="0" tIns="0" rIns="0" bIns="0"/>
          <a:p>
            <a:pPr>
              <a:lnSpc>
                <a:spcPct val="100000"/>
              </a:lnSpc>
            </a:pPr>
            <a:r>
              <a:rPr lang="en-US" sz="1200" b="1" spc="150">
                <a:solidFill>
                  <a:srgbClr val="57068C"/>
                </a:solidFill>
                <a:latin typeface="Source Han Sans"/>
                <a:ea typeface="Source Han Sans"/>
              </a:rPr>
              <a:t>PART THREE</a:t>
            </a:r>
            <a:endParaRPr lang="en-US" sz="1200" b="1" spc="150">
              <a:solidFill>
                <a:srgbClr val="57068C"/>
              </a:solidFill>
              <a:latin typeface="Source Han Sans"/>
              <a:ea typeface="Source Han Sans"/>
            </a:endParaRPr>
          </a:p>
        </p:txBody>
      </p:sp>
      <p:sp>
        <p:nvSpPr>
          <p:cNvPr id="46" name="文本框 45" descr="{&quot;isTemplate&quot;:true,&quot;type&quot;:&quot;text&quot;}"/>
          <p:cNvSpPr txBox="1"/>
          <p:nvPr/>
        </p:nvSpPr>
        <p:spPr>
          <a:xfrm>
            <a:off x="762000" y="1543050"/>
            <a:ext cx="2781300" cy="2514600"/>
          </a:xfrm>
          <a:prstGeom prst="rect">
            <a:avLst/>
          </a:prstGeom>
        </p:spPr>
        <p:txBody>
          <a:bodyPr wrap="none" lIns="0" tIns="0" rIns="0" bIns="0"/>
          <a:p>
            <a:pPr>
              <a:lnSpc>
                <a:spcPct val="100000"/>
              </a:lnSpc>
            </a:pPr>
            <a:r>
              <a:rPr lang="en-US" sz="16500" b="1">
                <a:solidFill>
                  <a:srgbClr val="EEE6F3"/>
                </a:solidFill>
                <a:latin typeface="Source Serif Pro"/>
                <a:ea typeface="Source Serif Pro"/>
              </a:rPr>
              <a:t>03</a:t>
            </a:r>
            <a:endParaRPr lang="en-US" sz="16500" b="1">
              <a:solidFill>
                <a:srgbClr val="EEE6F3"/>
              </a:solidFill>
              <a:latin typeface="Source Serif Pro"/>
              <a:ea typeface="Source Serif Pro"/>
            </a:endParaRPr>
          </a:p>
        </p:txBody>
      </p:sp>
      <p:sp>
        <p:nvSpPr>
          <p:cNvPr id="47" name="文本框 46" descr="{&quot;isTemplate&quot;:true,&quot;type&quot;:&quot;text&quot;}"/>
          <p:cNvSpPr txBox="1"/>
          <p:nvPr/>
        </p:nvSpPr>
        <p:spPr>
          <a:xfrm>
            <a:off x="762000" y="2476500"/>
            <a:ext cx="10668000" cy="638175"/>
          </a:xfrm>
          <a:prstGeom prst="rect">
            <a:avLst/>
          </a:prstGeom>
        </p:spPr>
        <p:txBody>
          <a:bodyPr wrap="none" lIns="0" tIns="0" rIns="0" bIns="0"/>
          <a:p>
            <a:pPr>
              <a:lnSpc>
                <a:spcPct val="115000"/>
              </a:lnSpc>
            </a:pPr>
            <a:r>
              <a:rPr lang="en-US" sz="3600" b="1">
                <a:solidFill>
                  <a:srgbClr val="330662"/>
                </a:solidFill>
                <a:latin typeface="Source Serif Pro"/>
                <a:ea typeface="Source Serif Pro"/>
              </a:rPr>
              <a:t>What we learned</a:t>
            </a:r>
            <a:endParaRPr lang="en-US" sz="3600" b="1">
              <a:solidFill>
                <a:srgbClr val="330662"/>
              </a:solidFill>
              <a:latin typeface="Source Serif Pro"/>
              <a:ea typeface="Source Serif Pro"/>
            </a:endParaRPr>
          </a:p>
        </p:txBody>
      </p:sp>
      <p:sp>
        <p:nvSpPr>
          <p:cNvPr id="48" name="矩形 47"/>
          <p:cNvSpPr/>
          <p:nvPr/>
        </p:nvSpPr>
        <p:spPr>
          <a:xfrm>
            <a:off x="762000" y="3343275"/>
            <a:ext cx="762000" cy="28575"/>
          </a:xfrm>
          <a:prstGeom prst="rect">
            <a:avLst/>
          </a:prstGeom>
          <a:solidFill>
            <a:srgbClr val="57068C"/>
          </a:solidFill>
        </p:spPr>
        <p:txBody>
          <a:bodyPr/>
          <a:p/>
        </p:txBody>
      </p:sp>
      <p:sp>
        <p:nvSpPr>
          <p:cNvPr id="49" name="文本框 48" descr="{&quot;isTemplate&quot;:true,&quot;type&quot;:&quot;text&quot;}"/>
          <p:cNvSpPr txBox="1"/>
          <p:nvPr/>
        </p:nvSpPr>
        <p:spPr>
          <a:xfrm>
            <a:off x="762000" y="3600450"/>
            <a:ext cx="10668000" cy="390525"/>
          </a:xfrm>
          <a:prstGeom prst="rect">
            <a:avLst/>
          </a:prstGeom>
        </p:spPr>
        <p:txBody>
          <a:bodyPr wrap="none" lIns="0" tIns="0" rIns="0" bIns="0"/>
          <a:p>
            <a:pPr>
              <a:lnSpc>
                <a:spcPct val="155000"/>
              </a:lnSpc>
            </a:pPr>
            <a:r>
              <a:rPr lang="en-US" sz="1650">
                <a:solidFill>
                  <a:srgbClr val="1A2230"/>
                </a:solidFill>
                <a:latin typeface="Source Han Sans"/>
                <a:ea typeface="Source Han Sans"/>
              </a:rPr>
              <a:t>Thirty playable games, one case in depth, three findings, and where the field is going next.</a:t>
            </a:r>
            <a:endParaRPr lang="en-US" sz="1650">
              <a:solidFill>
                <a:srgbClr val="1A2230"/>
              </a:solidFill>
              <a:latin typeface="Source Han Sans"/>
              <a:ea typeface="Source Han Sans"/>
            </a:endParaRPr>
          </a:p>
        </p:txBody>
      </p:sp>
      <p:sp>
        <p:nvSpPr>
          <p:cNvPr id="50" name="圆角矩形 49"/>
          <p:cNvSpPr/>
          <p:nvPr/>
        </p:nvSpPr>
        <p:spPr>
          <a:xfrm>
            <a:off x="762000" y="4486275"/>
            <a:ext cx="76200" cy="76200"/>
          </a:xfrm>
          <a:prstGeom prst="roundRect">
            <a:avLst>
              <a:gd name="adj" fmla="val 50000"/>
            </a:avLst>
          </a:prstGeom>
          <a:solidFill>
            <a:srgbClr val="57068C"/>
          </a:solidFill>
        </p:spPr>
        <p:txBody>
          <a:bodyPr/>
          <a:p/>
        </p:txBody>
      </p:sp>
      <p:sp>
        <p:nvSpPr>
          <p:cNvPr id="51" name="文本框 50" descr="{&quot;isTemplate&quot;:true,&quot;type&quot;:&quot;text&quot;}"/>
          <p:cNvSpPr txBox="1"/>
          <p:nvPr/>
        </p:nvSpPr>
        <p:spPr>
          <a:xfrm>
            <a:off x="952500" y="4371975"/>
            <a:ext cx="10477500" cy="314325"/>
          </a:xfrm>
          <a:prstGeom prst="rect">
            <a:avLst/>
          </a:prstGeom>
        </p:spPr>
        <p:txBody>
          <a:bodyPr wrap="none" lIns="0" tIns="0" rIns="0" bIns="0"/>
          <a:p>
            <a:pPr>
              <a:lnSpc>
                <a:spcPct val="150000"/>
              </a:lnSpc>
            </a:pPr>
            <a:r>
              <a:rPr lang="en-US" sz="1350">
                <a:solidFill>
                  <a:srgbClr val="4A5568"/>
                </a:solidFill>
                <a:latin typeface="Source Han Sans"/>
                <a:ea typeface="Source Han Sans"/>
              </a:rPr>
              <a:t>12 / 30 student works on screen in 36 seconds</a:t>
            </a:r>
            <a:endParaRPr lang="en-US" sz="1350">
              <a:solidFill>
                <a:srgbClr val="4A5568"/>
              </a:solidFill>
              <a:latin typeface="Source Han Sans"/>
              <a:ea typeface="Source Han Sans"/>
            </a:endParaRPr>
          </a:p>
        </p:txBody>
      </p:sp>
      <p:sp>
        <p:nvSpPr>
          <p:cNvPr id="52" name="圆角矩形 51"/>
          <p:cNvSpPr/>
          <p:nvPr/>
        </p:nvSpPr>
        <p:spPr>
          <a:xfrm>
            <a:off x="762000" y="4895850"/>
            <a:ext cx="76200" cy="76200"/>
          </a:xfrm>
          <a:prstGeom prst="roundRect">
            <a:avLst>
              <a:gd name="adj" fmla="val 50000"/>
            </a:avLst>
          </a:prstGeom>
          <a:solidFill>
            <a:srgbClr val="57068C"/>
          </a:solidFill>
        </p:spPr>
        <p:txBody>
          <a:bodyPr/>
          <a:p/>
        </p:txBody>
      </p:sp>
      <p:sp>
        <p:nvSpPr>
          <p:cNvPr id="53" name="文本框 52" descr="{&quot;isTemplate&quot;:true,&quot;type&quot;:&quot;text&quot;}"/>
          <p:cNvSpPr txBox="1"/>
          <p:nvPr/>
        </p:nvSpPr>
        <p:spPr>
          <a:xfrm>
            <a:off x="952500" y="4781550"/>
            <a:ext cx="10477500" cy="314325"/>
          </a:xfrm>
          <a:prstGeom prst="rect">
            <a:avLst/>
          </a:prstGeom>
        </p:spPr>
        <p:txBody>
          <a:bodyPr wrap="none" lIns="0" tIns="0" rIns="0" bIns="0"/>
          <a:p>
            <a:pPr>
              <a:lnSpc>
                <a:spcPct val="150000"/>
              </a:lnSpc>
            </a:pPr>
            <a:r>
              <a:rPr lang="en-US" sz="1350">
                <a:solidFill>
                  <a:srgbClr val="4A5568"/>
                </a:solidFill>
                <a:latin typeface="Source Han Sans"/>
                <a:ea typeface="Source Han Sans"/>
              </a:rPr>
              <a:t>One case in depth: The Darkroom by Boyan</a:t>
            </a:r>
            <a:endParaRPr lang="en-US" sz="1350">
              <a:solidFill>
                <a:srgbClr val="4A5568"/>
              </a:solidFill>
              <a:latin typeface="Source Han Sans"/>
              <a:ea typeface="Source Han Sans"/>
            </a:endParaRPr>
          </a:p>
        </p:txBody>
      </p:sp>
      <p:sp>
        <p:nvSpPr>
          <p:cNvPr id="54" name="圆角矩形 53"/>
          <p:cNvSpPr/>
          <p:nvPr/>
        </p:nvSpPr>
        <p:spPr>
          <a:xfrm>
            <a:off x="762000" y="5305425"/>
            <a:ext cx="76200" cy="76200"/>
          </a:xfrm>
          <a:prstGeom prst="roundRect">
            <a:avLst>
              <a:gd name="adj" fmla="val 50000"/>
            </a:avLst>
          </a:prstGeom>
          <a:solidFill>
            <a:srgbClr val="57068C"/>
          </a:solidFill>
        </p:spPr>
        <p:txBody>
          <a:bodyPr/>
          <a:p/>
        </p:txBody>
      </p:sp>
      <p:sp>
        <p:nvSpPr>
          <p:cNvPr id="55" name="文本框 54" descr="{&quot;isTemplate&quot;:true,&quot;type&quot;:&quot;text&quot;}"/>
          <p:cNvSpPr txBox="1"/>
          <p:nvPr/>
        </p:nvSpPr>
        <p:spPr>
          <a:xfrm>
            <a:off x="952500" y="5191125"/>
            <a:ext cx="10477500" cy="314325"/>
          </a:xfrm>
          <a:prstGeom prst="rect">
            <a:avLst/>
          </a:prstGeom>
        </p:spPr>
        <p:txBody>
          <a:bodyPr wrap="none" lIns="0" tIns="0" rIns="0" bIns="0"/>
          <a:p>
            <a:pPr>
              <a:lnSpc>
                <a:spcPct val="150000"/>
              </a:lnSpc>
            </a:pPr>
            <a:r>
              <a:rPr lang="en-US" sz="1350">
                <a:solidFill>
                  <a:srgbClr val="4A5568"/>
                </a:solidFill>
                <a:latin typeface="Source Han Sans"/>
                <a:ea typeface="Source Han Sans"/>
              </a:rPr>
              <a:t>Three findings, and one honest limitation</a:t>
            </a:r>
            <a:endParaRPr lang="en-US" sz="1350">
              <a:solidFill>
                <a:srgbClr val="4A5568"/>
              </a:solidFill>
              <a:latin typeface="Source Han Sans"/>
              <a:ea typeface="Source Han Sans"/>
            </a:endParaRPr>
          </a:p>
        </p:txBody>
      </p:sp>
      <p:sp>
        <p:nvSpPr>
          <p:cNvPr id="56" name="圆角矩形 55"/>
          <p:cNvSpPr/>
          <p:nvPr/>
        </p:nvSpPr>
        <p:spPr>
          <a:xfrm>
            <a:off x="762000" y="5715000"/>
            <a:ext cx="76200" cy="76200"/>
          </a:xfrm>
          <a:prstGeom prst="roundRect">
            <a:avLst>
              <a:gd name="adj" fmla="val 50000"/>
            </a:avLst>
          </a:prstGeom>
          <a:solidFill>
            <a:srgbClr val="57068C"/>
          </a:solidFill>
        </p:spPr>
        <p:txBody>
          <a:bodyPr/>
          <a:p/>
        </p:txBody>
      </p:sp>
      <p:sp>
        <p:nvSpPr>
          <p:cNvPr id="57" name="文本框 56" descr="{&quot;isTemplate&quot;:true,&quot;type&quot;:&quot;text&quot;}"/>
          <p:cNvSpPr txBox="1"/>
          <p:nvPr/>
        </p:nvSpPr>
        <p:spPr>
          <a:xfrm>
            <a:off x="952500" y="5600700"/>
            <a:ext cx="10477500" cy="314325"/>
          </a:xfrm>
          <a:prstGeom prst="rect">
            <a:avLst/>
          </a:prstGeom>
        </p:spPr>
        <p:txBody>
          <a:bodyPr wrap="none" lIns="0" tIns="0" rIns="0" bIns="0"/>
          <a:p>
            <a:pPr>
              <a:lnSpc>
                <a:spcPct val="150000"/>
              </a:lnSpc>
            </a:pPr>
            <a:r>
              <a:rPr lang="en-US" sz="1350">
                <a:solidFill>
                  <a:srgbClr val="4A5568"/>
                </a:solidFill>
                <a:latin typeface="Source Han Sans"/>
                <a:ea typeface="Source Han Sans"/>
              </a:rPr>
              <a:t>Where the next generation of tools should point</a:t>
            </a:r>
            <a:endParaRPr lang="en-US" sz="1350">
              <a:solidFill>
                <a:srgbClr val="4A5568"/>
              </a:solidFill>
              <a:latin typeface="Source Han Sans"/>
              <a:ea typeface="Source Han Sans"/>
            </a:endParaRPr>
          </a:p>
        </p:txBody>
      </p:sp>
      <p:sp>
        <p:nvSpPr>
          <p:cNvPr id="58" name="文本框 57" descr="{&quot;isTemplate&quot;:true,&quot;type&quot;:&quot;text&quot;}"/>
          <p:cNvSpPr txBox="1"/>
          <p:nvPr/>
        </p:nvSpPr>
        <p:spPr>
          <a:xfrm>
            <a:off x="571500" y="6477000"/>
            <a:ext cx="3448050" cy="161925"/>
          </a:xfrm>
          <a:prstGeom prst="rect">
            <a:avLst/>
          </a:prstGeom>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lang="en-US" sz="1050">
              <a:solidFill>
                <a:srgbClr val="8B97A8"/>
              </a:solidFill>
              <a:latin typeface="Source Han Sans"/>
              <a:ea typeface="Source Han Sans"/>
            </a:endParaRPr>
          </a:p>
        </p:txBody>
      </p:sp>
      <p:sp>
        <p:nvSpPr>
          <p:cNvPr id="59" name="文本框 58" descr="{&quot;isTemplate&quot;:true,&quot;type&quot;:&quot;text&quot;}"/>
          <p:cNvSpPr txBox="1"/>
          <p:nvPr/>
        </p:nvSpPr>
        <p:spPr>
          <a:xfrm>
            <a:off x="11210925" y="6477000"/>
            <a:ext cx="409575" cy="161925"/>
          </a:xfrm>
          <a:prstGeom prst="rect">
            <a:avLst/>
          </a:prstGeom>
        </p:spPr>
        <p:txBody>
          <a:bodyPr wrap="none" lIns="0" tIns="0" rIns="0" bIns="0"/>
          <a:p>
            <a:pPr>
              <a:lnSpc>
                <a:spcPct val="100000"/>
              </a:lnSpc>
            </a:pPr>
            <a:r>
              <a:rPr lang="en-US" sz="1050" b="1">
                <a:solidFill>
                  <a:srgbClr val="57068C"/>
                </a:solidFill>
                <a:latin typeface="Source Han Sans"/>
                <a:ea typeface="Source Han Sans"/>
              </a:rPr>
              <a:t>11 / 16</a:t>
            </a:r>
            <a:endParaRPr lang="en-US" sz="1050" b="1">
              <a:solidFill>
                <a:srgbClr val="57068C"/>
              </a:solidFill>
              <a:latin typeface="Source Han Sans"/>
              <a:ea typeface="Source Ha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60" name="" descr="&lt;Slide style={{ width: '1280px', height: '720px', background: '#0E3F8C', position: 'relative', fontFamily: 'Source Han Sans, Noto Sans CJK SC, sans-serif' }}&gt;&#10;  &lt;Box style={{ position: 'absolute', top: 0, left: 0, width: '100%', height: 60, background: 'rgba(255,255,255,0.08)' }}&gt;&#10;    &lt;Text style={{ color: '#FFFFFF', fontSize: 22, fontWeight: 'bold', padding: '14px 60px' }}&gt;30 playable games, in two weeks, by zero-coding high-schoolers&lt;/Text&gt;&#10;  &lt;/Box&gt;&#10;  &lt;Box style={{ position: 'absolute', top: 90, left: 60, right: 60, bottom: 90, background: '#1A2230', borderRadius: 10, justifyContent: 'center', alignItems: 'center', flexDirection: 'column', gap: 16 }}&gt;&#10;    &lt;Text style={{ fontSize: 18, color: '#FFC107', fontWeight: 'bold', letterSpacing: 2 }}&gt;▶ PLAYING IN SLIDE SHOW&lt;/Text&gt;&#10;    &lt;Text style={{ fontSize: 22, color: '#E8EFF8', lineHeight: 1.4 }}&gt;12 works in 36 seconds&lt;/Text&gt;&#10;    &lt;Text style={{ fontSize: 16, color: '#8B97A8', lineHeight: 1.4 }}&gt;Skating · Rock climbing · Curling · Golf · Skiing · Cycling · Archery&lt;/Text&gt;&#10;    &lt;Text style={{ fontSize: 16, color: '#8B97A8', lineHeight: 1.4 }}&gt;Cello resonance · Granny square · First diagnosis · Virtual kitchen · Paper folding&lt;/Text&gt;&#10;  &lt;/Box&gt;&#10;  &lt;Box style={{ position: 'absolute', top: 0, left: 0, width: 40, height: 720, background: 'rgba(255,255,255,0.06)' }} /&gt;&#10;  &lt;Box style={{ position: 'absolute', top: 0, right: 0, width: 40, height: 720, background: 'rgba(255,255,255,0.06)' }} /&gt;&#10;  &lt;Box style={{ position: 'absolute', bottom: 0, left: 0, width: '100%', height: 50, flexDirection: 'row', justifyContent: 'space-between', alignItems: 'center', padding: '0 60px' }}&gt;&#10;    &lt;Text style={{ fontSize: 14, color: '#E8EFF8' }}&gt;Xingchen Zhang · NYU Shanghai · XJTLU 2026 · Panel 11&lt;/Text&gt;&#10;    &lt;Text style={{ fontSize: 14, color: '#FFFFFF', fontWeight: 'bold' }}&gt;12 / 16&lt;/Text&gt;&#10;  &lt;/Box&gt;&#10;&lt;/Slide&gt;&#10;"/>
        <p:cNvGrpSpPr/>
        <p:nvPr/>
      </p:nvGrpSpPr>
      <p:grpSpPr>
        <a:xfrm>
          <a:off x="0" y="0"/>
          <a:ext cx="0" cy="0"/>
          <a:chOff x="0" y="0"/>
          <a:chExt cx="0" cy="0"/>
        </a:xfrm>
      </p:grpSpPr>
      <p:sp>
        <p:nvSpPr>
          <p:cNvPr id="61" name="矩形 60"/>
          <p:cNvSpPr/>
          <p:nvPr/>
        </p:nvSpPr>
        <p:spPr>
          <a:xfrm>
            <a:off x="0" y="0"/>
            <a:ext cx="12192000" cy="6858000"/>
          </a:xfrm>
          <a:prstGeom prst="rect">
            <a:avLst/>
          </a:prstGeom>
          <a:solidFill>
            <a:srgbClr val="330662"/>
          </a:solidFill>
        </p:spPr>
        <p:txBody>
          <a:bodyPr/>
          <a:p/>
        </p:txBody>
      </p:sp>
      <p:sp>
        <p:nvSpPr>
          <p:cNvPr id="62" name="矩形 61"/>
          <p:cNvSpPr/>
          <p:nvPr/>
        </p:nvSpPr>
        <p:spPr>
          <a:xfrm>
            <a:off x="0" y="0"/>
            <a:ext cx="12192000" cy="571500"/>
          </a:xfrm>
          <a:prstGeom prst="rect">
            <a:avLst/>
          </a:prstGeom>
          <a:solidFill>
            <a:srgbClr val="FFFFFF">
              <a:alpha val="8000"/>
            </a:srgbClr>
          </a:solidFill>
        </p:spPr>
        <p:txBody>
          <a:bodyPr/>
          <a:p/>
        </p:txBody>
      </p:sp>
      <p:sp>
        <p:nvSpPr>
          <p:cNvPr id="63" name="文本框 62" descr="{&quot;isTemplate&quot;:true,&quot;type&quot;:&quot;text&quot;}"/>
          <p:cNvSpPr txBox="1"/>
          <p:nvPr/>
        </p:nvSpPr>
        <p:spPr>
          <a:xfrm>
            <a:off x="0" y="0"/>
            <a:ext cx="12192000" cy="523875"/>
          </a:xfrm>
          <a:prstGeom prst="rect">
            <a:avLst/>
          </a:prstGeom>
        </p:spPr>
        <p:txBody>
          <a:bodyPr wrap="none" lIns="428625" tIns="100013" rIns="428625" bIns="100013"/>
          <a:p>
            <a:pPr>
              <a:lnSpc>
                <a:spcPct val="100000"/>
              </a:lnSpc>
            </a:pPr>
            <a:r>
              <a:rPr lang="en-US" sz="1650" b="1">
                <a:solidFill>
                  <a:srgbClr val="FFFFFF"/>
                </a:solidFill>
                <a:latin typeface="Source Han Sans"/>
                <a:ea typeface="Source Han Sans"/>
              </a:rPr>
              <a:t>30 playable games, in two weeks, by zero-coding high-schoolers</a:t>
            </a:r>
            <a:endParaRPr lang="en-US" sz="1650" b="1">
              <a:solidFill>
                <a:srgbClr val="FFFFFF"/>
              </a:solidFill>
              <a:latin typeface="Source Han Sans"/>
              <a:ea typeface="Source Han Sans"/>
            </a:endParaRPr>
          </a:p>
        </p:txBody>
      </p:sp>
      <p:sp>
        <p:nvSpPr>
          <p:cNvPr id="64" name="圆角矩形 63"/>
          <p:cNvSpPr/>
          <p:nvPr/>
        </p:nvSpPr>
        <p:spPr>
          <a:xfrm>
            <a:off x="571500" y="857250"/>
            <a:ext cx="11049000" cy="5143500"/>
          </a:xfrm>
          <a:prstGeom prst="roundRect">
            <a:avLst>
              <a:gd name="adj" fmla="val 1852"/>
            </a:avLst>
          </a:prstGeom>
          <a:solidFill>
            <a:srgbClr val="1A2230"/>
          </a:solidFill>
        </p:spPr>
        <p:txBody>
          <a:bodyPr/>
          <a:p/>
        </p:txBody>
      </p:sp>
      <p:sp>
        <p:nvSpPr>
          <p:cNvPr id="65" name="文本框 64" descr="{&quot;isTemplate&quot;:true,&quot;type&quot;:&quot;text&quot;}"/>
          <p:cNvSpPr txBox="1"/>
          <p:nvPr/>
        </p:nvSpPr>
        <p:spPr>
          <a:xfrm>
            <a:off x="4724400" y="2667000"/>
            <a:ext cx="2752725" cy="209550"/>
          </a:xfrm>
          <a:prstGeom prst="rect">
            <a:avLst/>
          </a:prstGeom>
        </p:spPr>
        <p:txBody>
          <a:bodyPr wrap="none" lIns="0" tIns="0" rIns="0" bIns="0"/>
          <a:p>
            <a:pPr>
              <a:lnSpc>
                <a:spcPct val="100000"/>
              </a:lnSpc>
            </a:pPr>
            <a:r>
              <a:rPr lang="en-US" sz="1350" b="1" spc="150">
                <a:solidFill>
                  <a:srgbClr val="FFC107"/>
                </a:solidFill>
                <a:latin typeface="Source Han Sans"/>
                <a:ea typeface="Source Han Sans"/>
              </a:rPr>
              <a:t>▶ PLAYING IN SLIDE SHOW</a:t>
            </a:r>
            <a:endParaRPr lang="en-US" sz="1350" b="1" spc="150">
              <a:solidFill>
                <a:srgbClr val="FFC107"/>
              </a:solidFill>
              <a:latin typeface="Source Han Sans"/>
              <a:ea typeface="Source Han Sans"/>
            </a:endParaRPr>
          </a:p>
        </p:txBody>
      </p:sp>
      <p:sp>
        <p:nvSpPr>
          <p:cNvPr id="66" name="文本框 65" descr="{&quot;isTemplate&quot;:true,&quot;type&quot;:&quot;text&quot;}"/>
          <p:cNvSpPr txBox="1"/>
          <p:nvPr/>
        </p:nvSpPr>
        <p:spPr>
          <a:xfrm>
            <a:off x="5000625" y="3028950"/>
            <a:ext cx="2190750" cy="352425"/>
          </a:xfrm>
          <a:prstGeom prst="rect">
            <a:avLst/>
          </a:prstGeom>
        </p:spPr>
        <p:txBody>
          <a:bodyPr wrap="none" lIns="0" tIns="0" rIns="0" bIns="0"/>
          <a:p>
            <a:pPr>
              <a:lnSpc>
                <a:spcPct val="140000"/>
              </a:lnSpc>
            </a:pPr>
            <a:r>
              <a:rPr lang="en-US" sz="1650">
                <a:solidFill>
                  <a:srgbClr val="EEE6F3"/>
                </a:solidFill>
                <a:latin typeface="Source Han Sans"/>
                <a:ea typeface="Source Han Sans"/>
              </a:rPr>
              <a:t>12 works in 36 seconds</a:t>
            </a:r>
            <a:endParaRPr lang="en-US" sz="1650">
              <a:solidFill>
                <a:srgbClr val="EEE6F3"/>
              </a:solidFill>
              <a:latin typeface="Source Han Sans"/>
              <a:ea typeface="Source Han Sans"/>
            </a:endParaRPr>
          </a:p>
        </p:txBody>
      </p:sp>
      <p:sp>
        <p:nvSpPr>
          <p:cNvPr id="67" name="文本框 66" descr="{&quot;isTemplate&quot;:true,&quot;type&quot;:&quot;text&quot;}"/>
          <p:cNvSpPr txBox="1"/>
          <p:nvPr/>
        </p:nvSpPr>
        <p:spPr>
          <a:xfrm>
            <a:off x="3886200" y="3533775"/>
            <a:ext cx="4429125" cy="257175"/>
          </a:xfrm>
          <a:prstGeom prst="rect">
            <a:avLst/>
          </a:prstGeom>
        </p:spPr>
        <p:txBody>
          <a:bodyPr wrap="none" lIns="0" tIns="0" rIns="0" bIns="0"/>
          <a:p>
            <a:pPr>
              <a:lnSpc>
                <a:spcPct val="140000"/>
              </a:lnSpc>
            </a:pPr>
            <a:r>
              <a:rPr lang="en-US" sz="1200">
                <a:solidFill>
                  <a:srgbClr val="8B97A8"/>
                </a:solidFill>
                <a:latin typeface="Source Han Sans"/>
                <a:ea typeface="Source Han Sans"/>
              </a:rPr>
              <a:t>Skating · Rock climbing · Curling · Golf · Skiing · Cycling · Archery</a:t>
            </a:r>
            <a:endParaRPr lang="en-US" sz="1200">
              <a:solidFill>
                <a:srgbClr val="8B97A8"/>
              </a:solidFill>
              <a:latin typeface="Source Han Sans"/>
              <a:ea typeface="Source Han Sans"/>
            </a:endParaRPr>
          </a:p>
        </p:txBody>
      </p:sp>
      <p:sp>
        <p:nvSpPr>
          <p:cNvPr id="68" name="文本框 67" descr="{&quot;isTemplate&quot;:true,&quot;type&quot;:&quot;text&quot;}"/>
          <p:cNvSpPr txBox="1"/>
          <p:nvPr/>
        </p:nvSpPr>
        <p:spPr>
          <a:xfrm>
            <a:off x="3371850" y="3943350"/>
            <a:ext cx="5457825" cy="257175"/>
          </a:xfrm>
          <a:prstGeom prst="rect">
            <a:avLst/>
          </a:prstGeom>
        </p:spPr>
        <p:txBody>
          <a:bodyPr wrap="none" lIns="0" tIns="0" rIns="0" bIns="0"/>
          <a:p>
            <a:pPr>
              <a:lnSpc>
                <a:spcPct val="140000"/>
              </a:lnSpc>
            </a:pPr>
            <a:r>
              <a:rPr lang="en-US" sz="1200">
                <a:solidFill>
                  <a:srgbClr val="8B97A8"/>
                </a:solidFill>
                <a:latin typeface="Source Han Sans"/>
                <a:ea typeface="Source Han Sans"/>
              </a:rPr>
              <a:t>Cello resonance · Granny square · First diagnosis · Virtual kitchen · Paper folding</a:t>
            </a:r>
            <a:endParaRPr lang="en-US" sz="1200">
              <a:solidFill>
                <a:srgbClr val="8B97A8"/>
              </a:solidFill>
              <a:latin typeface="Source Han Sans"/>
              <a:ea typeface="Source Han Sans"/>
            </a:endParaRPr>
          </a:p>
        </p:txBody>
      </p:sp>
      <p:sp>
        <p:nvSpPr>
          <p:cNvPr id="69" name="矩形 68"/>
          <p:cNvSpPr/>
          <p:nvPr/>
        </p:nvSpPr>
        <p:spPr>
          <a:xfrm>
            <a:off x="0" y="0"/>
            <a:ext cx="381000" cy="6858000"/>
          </a:xfrm>
          <a:prstGeom prst="rect">
            <a:avLst/>
          </a:prstGeom>
          <a:solidFill>
            <a:srgbClr val="FFFFFF">
              <a:alpha val="6000"/>
            </a:srgbClr>
          </a:solidFill>
        </p:spPr>
        <p:txBody>
          <a:bodyPr/>
          <a:p/>
        </p:txBody>
      </p:sp>
      <p:sp>
        <p:nvSpPr>
          <p:cNvPr id="70" name="矩形 69"/>
          <p:cNvSpPr/>
          <p:nvPr/>
        </p:nvSpPr>
        <p:spPr>
          <a:xfrm>
            <a:off x="11811000" y="0"/>
            <a:ext cx="381000" cy="6858000"/>
          </a:xfrm>
          <a:prstGeom prst="rect">
            <a:avLst/>
          </a:prstGeom>
          <a:solidFill>
            <a:srgbClr val="FFFFFF">
              <a:alpha val="6000"/>
            </a:srgbClr>
          </a:solidFill>
        </p:spPr>
        <p:txBody>
          <a:bodyPr/>
          <a:p/>
        </p:txBody>
      </p:sp>
      <p:sp>
        <p:nvSpPr>
          <p:cNvPr id="71" name="文本框 70" descr="{&quot;isTemplate&quot;:true,&quot;type&quot;:&quot;text&quot;}"/>
          <p:cNvSpPr txBox="1"/>
          <p:nvPr/>
        </p:nvSpPr>
        <p:spPr>
          <a:xfrm>
            <a:off x="571500" y="6543675"/>
            <a:ext cx="3448050" cy="161925"/>
          </a:xfrm>
          <a:prstGeom prst="rect">
            <a:avLst/>
          </a:prstGeom>
        </p:spPr>
        <p:txBody>
          <a:bodyPr wrap="none" lIns="0" tIns="0" rIns="0" bIns="0"/>
          <a:p>
            <a:pPr>
              <a:lnSpc>
                <a:spcPct val="100000"/>
              </a:lnSpc>
            </a:pPr>
            <a:r>
              <a:rPr lang="en-US" sz="1050">
                <a:solidFill>
                  <a:srgbClr val="EEE6F3"/>
                </a:solidFill>
                <a:latin typeface="Source Han Sans"/>
                <a:ea typeface="Source Han Sans"/>
              </a:rPr>
              <a:t>Xingchen Zhang · NYU Shanghai · XJTLU 2026 · Panel 11</a:t>
            </a:r>
            <a:endParaRPr lang="en-US" sz="1050">
              <a:solidFill>
                <a:srgbClr val="EEE6F3"/>
              </a:solidFill>
              <a:latin typeface="Source Han Sans"/>
              <a:ea typeface="Source Han Sans"/>
            </a:endParaRPr>
          </a:p>
        </p:txBody>
      </p:sp>
      <p:sp>
        <p:nvSpPr>
          <p:cNvPr id="72" name="文本框 71" descr="{&quot;isTemplate&quot;:true,&quot;type&quot;:&quot;text&quot;}"/>
          <p:cNvSpPr txBox="1"/>
          <p:nvPr/>
        </p:nvSpPr>
        <p:spPr>
          <a:xfrm>
            <a:off x="11210925" y="6543675"/>
            <a:ext cx="409575" cy="161925"/>
          </a:xfrm>
          <a:prstGeom prst="rect">
            <a:avLst/>
          </a:prstGeom>
        </p:spPr>
        <p:txBody>
          <a:bodyPr wrap="none" lIns="0" tIns="0" rIns="0" bIns="0"/>
          <a:p>
            <a:pPr>
              <a:lnSpc>
                <a:spcPct val="100000"/>
              </a:lnSpc>
            </a:pPr>
            <a:r>
              <a:rPr lang="en-US" sz="1050" b="1">
                <a:solidFill>
                  <a:srgbClr val="FFFFFF"/>
                </a:solidFill>
                <a:latin typeface="Source Han Sans"/>
                <a:ea typeface="Source Han Sans"/>
              </a:rPr>
              <a:t>12 / 16</a:t>
            </a:r>
            <a:endParaRPr lang="en-US" sz="1050" b="1">
              <a:solidFill>
                <a:srgbClr val="FFFFFF"/>
              </a:solidFill>
              <a:latin typeface="Source Han Sans"/>
              <a:ea typeface="Source Han Sans"/>
            </a:endParaRPr>
          </a:p>
        </p:txBody>
      </p:sp>
      <p:pic>
        <p:nvPicPr>
          <p:cNvPr id="1" name="showreel-with-music">
            <a:hlinkClick r:id="" action="ppaction://media"/>
          </p:cNvPr>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12192000" cy="6858000"/>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1"/>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73" name="" descr="&lt;Slide style={{ width: '1280px', height: '720px', background: '#FFFFFF', position: 'relative', fontFamily: 'Source Han Sans, Noto Sans CJK SC, sans-serif' }}&gt;&#10;  &lt;Box style={{ position: 'absolute', top: 0, left: 0, width: '100%', height: 60, background: '#0E3F8C' }}&gt;&#10;    &lt;Text style={{ color: '#FFFFFF', fontSize: 22, fontWeight: 'bold', padding: '14px 60px' }}&gt;One student’s system description: The Darkroom&lt;/Text&gt;&#10;  &lt;/Box&gt;&#10;  &lt;Box style={{ position: 'absolute', top: 90, left: 60, width: 720, height: 520, background: '#F7F9FC', border: '1px solid #D6DCE5', borderRadius: 8, justifyContent: 'center', alignItems: 'center', padding: 12 }}&gt;&#10;    &lt;Image src=&quot;assets/case-darkroom-canva.png&quot; style={{ width: '100%', height: '100%', objectFit: 'contain' }} /&gt;&#10;  &lt;/Box&gt;&#10;  &lt;Box style={{ position: 'absolute', top: 90, right: 60, width: 440, height: 520, flexDirection: 'column', gap: 16 }}&gt;&#10;    &lt;Box style={{ flexDirection: 'column', gap: 6 }}&gt;&#10;      &lt;Text style={{ fontSize: 12, color: '#1E4FA8', fontWeight: 'bold', letterSpacing: 2 }}&gt;CASE&lt;/Text&gt;&#10;      &lt;Text style={{ fontSize: 24, fontWeight: 'bold', color: '#0E3F8C' }}&gt;Boyan · NYU Summer 2026&lt;/Text&gt;&#10;    &lt;/Box&gt;&#10;    &lt;Box style={{ padding: 14, background: '#F0F5FC', borderRadius: 8, flexDirection: 'column', gap: 6 }}&gt;&#10;      &lt;Text style={{ fontSize: 13, color: '#1E4FA8', fontWeight: 'bold', letterSpacing: 1 }}&gt;LIVED EXPERIENCE&lt;/Text&gt;&#10;      &lt;Text style={{ fontSize: 15, color: '#1A2230', lineHeight: 1.45 }}&gt;&#10;        The frustration of a long-exposure photograph that comes back too dark, too bright, or too washed out to read.&#10;      &lt;/Text&gt;&#10;    &lt;/Box&gt;&#10;    &lt;Box style={{ padding: 14, background: '#F0F5FC', borderRadius: 8, flexDirection: 'column', gap: 6 }}&gt;&#10;      &lt;Text style={{ fontSize: 13, color: '#1E4FA8', fontWeight: 'bold', letterSpacing: 1 }}&gt;DATA&lt;/Text&gt;&#10;      &lt;Text style={{ fontSize: 15, color: '#1A2230', lineHeight: 1.5 }}&gt;&#10;        ES (Exposure State) · LT (Light Trail) · TD (Trail Duration) · GT (Game Time)&#10;      &lt;/Text&gt;&#10;    &lt;/Box&gt;&#10;    &lt;Box style={{ padding: 14, background: '#0E3F8C', borderRadius: 8, flexDirection: 'column', gap: 4 }}&gt;&#10;      &lt;Text style={{ fontSize: 13, color: '#FFC107', fontWeight: 'bold', letterSpacing: 1 }}&gt;BUILD + LOG&lt;/Text&gt;&#10;      &lt;Text style={{ fontSize: 18, color: '#FFFFFF', fontWeight: 'bold' }}&gt;51 Unity scripts · 72 logged interactions&lt;/Text&gt;&#10;    &lt;/Box&gt;&#10;    &lt;Box style={{ padding: 14, background: '#FFFFFF', border: '1px solid #E5E7EB', borderRadius: 8, flexDirection: 'column', gap: 4 }}&gt;&#10;      &lt;Text style={{ fontSize: 13, color: '#1E4FA8', fontWeight: 'bold', letterSpacing: 1 }}&gt;STUDENT DECISION&lt;/Text&gt;&#10;      &lt;Text style={{ fontSize: 13, color: '#4A5568', lineHeight: 1.45, fontStyle: 'italic' }}&gt;&#10;        “The trail becomes a platform; overexposure makes the trail too unstable to use safely, but you can burn shadows to activate photo sensors.” — Boyan&#10;      &lt;/Text&gt;&#10;    &lt;/Box&gt;&#10;  &lt;/Box&gt;&#10;  &lt;Box style={{ position: 'absolute', top: 680, left: 60, right: 60, flexDirection: 'row', justifyContent: 'space-between' }}&gt;&#10;    &lt;Text style={{ fontSize: 14, color: '#8B97A8' }}&gt;Xingchen Zhang · NYU Shanghai · XJTLU 2026 · Panel 11&lt;/Text&gt;&#10;    &lt;Text style={{ fontSize: 14, color: '#1E4FA8', fontWeight: 'bold' }}&gt;13 / 16&lt;/Text&gt;&#10;  &lt;/Box&gt;&#10;&lt;/Slide&gt;&#10;"/>
        <p:cNvGrpSpPr/>
        <p:nvPr/>
      </p:nvGrpSpPr>
      <p:grpSpPr>
        <a:xfrm>
          <a:off x="0" y="0"/>
          <a:ext cx="0" cy="0"/>
          <a:chOff x="0" y="0"/>
          <a:chExt cx="0" cy="0"/>
        </a:xfrm>
      </p:grpSpPr>
      <p:sp>
        <p:nvSpPr>
          <p:cNvPr id="74" name="矩形 73"/>
          <p:cNvSpPr/>
          <p:nvPr/>
        </p:nvSpPr>
        <p:spPr>
          <a:xfrm>
            <a:off x="0" y="0"/>
            <a:ext cx="12192000" cy="6858000"/>
          </a:xfrm>
          <a:prstGeom prst="rect">
            <a:avLst/>
          </a:prstGeom>
          <a:solidFill>
            <a:srgbClr val="FFFFFF"/>
          </a:solidFill>
        </p:spPr>
        <p:txBody>
          <a:bodyPr/>
          <a:p/>
        </p:txBody>
      </p:sp>
      <p:sp>
        <p:nvSpPr>
          <p:cNvPr id="75" name="矩形 74"/>
          <p:cNvSpPr/>
          <p:nvPr/>
        </p:nvSpPr>
        <p:spPr>
          <a:xfrm>
            <a:off x="0" y="0"/>
            <a:ext cx="12192000" cy="571500"/>
          </a:xfrm>
          <a:prstGeom prst="rect">
            <a:avLst/>
          </a:prstGeom>
          <a:solidFill>
            <a:srgbClr val="330662"/>
          </a:solidFill>
        </p:spPr>
        <p:txBody>
          <a:bodyPr/>
          <a:p/>
        </p:txBody>
      </p:sp>
      <p:sp>
        <p:nvSpPr>
          <p:cNvPr id="76" name="文本框 75" descr="{&quot;isTemplate&quot;:true,&quot;type&quot;:&quot;text&quot;}"/>
          <p:cNvSpPr txBox="1"/>
          <p:nvPr/>
        </p:nvSpPr>
        <p:spPr>
          <a:xfrm>
            <a:off x="0" y="0"/>
            <a:ext cx="12192000" cy="523875"/>
          </a:xfrm>
          <a:prstGeom prst="rect">
            <a:avLst/>
          </a:prstGeom>
        </p:spPr>
        <p:txBody>
          <a:bodyPr wrap="none" lIns="428625" tIns="100013" rIns="428625" bIns="100013"/>
          <a:p>
            <a:pPr>
              <a:lnSpc>
                <a:spcPct val="100000"/>
              </a:lnSpc>
            </a:pPr>
            <a:r>
              <a:rPr lang="en-US" sz="1650" b="1">
                <a:solidFill>
                  <a:srgbClr val="FFFFFF"/>
                </a:solidFill>
                <a:latin typeface="Source Han Sans"/>
                <a:ea typeface="Source Han Sans"/>
              </a:rPr>
              <a:t>One student’s system description: The Darkroom</a:t>
            </a:r>
            <a:endParaRPr lang="en-US" sz="1650" b="1">
              <a:solidFill>
                <a:srgbClr val="FFFFFF"/>
              </a:solidFill>
              <a:latin typeface="Source Han Sans"/>
              <a:ea typeface="Source Han Sans"/>
            </a:endParaRPr>
          </a:p>
        </p:txBody>
      </p:sp>
      <p:sp>
        <p:nvSpPr>
          <p:cNvPr id="77" name="圆角矩形 76"/>
          <p:cNvSpPr/>
          <p:nvPr/>
        </p:nvSpPr>
        <p:spPr>
          <a:xfrm>
            <a:off x="571500" y="857250"/>
            <a:ext cx="6858000" cy="4953000"/>
          </a:xfrm>
          <a:prstGeom prst="roundRect">
            <a:avLst>
              <a:gd name="adj" fmla="val 1538"/>
            </a:avLst>
          </a:prstGeom>
          <a:solidFill>
            <a:srgbClr val="FAF8FC"/>
          </a:solidFill>
          <a:ln w="12700">
            <a:solidFill>
              <a:srgbClr val="D9D0E4"/>
            </a:solidFill>
            <a:prstDash val="solid"/>
          </a:ln>
        </p:spPr>
        <p:txBody>
          <a:bodyPr/>
          <a:p/>
        </p:txBody>
      </p:sp>
      <p:sp>
        <p:nvSpPr>
          <p:cNvPr id="79" name="文本框 78" descr="{&quot;isTemplate&quot;:true,&quot;type&quot;:&quot;text&quot;}"/>
          <p:cNvSpPr txBox="1"/>
          <p:nvPr/>
        </p:nvSpPr>
        <p:spPr>
          <a:xfrm>
            <a:off x="7429500" y="857250"/>
            <a:ext cx="4191000" cy="142875"/>
          </a:xfrm>
          <a:prstGeom prst="rect">
            <a:avLst/>
          </a:prstGeom>
        </p:spPr>
        <p:txBody>
          <a:bodyPr wrap="none" lIns="0" tIns="0" rIns="0" bIns="0"/>
          <a:p>
            <a:pPr>
              <a:lnSpc>
                <a:spcPct val="100000"/>
              </a:lnSpc>
            </a:pPr>
            <a:r>
              <a:rPr lang="en-US" sz="900" b="1" spc="150">
                <a:solidFill>
                  <a:srgbClr val="57068C"/>
                </a:solidFill>
                <a:latin typeface="Source Han Sans"/>
                <a:ea typeface="Source Han Sans"/>
              </a:rPr>
              <a:t>CASE</a:t>
            </a:r>
            <a:endParaRPr lang="en-US" sz="900" b="1" spc="150">
              <a:solidFill>
                <a:srgbClr val="57068C"/>
              </a:solidFill>
              <a:latin typeface="Source Han Sans"/>
              <a:ea typeface="Source Han Sans"/>
            </a:endParaRPr>
          </a:p>
        </p:txBody>
      </p:sp>
      <p:sp>
        <p:nvSpPr>
          <p:cNvPr id="80" name="文本框 79" descr="{&quot;isTemplate&quot;:true,&quot;type&quot;:&quot;text&quot;}"/>
          <p:cNvSpPr txBox="1"/>
          <p:nvPr/>
        </p:nvSpPr>
        <p:spPr>
          <a:xfrm>
            <a:off x="7429500" y="1057275"/>
            <a:ext cx="4191000" cy="276225"/>
          </a:xfrm>
          <a:prstGeom prst="rect">
            <a:avLst/>
          </a:prstGeom>
        </p:spPr>
        <p:txBody>
          <a:bodyPr wrap="none" lIns="0" tIns="0" rIns="0" bIns="0"/>
          <a:p>
            <a:pPr>
              <a:lnSpc>
                <a:spcPct val="100000"/>
              </a:lnSpc>
            </a:pPr>
            <a:r>
              <a:rPr lang="en-US" sz="1800" b="1">
                <a:solidFill>
                  <a:srgbClr val="330662"/>
                </a:solidFill>
                <a:latin typeface="Source Han Sans"/>
                <a:ea typeface="Source Han Sans"/>
              </a:rPr>
              <a:t>Boyan · NYU Summer 2026</a:t>
            </a:r>
            <a:endParaRPr lang="en-US" sz="1800" b="1">
              <a:solidFill>
                <a:srgbClr val="330662"/>
              </a:solidFill>
              <a:latin typeface="Source Han Sans"/>
              <a:ea typeface="Source Han Sans"/>
            </a:endParaRPr>
          </a:p>
        </p:txBody>
      </p:sp>
      <p:sp>
        <p:nvSpPr>
          <p:cNvPr id="81" name="圆角矩形 80"/>
          <p:cNvSpPr/>
          <p:nvPr/>
        </p:nvSpPr>
        <p:spPr>
          <a:xfrm>
            <a:off x="7429500" y="1485900"/>
            <a:ext cx="4191000" cy="981075"/>
          </a:xfrm>
          <a:prstGeom prst="roundRect">
            <a:avLst>
              <a:gd name="adj" fmla="val 7767"/>
            </a:avLst>
          </a:prstGeom>
          <a:solidFill>
            <a:srgbClr val="F6F1FA"/>
          </a:solidFill>
        </p:spPr>
        <p:txBody>
          <a:bodyPr/>
          <a:p/>
        </p:txBody>
      </p:sp>
      <p:sp>
        <p:nvSpPr>
          <p:cNvPr id="82" name="文本框 81" descr="{&quot;isTemplate&quot;:true,&quot;type&quot;:&quot;text&quot;}"/>
          <p:cNvSpPr txBox="1"/>
          <p:nvPr/>
        </p:nvSpPr>
        <p:spPr>
          <a:xfrm>
            <a:off x="7562850" y="1619250"/>
            <a:ext cx="3924300" cy="152400"/>
          </a:xfrm>
          <a:prstGeom prst="rect">
            <a:avLst/>
          </a:prstGeom>
        </p:spPr>
        <p:txBody>
          <a:bodyPr wrap="none" lIns="0" tIns="0" rIns="0" bIns="0"/>
          <a:p>
            <a:pPr>
              <a:lnSpc>
                <a:spcPct val="100000"/>
              </a:lnSpc>
            </a:pPr>
            <a:r>
              <a:rPr lang="en-US" sz="975" b="1" spc="75">
                <a:solidFill>
                  <a:srgbClr val="57068C"/>
                </a:solidFill>
                <a:latin typeface="Source Han Sans"/>
                <a:ea typeface="Source Han Sans"/>
              </a:rPr>
              <a:t>LIVED EXPERIENCE</a:t>
            </a:r>
            <a:endParaRPr lang="en-US" sz="975" b="1" spc="75">
              <a:solidFill>
                <a:srgbClr val="57068C"/>
              </a:solidFill>
              <a:latin typeface="Source Han Sans"/>
              <a:ea typeface="Source Han Sans"/>
            </a:endParaRPr>
          </a:p>
        </p:txBody>
      </p:sp>
      <p:sp>
        <p:nvSpPr>
          <p:cNvPr id="83" name="文本框 82" descr="{&quot;isTemplate&quot;:true,&quot;type&quot;:&quot;text&quot;}"/>
          <p:cNvSpPr txBox="1"/>
          <p:nvPr/>
        </p:nvSpPr>
        <p:spPr>
          <a:xfrm>
            <a:off x="7562850" y="1828800"/>
            <a:ext cx="3924300" cy="504825"/>
          </a:xfrm>
          <a:prstGeom prst="rect">
            <a:avLst/>
          </a:prstGeom>
        </p:spPr>
        <p:txBody>
          <a:bodyPr wrap="square" lIns="0" tIns="0" rIns="0" bIns="0">
            <a:normAutofit/>
          </a:bodyPr>
          <a:p>
            <a:pPr>
              <a:lnSpc>
                <a:spcPct val="145000"/>
              </a:lnSpc>
            </a:pPr>
            <a:r>
              <a:rPr lang="en-US" sz="1125">
                <a:solidFill>
                  <a:srgbClr val="1A2230"/>
                </a:solidFill>
                <a:latin typeface="Source Han Sans"/>
                <a:ea typeface="Source Han Sans"/>
              </a:rPr>
              <a:t>The frustration of a long-exposure photograph that comes back too dark, too bright, or too washed out to read.</a:t>
            </a:r>
            <a:endParaRPr lang="en-US" sz="1125">
              <a:solidFill>
                <a:srgbClr val="1A2230"/>
              </a:solidFill>
              <a:latin typeface="Source Han Sans"/>
              <a:ea typeface="Source Han Sans"/>
            </a:endParaRPr>
          </a:p>
        </p:txBody>
      </p:sp>
      <p:sp>
        <p:nvSpPr>
          <p:cNvPr id="84" name="圆角矩形 83"/>
          <p:cNvSpPr/>
          <p:nvPr/>
        </p:nvSpPr>
        <p:spPr>
          <a:xfrm>
            <a:off x="7429500" y="2619375"/>
            <a:ext cx="4191000" cy="990600"/>
          </a:xfrm>
          <a:prstGeom prst="roundRect">
            <a:avLst>
              <a:gd name="adj" fmla="val 7692"/>
            </a:avLst>
          </a:prstGeom>
          <a:solidFill>
            <a:srgbClr val="F6F1FA"/>
          </a:solidFill>
        </p:spPr>
        <p:txBody>
          <a:bodyPr/>
          <a:p/>
        </p:txBody>
      </p:sp>
      <p:sp>
        <p:nvSpPr>
          <p:cNvPr id="85" name="文本框 84" descr="{&quot;isTemplate&quot;:true,&quot;type&quot;:&quot;text&quot;}"/>
          <p:cNvSpPr txBox="1"/>
          <p:nvPr/>
        </p:nvSpPr>
        <p:spPr>
          <a:xfrm>
            <a:off x="7562850" y="2752725"/>
            <a:ext cx="3924300" cy="152400"/>
          </a:xfrm>
          <a:prstGeom prst="rect">
            <a:avLst/>
          </a:prstGeom>
        </p:spPr>
        <p:txBody>
          <a:bodyPr wrap="none" lIns="0" tIns="0" rIns="0" bIns="0"/>
          <a:p>
            <a:pPr>
              <a:lnSpc>
                <a:spcPct val="100000"/>
              </a:lnSpc>
            </a:pPr>
            <a:r>
              <a:rPr lang="en-US" sz="975" b="1" spc="75">
                <a:solidFill>
                  <a:srgbClr val="57068C"/>
                </a:solidFill>
                <a:latin typeface="Source Han Sans"/>
                <a:ea typeface="Source Han Sans"/>
              </a:rPr>
              <a:t>DATA</a:t>
            </a:r>
            <a:endParaRPr lang="en-US" sz="975" b="1" spc="75">
              <a:solidFill>
                <a:srgbClr val="57068C"/>
              </a:solidFill>
              <a:latin typeface="Source Han Sans"/>
              <a:ea typeface="Source Han Sans"/>
            </a:endParaRPr>
          </a:p>
        </p:txBody>
      </p:sp>
      <p:sp>
        <p:nvSpPr>
          <p:cNvPr id="86" name="文本框 85" descr="{&quot;isTemplate&quot;:true,&quot;type&quot;:&quot;text&quot;}"/>
          <p:cNvSpPr txBox="1"/>
          <p:nvPr/>
        </p:nvSpPr>
        <p:spPr>
          <a:xfrm>
            <a:off x="7562850" y="2962275"/>
            <a:ext cx="3924300" cy="514350"/>
          </a:xfrm>
          <a:prstGeom prst="rect">
            <a:avLst/>
          </a:prstGeom>
        </p:spPr>
        <p:txBody>
          <a:bodyPr wrap="square" lIns="0" tIns="0" rIns="0" bIns="0">
            <a:normAutofit/>
          </a:bodyPr>
          <a:p>
            <a:pPr>
              <a:lnSpc>
                <a:spcPct val="150000"/>
              </a:lnSpc>
            </a:pPr>
            <a:r>
              <a:rPr lang="en-US" sz="1125">
                <a:solidFill>
                  <a:srgbClr val="1A2230"/>
                </a:solidFill>
                <a:latin typeface="Source Han Sans"/>
                <a:ea typeface="Source Han Sans"/>
              </a:rPr>
              <a:t>ES (Exposure State) · LT (Light Trail) · TD (Trail Duration) · GT (Game Time)</a:t>
            </a:r>
            <a:endParaRPr lang="en-US" sz="1125">
              <a:solidFill>
                <a:srgbClr val="1A2230"/>
              </a:solidFill>
              <a:latin typeface="Source Han Sans"/>
              <a:ea typeface="Source Han Sans"/>
            </a:endParaRPr>
          </a:p>
        </p:txBody>
      </p:sp>
      <p:sp>
        <p:nvSpPr>
          <p:cNvPr id="87" name="圆角矩形 86"/>
          <p:cNvSpPr/>
          <p:nvPr/>
        </p:nvSpPr>
        <p:spPr>
          <a:xfrm>
            <a:off x="7429500" y="3762375"/>
            <a:ext cx="4191000" cy="666750"/>
          </a:xfrm>
          <a:prstGeom prst="roundRect">
            <a:avLst>
              <a:gd name="adj" fmla="val 11429"/>
            </a:avLst>
          </a:prstGeom>
          <a:solidFill>
            <a:srgbClr val="330662"/>
          </a:solidFill>
        </p:spPr>
        <p:txBody>
          <a:bodyPr/>
          <a:p/>
        </p:txBody>
      </p:sp>
      <p:sp>
        <p:nvSpPr>
          <p:cNvPr id="88" name="文本框 87" descr="{&quot;isTemplate&quot;:true,&quot;type&quot;:&quot;text&quot;}"/>
          <p:cNvSpPr txBox="1"/>
          <p:nvPr/>
        </p:nvSpPr>
        <p:spPr>
          <a:xfrm>
            <a:off x="7562850" y="3895725"/>
            <a:ext cx="3924300" cy="152400"/>
          </a:xfrm>
          <a:prstGeom prst="rect">
            <a:avLst/>
          </a:prstGeom>
        </p:spPr>
        <p:txBody>
          <a:bodyPr wrap="none" lIns="0" tIns="0" rIns="0" bIns="0"/>
          <a:p>
            <a:pPr>
              <a:lnSpc>
                <a:spcPct val="100000"/>
              </a:lnSpc>
            </a:pPr>
            <a:r>
              <a:rPr lang="en-US" sz="975" b="1" spc="75">
                <a:solidFill>
                  <a:srgbClr val="FFC107"/>
                </a:solidFill>
                <a:latin typeface="Source Han Sans"/>
                <a:ea typeface="Source Han Sans"/>
              </a:rPr>
              <a:t>BUILD + LOG</a:t>
            </a:r>
            <a:endParaRPr lang="en-US" sz="975" b="1" spc="75">
              <a:solidFill>
                <a:srgbClr val="FFC107"/>
              </a:solidFill>
              <a:latin typeface="Source Han Sans"/>
              <a:ea typeface="Source Han Sans"/>
            </a:endParaRPr>
          </a:p>
        </p:txBody>
      </p:sp>
      <p:sp>
        <p:nvSpPr>
          <p:cNvPr id="89" name="文本框 88" descr="{&quot;isTemplate&quot;:true,&quot;type&quot;:&quot;text&quot;}"/>
          <p:cNvSpPr txBox="1"/>
          <p:nvPr/>
        </p:nvSpPr>
        <p:spPr>
          <a:xfrm>
            <a:off x="7562850" y="4086225"/>
            <a:ext cx="3924300" cy="209550"/>
          </a:xfrm>
          <a:prstGeom prst="rect">
            <a:avLst/>
          </a:prstGeom>
        </p:spPr>
        <p:txBody>
          <a:bodyPr wrap="none" lIns="0" tIns="0" rIns="0" bIns="0"/>
          <a:p>
            <a:pPr>
              <a:lnSpc>
                <a:spcPct val="100000"/>
              </a:lnSpc>
            </a:pPr>
            <a:r>
              <a:rPr lang="en-US" sz="1350" b="1">
                <a:solidFill>
                  <a:srgbClr val="FFFFFF"/>
                </a:solidFill>
                <a:latin typeface="Source Han Sans"/>
                <a:ea typeface="Source Han Sans"/>
              </a:rPr>
              <a:t>51 Unity scripts · 72 logged interactions</a:t>
            </a:r>
            <a:endParaRPr lang="en-US" sz="1350" b="1">
              <a:solidFill>
                <a:srgbClr val="FFFFFF"/>
              </a:solidFill>
              <a:latin typeface="Source Han Sans"/>
              <a:ea typeface="Source Han Sans"/>
            </a:endParaRPr>
          </a:p>
        </p:txBody>
      </p:sp>
      <p:sp>
        <p:nvSpPr>
          <p:cNvPr id="90" name="圆角矩形 89"/>
          <p:cNvSpPr/>
          <p:nvPr/>
        </p:nvSpPr>
        <p:spPr>
          <a:xfrm>
            <a:off x="7429500" y="4581525"/>
            <a:ext cx="4191000" cy="1104900"/>
          </a:xfrm>
          <a:prstGeom prst="roundRect">
            <a:avLst>
              <a:gd name="adj" fmla="val 6897"/>
            </a:avLst>
          </a:prstGeom>
          <a:solidFill>
            <a:srgbClr val="FFFFFF"/>
          </a:solidFill>
          <a:ln w="12700">
            <a:solidFill>
              <a:srgbClr val="E4DCEC"/>
            </a:solidFill>
            <a:prstDash val="solid"/>
          </a:ln>
        </p:spPr>
        <p:txBody>
          <a:bodyPr/>
          <a:p/>
        </p:txBody>
      </p:sp>
      <p:sp>
        <p:nvSpPr>
          <p:cNvPr id="91" name="文本框 90" descr="{&quot;isTemplate&quot;:true,&quot;type&quot;:&quot;text&quot;}"/>
          <p:cNvSpPr txBox="1"/>
          <p:nvPr/>
        </p:nvSpPr>
        <p:spPr>
          <a:xfrm>
            <a:off x="7562850" y="4714875"/>
            <a:ext cx="3924300" cy="152400"/>
          </a:xfrm>
          <a:prstGeom prst="rect">
            <a:avLst/>
          </a:prstGeom>
        </p:spPr>
        <p:txBody>
          <a:bodyPr wrap="none" lIns="0" tIns="0" rIns="0" bIns="0"/>
          <a:p>
            <a:pPr>
              <a:lnSpc>
                <a:spcPct val="100000"/>
              </a:lnSpc>
            </a:pPr>
            <a:r>
              <a:rPr lang="en-US" sz="975" b="1" spc="75">
                <a:solidFill>
                  <a:srgbClr val="57068C"/>
                </a:solidFill>
                <a:latin typeface="Source Han Sans"/>
                <a:ea typeface="Source Han Sans"/>
              </a:rPr>
              <a:t>STUDENT DECISION</a:t>
            </a:r>
            <a:endParaRPr lang="en-US" sz="975" b="1" spc="75">
              <a:solidFill>
                <a:srgbClr val="57068C"/>
              </a:solidFill>
              <a:latin typeface="Source Han Sans"/>
              <a:ea typeface="Source Han Sans"/>
            </a:endParaRPr>
          </a:p>
        </p:txBody>
      </p:sp>
      <p:sp>
        <p:nvSpPr>
          <p:cNvPr id="92" name="文本框 91" descr="{&quot;isTemplate&quot;:true,&quot;type&quot;:&quot;text&quot;}"/>
          <p:cNvSpPr txBox="1"/>
          <p:nvPr/>
        </p:nvSpPr>
        <p:spPr>
          <a:xfrm>
            <a:off x="7562850" y="4905375"/>
            <a:ext cx="3924300" cy="647700"/>
          </a:xfrm>
          <a:prstGeom prst="rect">
            <a:avLst/>
          </a:prstGeom>
        </p:spPr>
        <p:txBody>
          <a:bodyPr wrap="square" lIns="0" tIns="0" rIns="0" bIns="0">
            <a:normAutofit/>
          </a:bodyPr>
          <a:p>
            <a:pPr>
              <a:lnSpc>
                <a:spcPct val="145000"/>
              </a:lnSpc>
            </a:pPr>
            <a:r>
              <a:rPr lang="en-US" sz="975" i="1">
                <a:solidFill>
                  <a:srgbClr val="4A5568"/>
                </a:solidFill>
                <a:latin typeface="Source Han Sans"/>
                <a:ea typeface="Source Han Sans"/>
              </a:rPr>
              <a:t>“The trail becomes a platform; overexposure makes the trail too unstable to use safely, but you can burn shadows to activate photo sensors.” — Boyan</a:t>
            </a:r>
            <a:endParaRPr lang="en-US" sz="975" i="1">
              <a:solidFill>
                <a:srgbClr val="4A5568"/>
              </a:solidFill>
              <a:latin typeface="Source Han Sans"/>
              <a:ea typeface="Source Han Sans"/>
            </a:endParaRPr>
          </a:p>
        </p:txBody>
      </p:sp>
      <p:sp>
        <p:nvSpPr>
          <p:cNvPr id="93" name="文本框 92" descr="{&quot;isTemplate&quot;:true,&quot;type&quot;:&quot;text&quot;}"/>
          <p:cNvSpPr txBox="1"/>
          <p:nvPr/>
        </p:nvSpPr>
        <p:spPr>
          <a:xfrm>
            <a:off x="571500" y="6477000"/>
            <a:ext cx="3448050" cy="161925"/>
          </a:xfrm>
          <a:prstGeom prst="rect">
            <a:avLst/>
          </a:prstGeom>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lang="en-US" sz="1050">
              <a:solidFill>
                <a:srgbClr val="8B97A8"/>
              </a:solidFill>
              <a:latin typeface="Source Han Sans"/>
              <a:ea typeface="Source Han Sans"/>
            </a:endParaRPr>
          </a:p>
        </p:txBody>
      </p:sp>
      <p:sp>
        <p:nvSpPr>
          <p:cNvPr id="94" name="文本框 93" descr="{&quot;isTemplate&quot;:true,&quot;type&quot;:&quot;text&quot;}"/>
          <p:cNvSpPr txBox="1"/>
          <p:nvPr/>
        </p:nvSpPr>
        <p:spPr>
          <a:xfrm>
            <a:off x="11210925" y="6477000"/>
            <a:ext cx="409575" cy="161925"/>
          </a:xfrm>
          <a:prstGeom prst="rect">
            <a:avLst/>
          </a:prstGeom>
        </p:spPr>
        <p:txBody>
          <a:bodyPr wrap="none" lIns="0" tIns="0" rIns="0" bIns="0"/>
          <a:p>
            <a:pPr>
              <a:lnSpc>
                <a:spcPct val="100000"/>
              </a:lnSpc>
            </a:pPr>
            <a:r>
              <a:rPr lang="en-US" sz="1050" b="1">
                <a:solidFill>
                  <a:srgbClr val="57068C"/>
                </a:solidFill>
                <a:latin typeface="Source Han Sans"/>
                <a:ea typeface="Source Han Sans"/>
              </a:rPr>
              <a:t>13 / 16</a:t>
            </a:r>
            <a:endParaRPr lang="en-US" sz="1050" b="1">
              <a:solidFill>
                <a:srgbClr val="57068C"/>
              </a:solidFill>
              <a:latin typeface="Source Han Sans"/>
              <a:ea typeface="Source Han Sans"/>
            </a:endParaRPr>
          </a:p>
        </p:txBody>
      </p:sp>
      <p:pic>
        <p:nvPicPr>
          <p:cNvPr id="1" name="图片 0"/>
          <p:cNvPicPr>
            <a:picLocks noChangeAspect="1"/>
          </p:cNvPicPr>
          <p:nvPr/>
        </p:nvPicPr>
        <p:blipFill>
          <a:blip r:embed="rId1"/>
          <a:stretch>
            <a:fillRect/>
          </a:stretch>
        </p:blipFill>
        <p:spPr>
          <a:xfrm>
            <a:off x="571500" y="1187450"/>
            <a:ext cx="6856095" cy="43656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95" name="" descr="&lt;Slide style={{ width: '1280px', height: '720px', background: '#FFFFFF', position: 'relative', fontFamily: 'Source Han Sans, Noto Sans CJK SC, sans-serif' }}&gt;&#10;  &lt;Box style={{ position: 'absolute', top: 0, left: 0, width: '100%', height: 60, background: '#0E3F8C' }}&gt;&#10;    &lt;Text style={{ color: '#FFFFFF', fontSize: 22, fontWeight: 'bold', padding: '14px 60px' }}&gt;Three things we saw&lt;/Text&gt;&#10;  &lt;/Box&gt;&#10;  &lt;Box style={{ position: 'absolute', top: 100, left: 60, width: 320, flexDirection: 'column', gap: 6 }}&gt;&#10;    &lt;Text style={{ fontSize: 16, color: '#1E4FA8', fontWeight: 'bold', letterSpacing: 2 }}&gt;FINDINGS&lt;/Text&gt;&#10;    &lt;Box style={{ width: 40, height: 3, background: '#1E4FA8' }} /&gt;&#10;  &lt;/Box&gt;&#10;  &lt;Box style={{ position: 'absolute', top: 100, right: 60, width: 780, flexDirection: 'column', gap: 14 }}&gt;&#10;    {[&#10;      { n: 'F1', t: 'It is feasible', d: 'Zero-coding students can produce a playable demo in a few days that still expresses the original emotional target. The democratization of the demo is real — at least at the level of &quot;a build that someone can play&quot;.' },&#10;      { n: 'F2', t: 'Verification is asymmetric', d: 'AI can tell you whether the system runs. It cannot tell you whether the prototype still carries the feeling. That judgment lives with the student and with the log — and it is where a playtest loop and a human reader are indispensable.' },&#10;      { n: 'F3', t: 'Learning happens in the experiment', d: 'The classroom is too loud, the questions are too many, the feedback is not real-time. But the questions, the design moves, and the corrections are the lesson. The risk is treating the AI as a tutor and skipping the friction that is the learning.' },&#10;    ].map((f, i) =&gt; (&#10;      &lt;Box key={i} style={{ flexDirection: 'row', gap: 20, padding: 18, background: '#F7F9FC', border: '1px solid #E5E7EB', borderRadius: 8, alignItems: 'flex-start' }}&gt;&#10;        &lt;Box style={{ width: 56, height: 56, background: '#0E3F8C', borderRadius: 8, justifyContent: 'center', alignItems: 'center' }}&gt;&#10;          &lt;Text style={{ color: '#FFFFFF', fontSize: 22, fontWeight: 'bold' }}&gt;{f.n}&lt;/Text&gt;&#10;        &lt;/Box&gt;&#10;        &lt;Box style={{ flex: 1, flexDirection: 'column', gap: 6 }}&gt;&#10;          &lt;Text style={{ fontSize: 20, fontWeight: 'bold', color: '#0E3F8C' }}&gt;{f.t}&lt;/Text&gt;&#10;          &lt;Text style={{ fontSize: 15, color: '#1A2230', lineHeight: 1.55 }}&gt;{f.d}&lt;/Text&gt;&#10;        &lt;/Box&gt;&#10;      &lt;/Box&gt;&#10;    ))}&#10;  &lt;/Box&gt;&#10;  &lt;Box style={{ position: 'absolute', top: 620, left: 60, right: 60, height: 40, padding: 12, background: '#0E3F8C', borderRadius: 6, flexDirection: 'row', alignItems: 'center', gap: 12 }}&gt;&#10;    &lt;Box style={{ width: 4, height: 20, background: '#FFC107' }} /&gt;&#10;    &lt;Text style={{ fontSize: 15, color: '#FFFFFF', lineHeight: 1.4, flex: 1 }}&gt;&#10;      &lt;span style={{ fontWeight: 'bold' }}&gt;F2 echoes CHI 2026 Best Paper (Väkevä et al.):&lt;/span&gt; resonance with lived experience is the strongest anchor of meaningful gameplay. Tools must serve that anchor, not bypass it.&#10;    &lt;/Text&gt;&#10;  &lt;/Box&gt;&#10;  &lt;Box style={{ position: 'absolute', top: 680, left: 60, right: 60, flexDirection: 'row', justifyContent: 'space-between' }}&gt;&#10;    &lt;Text style={{ fontSize: 14, color: '#8B97A8' }}&gt;Xingchen Zhang · NYU Shanghai · XJTLU 2026 · Panel 11&lt;/Text&gt;&#10;    &lt;Text style={{ fontSize: 14, color: '#1E4FA8', fontWeight: 'bold' }}&gt;14 / 16&lt;/Text&gt;&#10;  &lt;/Box&gt;&#10;&lt;/Slide&gt;&#10;"/>
        <p:cNvGrpSpPr/>
        <p:nvPr/>
      </p:nvGrpSpPr>
      <p:grpSpPr>
        <a:xfrm>
          <a:off x="0" y="0"/>
          <a:ext cx="0" cy="0"/>
          <a:chOff x="0" y="0"/>
          <a:chExt cx="0" cy="0"/>
        </a:xfrm>
      </p:grpSpPr>
      <p:sp>
        <p:nvSpPr>
          <p:cNvPr id="96" name="矩形 95"/>
          <p:cNvSpPr/>
          <p:nvPr/>
        </p:nvSpPr>
        <p:spPr>
          <a:xfrm>
            <a:off x="0" y="0"/>
            <a:ext cx="12192000" cy="6858000"/>
          </a:xfrm>
          <a:prstGeom prst="rect">
            <a:avLst/>
          </a:prstGeom>
          <a:solidFill>
            <a:srgbClr val="FFFFFF"/>
          </a:solidFill>
        </p:spPr>
        <p:txBody>
          <a:bodyPr/>
          <a:p/>
        </p:txBody>
      </p:sp>
      <p:sp>
        <p:nvSpPr>
          <p:cNvPr id="97" name="矩形 96"/>
          <p:cNvSpPr/>
          <p:nvPr/>
        </p:nvSpPr>
        <p:spPr>
          <a:xfrm>
            <a:off x="0" y="0"/>
            <a:ext cx="12192000" cy="571500"/>
          </a:xfrm>
          <a:prstGeom prst="rect">
            <a:avLst/>
          </a:prstGeom>
          <a:solidFill>
            <a:srgbClr val="330662"/>
          </a:solidFill>
        </p:spPr>
        <p:txBody>
          <a:bodyPr/>
          <a:p/>
        </p:txBody>
      </p:sp>
      <p:sp>
        <p:nvSpPr>
          <p:cNvPr id="98" name="文本框 97" descr="{&quot;isTemplate&quot;:true,&quot;type&quot;:&quot;text&quot;}"/>
          <p:cNvSpPr txBox="1"/>
          <p:nvPr/>
        </p:nvSpPr>
        <p:spPr>
          <a:xfrm>
            <a:off x="0" y="0"/>
            <a:ext cx="12192000" cy="523875"/>
          </a:xfrm>
          <a:prstGeom prst="rect">
            <a:avLst/>
          </a:prstGeom>
        </p:spPr>
        <p:txBody>
          <a:bodyPr wrap="none" lIns="428625" tIns="100013" rIns="428625" bIns="100013"/>
          <a:p>
            <a:pPr>
              <a:lnSpc>
                <a:spcPct val="100000"/>
              </a:lnSpc>
            </a:pPr>
            <a:r>
              <a:rPr lang="en-US" sz="1650" b="1">
                <a:solidFill>
                  <a:srgbClr val="FFFFFF"/>
                </a:solidFill>
                <a:latin typeface="Source Han Sans"/>
                <a:ea typeface="Source Han Sans"/>
              </a:rPr>
              <a:t>Three things we saw</a:t>
            </a:r>
            <a:endParaRPr lang="en-US" sz="1650" b="1">
              <a:solidFill>
                <a:srgbClr val="FFFFFF"/>
              </a:solidFill>
              <a:latin typeface="Source Han Sans"/>
              <a:ea typeface="Source Han Sans"/>
            </a:endParaRPr>
          </a:p>
        </p:txBody>
      </p:sp>
      <p:sp>
        <p:nvSpPr>
          <p:cNvPr id="99" name="文本框 98" descr="{&quot;isTemplate&quot;:true,&quot;type&quot;:&quot;text&quot;}"/>
          <p:cNvSpPr txBox="1"/>
          <p:nvPr/>
        </p:nvSpPr>
        <p:spPr>
          <a:xfrm>
            <a:off x="571500" y="952500"/>
            <a:ext cx="3048000" cy="190500"/>
          </a:xfrm>
          <a:prstGeom prst="rect">
            <a:avLst/>
          </a:prstGeom>
        </p:spPr>
        <p:txBody>
          <a:bodyPr wrap="none" lIns="0" tIns="0" rIns="0" bIns="0"/>
          <a:p>
            <a:pPr>
              <a:lnSpc>
                <a:spcPct val="100000"/>
              </a:lnSpc>
            </a:pPr>
            <a:r>
              <a:rPr lang="en-US" sz="1200" b="1" spc="150">
                <a:solidFill>
                  <a:srgbClr val="57068C"/>
                </a:solidFill>
                <a:latin typeface="Source Han Sans"/>
                <a:ea typeface="Source Han Sans"/>
              </a:rPr>
              <a:t>FINDINGS</a:t>
            </a:r>
            <a:endParaRPr lang="en-US" sz="1200" b="1" spc="150">
              <a:solidFill>
                <a:srgbClr val="57068C"/>
              </a:solidFill>
              <a:latin typeface="Source Han Sans"/>
              <a:ea typeface="Source Han Sans"/>
            </a:endParaRPr>
          </a:p>
        </p:txBody>
      </p:sp>
      <p:sp>
        <p:nvSpPr>
          <p:cNvPr id="100" name="矩形 99"/>
          <p:cNvSpPr/>
          <p:nvPr/>
        </p:nvSpPr>
        <p:spPr>
          <a:xfrm>
            <a:off x="571500" y="1200150"/>
            <a:ext cx="381000" cy="28575"/>
          </a:xfrm>
          <a:prstGeom prst="rect">
            <a:avLst/>
          </a:prstGeom>
          <a:solidFill>
            <a:srgbClr val="57068C"/>
          </a:solidFill>
        </p:spPr>
        <p:txBody>
          <a:bodyPr/>
          <a:p/>
        </p:txBody>
      </p:sp>
      <p:sp>
        <p:nvSpPr>
          <p:cNvPr id="101" name="圆角矩形 100"/>
          <p:cNvSpPr/>
          <p:nvPr/>
        </p:nvSpPr>
        <p:spPr>
          <a:xfrm>
            <a:off x="2357120" y="1952625"/>
            <a:ext cx="7429500" cy="1428750"/>
          </a:xfrm>
          <a:prstGeom prst="roundRect">
            <a:avLst>
              <a:gd name="adj" fmla="val 5333"/>
            </a:avLst>
          </a:prstGeom>
          <a:solidFill>
            <a:srgbClr val="FAF8FC"/>
          </a:solidFill>
          <a:ln w="12700">
            <a:solidFill>
              <a:srgbClr val="E4DCEC"/>
            </a:solidFill>
            <a:prstDash val="solid"/>
          </a:ln>
        </p:spPr>
        <p:txBody>
          <a:bodyPr/>
          <a:p/>
        </p:txBody>
      </p:sp>
      <p:sp>
        <p:nvSpPr>
          <p:cNvPr id="102" name="圆角矩形 101"/>
          <p:cNvSpPr/>
          <p:nvPr/>
        </p:nvSpPr>
        <p:spPr>
          <a:xfrm>
            <a:off x="2528570" y="2124075"/>
            <a:ext cx="533400" cy="533400"/>
          </a:xfrm>
          <a:prstGeom prst="roundRect">
            <a:avLst>
              <a:gd name="adj" fmla="val 14286"/>
            </a:avLst>
          </a:prstGeom>
          <a:solidFill>
            <a:srgbClr val="330662"/>
          </a:solidFill>
        </p:spPr>
        <p:txBody>
          <a:bodyPr/>
          <a:p/>
        </p:txBody>
      </p:sp>
      <p:sp>
        <p:nvSpPr>
          <p:cNvPr id="103" name="文本框 102" descr="{&quot;isTemplate&quot;:true,&quot;type&quot;:&quot;text&quot;}"/>
          <p:cNvSpPr txBox="1"/>
          <p:nvPr/>
        </p:nvSpPr>
        <p:spPr>
          <a:xfrm>
            <a:off x="2671445" y="2266950"/>
            <a:ext cx="247650" cy="257175"/>
          </a:xfrm>
          <a:prstGeom prst="rect">
            <a:avLst/>
          </a:prstGeom>
        </p:spPr>
        <p:txBody>
          <a:bodyPr wrap="none" lIns="0" tIns="0" rIns="0" bIns="0"/>
          <a:p>
            <a:pPr>
              <a:lnSpc>
                <a:spcPct val="100000"/>
              </a:lnSpc>
            </a:pPr>
            <a:r>
              <a:rPr lang="en-US" sz="1650" b="1">
                <a:solidFill>
                  <a:srgbClr val="FFFFFF"/>
                </a:solidFill>
                <a:latin typeface="Source Han Sans"/>
                <a:ea typeface="Source Han Sans"/>
              </a:rPr>
              <a:t>F1</a:t>
            </a:r>
            <a:endParaRPr lang="en-US" sz="1650" b="1">
              <a:solidFill>
                <a:srgbClr val="FFFFFF"/>
              </a:solidFill>
              <a:latin typeface="Source Han Sans"/>
              <a:ea typeface="Source Han Sans"/>
            </a:endParaRPr>
          </a:p>
        </p:txBody>
      </p:sp>
      <p:sp>
        <p:nvSpPr>
          <p:cNvPr id="104" name="文本框 103" descr="{&quot;isTemplate&quot;:true,&quot;type&quot;:&quot;text&quot;}"/>
          <p:cNvSpPr txBox="1"/>
          <p:nvPr/>
        </p:nvSpPr>
        <p:spPr>
          <a:xfrm>
            <a:off x="3252470" y="2124075"/>
            <a:ext cx="6362700" cy="228600"/>
          </a:xfrm>
          <a:prstGeom prst="rect">
            <a:avLst/>
          </a:prstGeom>
        </p:spPr>
        <p:txBody>
          <a:bodyPr wrap="none" lIns="0" tIns="0" rIns="0" bIns="0"/>
          <a:p>
            <a:pPr>
              <a:lnSpc>
                <a:spcPct val="100000"/>
              </a:lnSpc>
            </a:pPr>
            <a:r>
              <a:rPr lang="en-US" sz="1500" b="1">
                <a:solidFill>
                  <a:srgbClr val="330662"/>
                </a:solidFill>
                <a:latin typeface="Source Han Sans"/>
                <a:ea typeface="Source Han Sans"/>
              </a:rPr>
              <a:t>It is feasible</a:t>
            </a:r>
            <a:endParaRPr lang="en-US" sz="1500" b="1">
              <a:solidFill>
                <a:srgbClr val="330662"/>
              </a:solidFill>
              <a:latin typeface="Source Han Sans"/>
              <a:ea typeface="Source Han Sans"/>
            </a:endParaRPr>
          </a:p>
        </p:txBody>
      </p:sp>
      <p:sp>
        <p:nvSpPr>
          <p:cNvPr id="105" name="文本框 104" descr="{&quot;isTemplate&quot;:true,&quot;type&quot;:&quot;text&quot;}"/>
          <p:cNvSpPr txBox="1"/>
          <p:nvPr/>
        </p:nvSpPr>
        <p:spPr>
          <a:xfrm>
            <a:off x="3252470" y="2409825"/>
            <a:ext cx="6362700" cy="800100"/>
          </a:xfrm>
          <a:prstGeom prst="rect">
            <a:avLst/>
          </a:prstGeom>
        </p:spPr>
        <p:txBody>
          <a:bodyPr wrap="square" lIns="0" tIns="0" rIns="0" bIns="0">
            <a:normAutofit/>
          </a:bodyPr>
          <a:p>
            <a:pPr>
              <a:lnSpc>
                <a:spcPct val="155000"/>
              </a:lnSpc>
            </a:pPr>
            <a:r>
              <a:rPr lang="en-US" sz="1125">
                <a:solidFill>
                  <a:srgbClr val="1A2230"/>
                </a:solidFill>
                <a:latin typeface="Source Han Sans"/>
                <a:ea typeface="Source Han Sans"/>
              </a:rPr>
              <a:t>Zero-coding students can produce a playable demo in a few days that still expresses the original emotional target. The democratization of the demo is real — at least at the level of "a build that someone can play".</a:t>
            </a:r>
            <a:endParaRPr lang="en-US" sz="1125">
              <a:solidFill>
                <a:srgbClr val="1A2230"/>
              </a:solidFill>
              <a:latin typeface="Source Han Sans"/>
              <a:ea typeface="Source Han Sans"/>
            </a:endParaRPr>
          </a:p>
        </p:txBody>
      </p:sp>
      <p:sp>
        <p:nvSpPr>
          <p:cNvPr id="106" name="圆角矩形 105"/>
          <p:cNvSpPr/>
          <p:nvPr/>
        </p:nvSpPr>
        <p:spPr>
          <a:xfrm>
            <a:off x="2357120" y="3514725"/>
            <a:ext cx="7429500" cy="1428750"/>
          </a:xfrm>
          <a:prstGeom prst="roundRect">
            <a:avLst>
              <a:gd name="adj" fmla="val 5333"/>
            </a:avLst>
          </a:prstGeom>
          <a:solidFill>
            <a:srgbClr val="FAF8FC"/>
          </a:solidFill>
          <a:ln w="12700">
            <a:solidFill>
              <a:srgbClr val="E4DCEC"/>
            </a:solidFill>
            <a:prstDash val="solid"/>
          </a:ln>
        </p:spPr>
        <p:txBody>
          <a:bodyPr/>
          <a:p/>
        </p:txBody>
      </p:sp>
      <p:sp>
        <p:nvSpPr>
          <p:cNvPr id="107" name="圆角矩形 106"/>
          <p:cNvSpPr/>
          <p:nvPr/>
        </p:nvSpPr>
        <p:spPr>
          <a:xfrm>
            <a:off x="2528570" y="3686175"/>
            <a:ext cx="533400" cy="533400"/>
          </a:xfrm>
          <a:prstGeom prst="roundRect">
            <a:avLst>
              <a:gd name="adj" fmla="val 14286"/>
            </a:avLst>
          </a:prstGeom>
          <a:solidFill>
            <a:srgbClr val="330662"/>
          </a:solidFill>
        </p:spPr>
        <p:txBody>
          <a:bodyPr/>
          <a:p/>
        </p:txBody>
      </p:sp>
      <p:sp>
        <p:nvSpPr>
          <p:cNvPr id="108" name="文本框 107" descr="{&quot;isTemplate&quot;:true,&quot;type&quot;:&quot;text&quot;}"/>
          <p:cNvSpPr txBox="1"/>
          <p:nvPr/>
        </p:nvSpPr>
        <p:spPr>
          <a:xfrm>
            <a:off x="2671445" y="3829050"/>
            <a:ext cx="247650" cy="257175"/>
          </a:xfrm>
          <a:prstGeom prst="rect">
            <a:avLst/>
          </a:prstGeom>
        </p:spPr>
        <p:txBody>
          <a:bodyPr wrap="none" lIns="0" tIns="0" rIns="0" bIns="0"/>
          <a:p>
            <a:pPr>
              <a:lnSpc>
                <a:spcPct val="100000"/>
              </a:lnSpc>
            </a:pPr>
            <a:r>
              <a:rPr lang="en-US" sz="1650" b="1">
                <a:solidFill>
                  <a:srgbClr val="FFFFFF"/>
                </a:solidFill>
                <a:latin typeface="Source Han Sans"/>
                <a:ea typeface="Source Han Sans"/>
              </a:rPr>
              <a:t>F2</a:t>
            </a:r>
            <a:endParaRPr lang="en-US" sz="1650" b="1">
              <a:solidFill>
                <a:srgbClr val="FFFFFF"/>
              </a:solidFill>
              <a:latin typeface="Source Han Sans"/>
              <a:ea typeface="Source Han Sans"/>
            </a:endParaRPr>
          </a:p>
        </p:txBody>
      </p:sp>
      <p:sp>
        <p:nvSpPr>
          <p:cNvPr id="109" name="文本框 108" descr="{&quot;isTemplate&quot;:true,&quot;type&quot;:&quot;text&quot;}"/>
          <p:cNvSpPr txBox="1"/>
          <p:nvPr/>
        </p:nvSpPr>
        <p:spPr>
          <a:xfrm>
            <a:off x="3252470" y="3686175"/>
            <a:ext cx="6362700" cy="228600"/>
          </a:xfrm>
          <a:prstGeom prst="rect">
            <a:avLst/>
          </a:prstGeom>
        </p:spPr>
        <p:txBody>
          <a:bodyPr wrap="none" lIns="0" tIns="0" rIns="0" bIns="0"/>
          <a:p>
            <a:pPr>
              <a:lnSpc>
                <a:spcPct val="100000"/>
              </a:lnSpc>
            </a:pPr>
            <a:r>
              <a:rPr lang="en-US" sz="1500" b="1">
                <a:solidFill>
                  <a:srgbClr val="330662"/>
                </a:solidFill>
                <a:latin typeface="Source Han Sans"/>
                <a:ea typeface="Source Han Sans"/>
              </a:rPr>
              <a:t>Verification is asymmetric</a:t>
            </a:r>
            <a:endParaRPr lang="en-US" sz="1500" b="1">
              <a:solidFill>
                <a:srgbClr val="330662"/>
              </a:solidFill>
              <a:latin typeface="Source Han Sans"/>
              <a:ea typeface="Source Han Sans"/>
            </a:endParaRPr>
          </a:p>
        </p:txBody>
      </p:sp>
      <p:sp>
        <p:nvSpPr>
          <p:cNvPr id="110" name="文本框 109" descr="{&quot;isTemplate&quot;:true,&quot;type&quot;:&quot;text&quot;}"/>
          <p:cNvSpPr txBox="1"/>
          <p:nvPr/>
        </p:nvSpPr>
        <p:spPr>
          <a:xfrm>
            <a:off x="3252470" y="3971925"/>
            <a:ext cx="6362700" cy="800100"/>
          </a:xfrm>
          <a:prstGeom prst="rect">
            <a:avLst/>
          </a:prstGeom>
        </p:spPr>
        <p:txBody>
          <a:bodyPr wrap="square" lIns="0" tIns="0" rIns="0" bIns="0">
            <a:normAutofit/>
          </a:bodyPr>
          <a:p>
            <a:pPr>
              <a:lnSpc>
                <a:spcPct val="155000"/>
              </a:lnSpc>
            </a:pPr>
            <a:r>
              <a:rPr lang="en-US" sz="1125">
                <a:solidFill>
                  <a:srgbClr val="1A2230"/>
                </a:solidFill>
                <a:latin typeface="Source Han Sans"/>
                <a:ea typeface="Source Han Sans"/>
              </a:rPr>
              <a:t>AI can tell you whether the system runs. It cannot tell you whether the prototype still carries the feeling. That judgment lives with the student and with the log — and it is where a playtest loop and a human reader are indispensable.</a:t>
            </a:r>
            <a:endParaRPr lang="en-US" sz="1125">
              <a:solidFill>
                <a:srgbClr val="1A2230"/>
              </a:solidFill>
              <a:latin typeface="Source Han Sans"/>
              <a:ea typeface="Source Han Sans"/>
            </a:endParaRPr>
          </a:p>
        </p:txBody>
      </p:sp>
      <p:sp>
        <p:nvSpPr>
          <p:cNvPr id="116" name="圆角矩形 115"/>
          <p:cNvSpPr/>
          <p:nvPr/>
        </p:nvSpPr>
        <p:spPr>
          <a:xfrm>
            <a:off x="571500" y="5905500"/>
            <a:ext cx="11049000" cy="452120"/>
          </a:xfrm>
          <a:prstGeom prst="roundRect">
            <a:avLst>
              <a:gd name="adj" fmla="val 15000"/>
            </a:avLst>
          </a:prstGeom>
          <a:solidFill>
            <a:srgbClr val="330662"/>
          </a:solidFill>
        </p:spPr>
        <p:txBody>
          <a:bodyPr/>
          <a:p/>
        </p:txBody>
      </p:sp>
      <p:sp>
        <p:nvSpPr>
          <p:cNvPr id="117" name="矩形 116"/>
          <p:cNvSpPr/>
          <p:nvPr/>
        </p:nvSpPr>
        <p:spPr>
          <a:xfrm>
            <a:off x="685800" y="6000750"/>
            <a:ext cx="38100" cy="190500"/>
          </a:xfrm>
          <a:prstGeom prst="rect">
            <a:avLst/>
          </a:prstGeom>
          <a:solidFill>
            <a:srgbClr val="FFC107"/>
          </a:solidFill>
        </p:spPr>
        <p:txBody>
          <a:bodyPr/>
          <a:p/>
        </p:txBody>
      </p:sp>
      <p:sp>
        <p:nvSpPr>
          <p:cNvPr id="118" name="文本框 117" descr="{&quot;isTemplate&quot;:true,&quot;type&quot;:&quot;text&quot;}"/>
          <p:cNvSpPr txBox="1"/>
          <p:nvPr/>
        </p:nvSpPr>
        <p:spPr>
          <a:xfrm>
            <a:off x="838200" y="5857875"/>
            <a:ext cx="10668000" cy="485775"/>
          </a:xfrm>
          <a:prstGeom prst="rect">
            <a:avLst/>
          </a:prstGeom>
        </p:spPr>
        <p:txBody>
          <a:bodyPr wrap="square" lIns="0" tIns="0" rIns="0" bIns="0">
            <a:normAutofit/>
          </a:bodyPr>
          <a:p>
            <a:pPr>
              <a:lnSpc>
                <a:spcPct val="140000"/>
              </a:lnSpc>
            </a:pPr>
            <a:r>
              <a:rPr lang="en-US" sz="1125" b="1">
                <a:solidFill>
                  <a:srgbClr val="FFFFFF"/>
                </a:solidFill>
                <a:latin typeface="Source Han Sans"/>
                <a:ea typeface="Source Han Sans"/>
              </a:rPr>
              <a:t>F2 echoes CHI 2026 Best Paper (Väkevä et al.):</a:t>
            </a:r>
            <a:r>
              <a:rPr lang="en-US" sz="1125">
                <a:solidFill>
                  <a:srgbClr val="FFFFFF"/>
                </a:solidFill>
                <a:latin typeface="Source Han Sans"/>
                <a:ea typeface="Source Han Sans"/>
              </a:rPr>
              <a:t> resonance with lived experience is the strongest anchor of meaningful gameplay. Tools must serve that anchor, not bypass it.</a:t>
            </a:r>
            <a:endParaRPr lang="en-US" sz="1125">
              <a:solidFill>
                <a:srgbClr val="FFFFFF"/>
              </a:solidFill>
              <a:latin typeface="Source Han Sans"/>
              <a:ea typeface="Source Han Sans"/>
            </a:endParaRPr>
          </a:p>
        </p:txBody>
      </p:sp>
      <p:sp>
        <p:nvSpPr>
          <p:cNvPr id="119" name="文本框 118" descr="{&quot;isTemplate&quot;:true,&quot;type&quot;:&quot;text&quot;}"/>
          <p:cNvSpPr txBox="1"/>
          <p:nvPr/>
        </p:nvSpPr>
        <p:spPr>
          <a:xfrm>
            <a:off x="571500" y="6477000"/>
            <a:ext cx="3448050" cy="161925"/>
          </a:xfrm>
          <a:prstGeom prst="rect">
            <a:avLst/>
          </a:prstGeom>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lang="en-US" sz="1050">
              <a:solidFill>
                <a:srgbClr val="8B97A8"/>
              </a:solidFill>
              <a:latin typeface="Source Han Sans"/>
              <a:ea typeface="Source Han Sans"/>
            </a:endParaRPr>
          </a:p>
        </p:txBody>
      </p:sp>
      <p:sp>
        <p:nvSpPr>
          <p:cNvPr id="120" name="文本框 119" descr="{&quot;isTemplate&quot;:true,&quot;type&quot;:&quot;text&quot;}"/>
          <p:cNvSpPr txBox="1"/>
          <p:nvPr/>
        </p:nvSpPr>
        <p:spPr>
          <a:xfrm>
            <a:off x="11210925" y="6477000"/>
            <a:ext cx="409575" cy="161925"/>
          </a:xfrm>
          <a:prstGeom prst="rect">
            <a:avLst/>
          </a:prstGeom>
        </p:spPr>
        <p:txBody>
          <a:bodyPr wrap="none" lIns="0" tIns="0" rIns="0" bIns="0"/>
          <a:p>
            <a:pPr>
              <a:lnSpc>
                <a:spcPct val="100000"/>
              </a:lnSpc>
            </a:pPr>
            <a:r>
              <a:rPr lang="en-US" sz="1050" b="1">
                <a:solidFill>
                  <a:srgbClr val="57068C"/>
                </a:solidFill>
                <a:latin typeface="Source Han Sans"/>
                <a:ea typeface="Source Han Sans"/>
              </a:rPr>
              <a:t>14 / 16</a:t>
            </a:r>
            <a:endParaRPr lang="en-US" sz="1050" b="1">
              <a:solidFill>
                <a:srgbClr val="57068C"/>
              </a:solidFill>
              <a:latin typeface="Source Han Sans"/>
              <a:ea typeface="Source Ha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21" name="" descr="&lt;Slide style={{ width: '1280px', height: '720px', background: '#FFFFFF', position: 'relative', fontFamily: 'Source Han Sans, Noto Sans CJK SC, sans-serif' }}&gt;&#10;  &lt;Box style={{ position: 'absolute', top: 0, left: 0, width: '100%', height: 60, background: '#0E3F8C' }}&gt;&#10;    &lt;Text style={{ color: '#FFFFFF', fontSize: 22, fontWeight: 'bold', padding: '14px 60px' }}&gt;Where this is going&lt;/Text&gt;&#10;  &lt;/Box&gt;&#10;  &lt;Box style={{ position: 'absolute', top: 100, left: 60, width: 700, flexDirection: 'column', gap: 16 }}&gt;&#10;    &lt;Text style={{ fontSize: 16, color: '#1E4FA8', fontWeight: 'bold', letterSpacing: 2 }}&gt;WHAT THE NEXT GENERATION OF TOOLS SHOULD ANSWER&lt;/Text&gt;&#10;    &lt;Box style={{ width: 40, height: 3, background: '#1E4FA8' }} /&gt;&#10;    &lt;Text style={{ fontSize: 18, color: '#1A2230', lineHeight: 1.55 }}&gt;&#10;      Three trends are already underway. A fourth, more speculative one, may matter more for pedagogy than any of them.&#10;    &lt;/Text&gt;&#10;    &lt;Box style={{ marginTop: 8, padding: 18, background: '#F0F5FC', borderLeft: '4px solid #1E4FA8', flexDirection: 'column', gap: 8 }}&gt;&#10;      &lt;Text style={{ fontSize: 12, color: '#1E4FA8', fontWeight: 'bold', letterSpacing: 2 }}&gt;A SHIFT WE SHOULD NAME&lt;/Text&gt;&#10;      &lt;Text style={{ fontSize: 19, color: '#1A2230', lineHeight: 1.5, fontWeight: 'bold' }}&gt;&#10;        From &quot;AI-assisted game making&quot; to &lt;span style={{ color: '#0E3F8C' }}&gt;systematic expression as a literacy&lt;/span&gt; for the AI era.&#10;      &lt;/Text&gt;&#10;      &lt;Text style={{ fontSize: 15, color: '#4A5568', lineHeight: 1.55 }}&gt;&#10;        When making a game is easy, the scarce skill is asking a precise question of an experience. Game design is a natural training ground — and a teachable, accountable one, if the workflow is structured for it.&#10;      &lt;/Text&gt;&#10;    &lt;/Box&gt;&#10;  &lt;/Box&gt;&#10;  &lt;Box style={{ position: 'absolute', top: 100, right: 60, width: 440, flexDirection: 'column', gap: 14 }}&gt;&#10;    {[&#10;      { tag: 'TREND 1', t: 'Lower floor', d: 'Generation tools lower the bar to a playable demo. More people will try, and more will produce something.' },&#10;      { tag: 'TREND 2', t: 'A growing case library', d: 'Classrooms and indie teams leave a trail of system descriptions and process logs. The field gets a corpus to study.' },&#10;      { tag: 'TREND 3', t: 'Specialized, one-stop tools', d: 'Generic IDEs hit a ceiling on complete games. Purpose-built engines — blueprint as source of truth, embedded playtest — are the natural next step.' },&#10;    ].map((row, i) =&gt; (&#10;      &lt;Box key={i} style={{ flex: 1, padding: 16, background: '#F7F9FC', border: '1px solid #E5E7EB', borderRadius: 8, flexDirection: 'column', gap: 6 }}&gt;&#10;        &lt;Text style={{ fontSize: 11, color: '#1E4FA8', fontWeight: 'bold', letterSpacing: 2 }}&gt;{row.tag}&lt;/Text&gt;&#10;        &lt;Text style={{ fontSize: 17, fontWeight: 'bold', color: '#0E3F8C' }}&gt;{row.t}&lt;/Text&gt;&#10;        &lt;Text style={{ fontSize: 14, color: '#4A5568', lineHeight: 1.5 }}&gt;{row.d}&lt;/Text&gt;&#10;      &lt;/Box&gt;&#10;    ))}&#10;  &lt;/Box&gt;&#10;  &lt;Box style={{ position: 'absolute', top: 680, left: 60, right: 60, flexDirection: 'row', justifyContent: 'space-between' }}&gt;&#10;    &lt;Text style={{ fontSize: 14, color: '#8B97A8' }}&gt;Xingchen Zhang · NYU Shanghai · XJTLU 2026 · Panel 11&lt;/Text&gt;&#10;    &lt;Text style={{ fontSize: 14, color: '#1E4FA8', fontWeight: 'bold' }}&gt;15 / 16&lt;/Text&gt;&#10;  &lt;/Box&gt;&#10;&lt;/Slide&gt;&#10;"/>
        <p:cNvGrpSpPr/>
        <p:nvPr/>
      </p:nvGrpSpPr>
      <p:grpSpPr>
        <a:xfrm>
          <a:off x="0" y="0"/>
          <a:ext cx="0" cy="0"/>
          <a:chOff x="0" y="0"/>
          <a:chExt cx="0" cy="0"/>
        </a:xfrm>
      </p:grpSpPr>
      <p:sp>
        <p:nvSpPr>
          <p:cNvPr id="122" name="矩形 121"/>
          <p:cNvSpPr/>
          <p:nvPr/>
        </p:nvSpPr>
        <p:spPr>
          <a:xfrm>
            <a:off x="0" y="0"/>
            <a:ext cx="12192000" cy="6858000"/>
          </a:xfrm>
          <a:prstGeom prst="rect">
            <a:avLst/>
          </a:prstGeom>
          <a:solidFill>
            <a:srgbClr val="FFFFFF"/>
          </a:solidFill>
        </p:spPr>
        <p:txBody>
          <a:bodyPr/>
          <a:p/>
        </p:txBody>
      </p:sp>
      <p:sp>
        <p:nvSpPr>
          <p:cNvPr id="123" name="矩形 122"/>
          <p:cNvSpPr/>
          <p:nvPr/>
        </p:nvSpPr>
        <p:spPr>
          <a:xfrm>
            <a:off x="0" y="0"/>
            <a:ext cx="12192000" cy="571500"/>
          </a:xfrm>
          <a:prstGeom prst="rect">
            <a:avLst/>
          </a:prstGeom>
          <a:solidFill>
            <a:srgbClr val="330662"/>
          </a:solidFill>
        </p:spPr>
        <p:txBody>
          <a:bodyPr/>
          <a:p/>
        </p:txBody>
      </p:sp>
      <p:sp>
        <p:nvSpPr>
          <p:cNvPr id="124" name="文本框 123" descr="{&quot;isTemplate&quot;:true,&quot;type&quot;:&quot;text&quot;}"/>
          <p:cNvSpPr txBox="1"/>
          <p:nvPr/>
        </p:nvSpPr>
        <p:spPr>
          <a:xfrm>
            <a:off x="0" y="0"/>
            <a:ext cx="12192000" cy="523875"/>
          </a:xfrm>
          <a:prstGeom prst="rect">
            <a:avLst/>
          </a:prstGeom>
        </p:spPr>
        <p:txBody>
          <a:bodyPr wrap="none" lIns="428625" tIns="100013" rIns="428625" bIns="100013"/>
          <a:p>
            <a:pPr>
              <a:lnSpc>
                <a:spcPct val="100000"/>
              </a:lnSpc>
            </a:pPr>
            <a:r>
              <a:rPr lang="en-US" sz="1650" b="1">
                <a:solidFill>
                  <a:srgbClr val="FFFFFF"/>
                </a:solidFill>
                <a:latin typeface="Source Han Sans"/>
                <a:ea typeface="Source Han Sans"/>
              </a:rPr>
              <a:t>Where this is going</a:t>
            </a:r>
            <a:endParaRPr lang="en-US" sz="1650" b="1">
              <a:solidFill>
                <a:srgbClr val="FFFFFF"/>
              </a:solidFill>
              <a:latin typeface="Source Han Sans"/>
              <a:ea typeface="Source Han Sans"/>
            </a:endParaRPr>
          </a:p>
        </p:txBody>
      </p:sp>
      <p:sp>
        <p:nvSpPr>
          <p:cNvPr id="125" name="文本框 124" descr="{&quot;isTemplate&quot;:true,&quot;type&quot;:&quot;text&quot;}"/>
          <p:cNvSpPr txBox="1"/>
          <p:nvPr/>
        </p:nvSpPr>
        <p:spPr>
          <a:xfrm>
            <a:off x="571500" y="952500"/>
            <a:ext cx="6667500" cy="190500"/>
          </a:xfrm>
          <a:prstGeom prst="rect">
            <a:avLst/>
          </a:prstGeom>
        </p:spPr>
        <p:txBody>
          <a:bodyPr wrap="none" lIns="0" tIns="0" rIns="0" bIns="0"/>
          <a:p>
            <a:pPr>
              <a:lnSpc>
                <a:spcPct val="100000"/>
              </a:lnSpc>
            </a:pPr>
            <a:r>
              <a:rPr lang="en-US" sz="1200" b="1" spc="150">
                <a:solidFill>
                  <a:srgbClr val="57068C"/>
                </a:solidFill>
                <a:latin typeface="Source Han Sans"/>
                <a:ea typeface="Source Han Sans"/>
              </a:rPr>
              <a:t>WHAT THE NEXT GENERATION OF TOOLS SHOULD ANSWER</a:t>
            </a:r>
            <a:endParaRPr lang="en-US" sz="1200" b="1" spc="150">
              <a:solidFill>
                <a:srgbClr val="57068C"/>
              </a:solidFill>
              <a:latin typeface="Source Han Sans"/>
              <a:ea typeface="Source Han Sans"/>
            </a:endParaRPr>
          </a:p>
        </p:txBody>
      </p:sp>
      <p:sp>
        <p:nvSpPr>
          <p:cNvPr id="126" name="矩形 125"/>
          <p:cNvSpPr/>
          <p:nvPr/>
        </p:nvSpPr>
        <p:spPr>
          <a:xfrm>
            <a:off x="571500" y="1295400"/>
            <a:ext cx="381000" cy="28575"/>
          </a:xfrm>
          <a:prstGeom prst="rect">
            <a:avLst/>
          </a:prstGeom>
          <a:solidFill>
            <a:srgbClr val="57068C"/>
          </a:solidFill>
        </p:spPr>
        <p:txBody>
          <a:bodyPr/>
          <a:p/>
        </p:txBody>
      </p:sp>
      <p:sp>
        <p:nvSpPr>
          <p:cNvPr id="127" name="文本框 126" descr="{&quot;isTemplate&quot;:true,&quot;type&quot;:&quot;text&quot;}"/>
          <p:cNvSpPr txBox="1"/>
          <p:nvPr/>
        </p:nvSpPr>
        <p:spPr>
          <a:xfrm>
            <a:off x="571500" y="1476375"/>
            <a:ext cx="6667500" cy="638175"/>
          </a:xfrm>
          <a:prstGeom prst="rect">
            <a:avLst/>
          </a:prstGeom>
        </p:spPr>
        <p:txBody>
          <a:bodyPr wrap="square" lIns="0" tIns="0" rIns="0" bIns="0">
            <a:normAutofit/>
          </a:bodyPr>
          <a:p>
            <a:pPr>
              <a:lnSpc>
                <a:spcPct val="155000"/>
              </a:lnSpc>
            </a:pPr>
            <a:r>
              <a:rPr lang="en-US" sz="1350">
                <a:solidFill>
                  <a:srgbClr val="1A2230"/>
                </a:solidFill>
                <a:latin typeface="Source Han Sans"/>
                <a:ea typeface="Source Han Sans"/>
              </a:rPr>
              <a:t>Three trends are already underway. A fourth, more speculative one, may matter more for pedagogy than any of them.</a:t>
            </a:r>
            <a:endParaRPr lang="en-US" sz="1350">
              <a:solidFill>
                <a:srgbClr val="1A2230"/>
              </a:solidFill>
              <a:latin typeface="Source Han Sans"/>
              <a:ea typeface="Source Han Sans"/>
            </a:endParaRPr>
          </a:p>
        </p:txBody>
      </p:sp>
      <p:sp>
        <p:nvSpPr>
          <p:cNvPr id="128" name="矩形 127"/>
          <p:cNvSpPr/>
          <p:nvPr/>
        </p:nvSpPr>
        <p:spPr>
          <a:xfrm>
            <a:off x="609600" y="2343150"/>
            <a:ext cx="6667500" cy="2095500"/>
          </a:xfrm>
          <a:prstGeom prst="rect">
            <a:avLst/>
          </a:prstGeom>
          <a:solidFill>
            <a:srgbClr val="F6F1FA"/>
          </a:solidFill>
        </p:spPr>
        <p:txBody>
          <a:bodyPr/>
          <a:p/>
        </p:txBody>
      </p:sp>
      <p:sp>
        <p:nvSpPr>
          <p:cNvPr id="129" name="任意多边形 128"/>
          <p:cNvSpPr/>
          <p:nvPr/>
        </p:nvSpPr>
        <p:spPr>
          <a:xfrm>
            <a:off x="571500" y="2343150"/>
            <a:ext cx="6705600" cy="2095500"/>
          </a:xfrm>
          <a:custGeom>
            <a:avLst/>
            <a:gdLst/>
            <a:ahLst/>
            <a:cxnLst/>
            <a:pathLst>
              <a:path w="704" h="220">
                <a:moveTo>
                  <a:pt x="0" y="0"/>
                </a:moveTo>
                <a:lnTo>
                  <a:pt x="4" y="0"/>
                </a:lnTo>
                <a:lnTo>
                  <a:pt x="4" y="220"/>
                </a:lnTo>
                <a:lnTo>
                  <a:pt x="0" y="220"/>
                </a:lnTo>
                <a:close/>
              </a:path>
            </a:pathLst>
          </a:custGeom>
          <a:solidFill>
            <a:srgbClr val="57068C"/>
          </a:solidFill>
        </p:spPr>
        <p:txBody>
          <a:bodyPr/>
          <a:p/>
        </p:txBody>
      </p:sp>
      <p:sp>
        <p:nvSpPr>
          <p:cNvPr id="130" name="文本框 129" descr="{&quot;isTemplate&quot;:true,&quot;type&quot;:&quot;text&quot;}"/>
          <p:cNvSpPr txBox="1"/>
          <p:nvPr/>
        </p:nvSpPr>
        <p:spPr>
          <a:xfrm>
            <a:off x="781050" y="2514600"/>
            <a:ext cx="6286500" cy="142875"/>
          </a:xfrm>
          <a:prstGeom prst="rect">
            <a:avLst/>
          </a:prstGeom>
        </p:spPr>
        <p:txBody>
          <a:bodyPr wrap="none" lIns="0" tIns="0" rIns="0" bIns="0"/>
          <a:p>
            <a:pPr>
              <a:lnSpc>
                <a:spcPct val="100000"/>
              </a:lnSpc>
            </a:pPr>
            <a:r>
              <a:rPr lang="en-US" sz="900" b="1" spc="150">
                <a:solidFill>
                  <a:srgbClr val="57068C"/>
                </a:solidFill>
                <a:latin typeface="Source Han Sans"/>
                <a:ea typeface="Source Han Sans"/>
              </a:rPr>
              <a:t>A SHIFT WE SHOULD NAME</a:t>
            </a:r>
            <a:endParaRPr lang="en-US" sz="900" b="1" spc="150">
              <a:solidFill>
                <a:srgbClr val="57068C"/>
              </a:solidFill>
              <a:latin typeface="Source Han Sans"/>
              <a:ea typeface="Source Han Sans"/>
            </a:endParaRPr>
          </a:p>
        </p:txBody>
      </p:sp>
      <p:sp>
        <p:nvSpPr>
          <p:cNvPr id="131" name="文本框 130" descr="{&quot;isTemplate&quot;:true,&quot;type&quot;:&quot;text&quot;}"/>
          <p:cNvSpPr txBox="1"/>
          <p:nvPr/>
        </p:nvSpPr>
        <p:spPr>
          <a:xfrm>
            <a:off x="781050" y="2733675"/>
            <a:ext cx="6286500" cy="657225"/>
          </a:xfrm>
          <a:prstGeom prst="rect">
            <a:avLst/>
          </a:prstGeom>
        </p:spPr>
        <p:txBody>
          <a:bodyPr wrap="square" lIns="0" tIns="0" rIns="0" bIns="0">
            <a:normAutofit/>
          </a:bodyPr>
          <a:p>
            <a:pPr>
              <a:lnSpc>
                <a:spcPct val="150000"/>
              </a:lnSpc>
            </a:pPr>
            <a:r>
              <a:rPr lang="en-US" sz="1425" b="1">
                <a:solidFill>
                  <a:srgbClr val="1A2230"/>
                </a:solidFill>
                <a:latin typeface="Source Han Sans"/>
                <a:ea typeface="Source Han Sans"/>
              </a:rPr>
              <a:t>From "AI-assisted game making" to </a:t>
            </a:r>
            <a:r>
              <a:rPr lang="en-US" sz="1425" b="1">
                <a:solidFill>
                  <a:srgbClr val="330662"/>
                </a:solidFill>
                <a:latin typeface="Source Han Sans"/>
                <a:ea typeface="Source Han Sans"/>
              </a:rPr>
              <a:t>systematic expression as a literacy</a:t>
            </a:r>
            <a:r>
              <a:rPr lang="en-US" sz="1425" b="1">
                <a:solidFill>
                  <a:srgbClr val="1A2230"/>
                </a:solidFill>
                <a:latin typeface="Source Han Sans"/>
                <a:ea typeface="Source Han Sans"/>
              </a:rPr>
              <a:t> for the AI era.</a:t>
            </a:r>
            <a:endParaRPr lang="en-US" sz="1425" b="1">
              <a:solidFill>
                <a:srgbClr val="1A2230"/>
              </a:solidFill>
              <a:latin typeface="Source Han Sans"/>
              <a:ea typeface="Source Han Sans"/>
            </a:endParaRPr>
          </a:p>
        </p:txBody>
      </p:sp>
      <p:sp>
        <p:nvSpPr>
          <p:cNvPr id="132" name="文本框 131" descr="{&quot;isTemplate&quot;:true,&quot;type&quot;:&quot;text&quot;}"/>
          <p:cNvSpPr txBox="1"/>
          <p:nvPr/>
        </p:nvSpPr>
        <p:spPr>
          <a:xfrm>
            <a:off x="781050" y="3467100"/>
            <a:ext cx="6286500" cy="800100"/>
          </a:xfrm>
          <a:prstGeom prst="rect">
            <a:avLst/>
          </a:prstGeom>
        </p:spPr>
        <p:txBody>
          <a:bodyPr wrap="square" lIns="0" tIns="0" rIns="0" bIns="0">
            <a:normAutofit/>
          </a:bodyPr>
          <a:p>
            <a:pPr>
              <a:lnSpc>
                <a:spcPct val="155000"/>
              </a:lnSpc>
            </a:pPr>
            <a:r>
              <a:rPr lang="en-US" sz="1125">
                <a:solidFill>
                  <a:srgbClr val="4A5568"/>
                </a:solidFill>
                <a:latin typeface="Source Han Sans"/>
                <a:ea typeface="Source Han Sans"/>
              </a:rPr>
              <a:t>When making a game is easy, the scarce skill is asking a precise question of an experience. Game design is a natural training ground — and a teachable, accountable one, if the workflow is structured for it.</a:t>
            </a:r>
            <a:endParaRPr lang="en-US" sz="1125">
              <a:solidFill>
                <a:srgbClr val="4A5568"/>
              </a:solidFill>
              <a:latin typeface="Source Han Sans"/>
              <a:ea typeface="Source Han Sans"/>
            </a:endParaRPr>
          </a:p>
        </p:txBody>
      </p:sp>
      <p:sp>
        <p:nvSpPr>
          <p:cNvPr id="133" name="圆角矩形 132"/>
          <p:cNvSpPr/>
          <p:nvPr/>
        </p:nvSpPr>
        <p:spPr>
          <a:xfrm>
            <a:off x="7429500" y="952500"/>
            <a:ext cx="4191000" cy="1238250"/>
          </a:xfrm>
          <a:prstGeom prst="roundRect">
            <a:avLst>
              <a:gd name="adj" fmla="val 6154"/>
            </a:avLst>
          </a:prstGeom>
          <a:solidFill>
            <a:srgbClr val="FAF8FC"/>
          </a:solidFill>
          <a:ln w="12700">
            <a:solidFill>
              <a:srgbClr val="E4DCEC"/>
            </a:solidFill>
            <a:prstDash val="solid"/>
          </a:ln>
        </p:spPr>
        <p:txBody>
          <a:bodyPr/>
          <a:p/>
        </p:txBody>
      </p:sp>
      <p:sp>
        <p:nvSpPr>
          <p:cNvPr id="134" name="文本框 133" descr="{&quot;isTemplate&quot;:true,&quot;type&quot;:&quot;text&quot;}"/>
          <p:cNvSpPr txBox="1"/>
          <p:nvPr/>
        </p:nvSpPr>
        <p:spPr>
          <a:xfrm>
            <a:off x="7581900" y="1104900"/>
            <a:ext cx="3886200" cy="133350"/>
          </a:xfrm>
          <a:prstGeom prst="rect">
            <a:avLst/>
          </a:prstGeom>
        </p:spPr>
        <p:txBody>
          <a:bodyPr wrap="none" lIns="0" tIns="0" rIns="0" bIns="0"/>
          <a:p>
            <a:pPr>
              <a:lnSpc>
                <a:spcPct val="100000"/>
              </a:lnSpc>
            </a:pPr>
            <a:r>
              <a:rPr lang="en-US" sz="825" b="1" spc="150">
                <a:solidFill>
                  <a:srgbClr val="57068C"/>
                </a:solidFill>
                <a:latin typeface="Source Han Sans"/>
                <a:ea typeface="Source Han Sans"/>
              </a:rPr>
              <a:t>TREND 1</a:t>
            </a:r>
            <a:endParaRPr lang="en-US" sz="825" b="1" spc="150">
              <a:solidFill>
                <a:srgbClr val="57068C"/>
              </a:solidFill>
              <a:latin typeface="Source Han Sans"/>
              <a:ea typeface="Source Han Sans"/>
            </a:endParaRPr>
          </a:p>
        </p:txBody>
      </p:sp>
      <p:sp>
        <p:nvSpPr>
          <p:cNvPr id="135" name="文本框 134" descr="{&quot;isTemplate&quot;:true,&quot;type&quot;:&quot;text&quot;}"/>
          <p:cNvSpPr txBox="1"/>
          <p:nvPr/>
        </p:nvSpPr>
        <p:spPr>
          <a:xfrm>
            <a:off x="7581900" y="1295400"/>
            <a:ext cx="3886200" cy="200025"/>
          </a:xfrm>
          <a:prstGeom prst="rect">
            <a:avLst/>
          </a:prstGeom>
        </p:spPr>
        <p:txBody>
          <a:bodyPr wrap="none" lIns="0" tIns="0" rIns="0" bIns="0"/>
          <a:p>
            <a:pPr>
              <a:lnSpc>
                <a:spcPct val="100000"/>
              </a:lnSpc>
            </a:pPr>
            <a:r>
              <a:rPr lang="en-US" sz="1275" b="1">
                <a:solidFill>
                  <a:srgbClr val="330662"/>
                </a:solidFill>
                <a:latin typeface="Source Han Sans"/>
                <a:ea typeface="Source Han Sans"/>
              </a:rPr>
              <a:t>Lower floor</a:t>
            </a:r>
            <a:endParaRPr lang="en-US" sz="1275" b="1">
              <a:solidFill>
                <a:srgbClr val="330662"/>
              </a:solidFill>
              <a:latin typeface="Source Han Sans"/>
              <a:ea typeface="Source Han Sans"/>
            </a:endParaRPr>
          </a:p>
        </p:txBody>
      </p:sp>
      <p:sp>
        <p:nvSpPr>
          <p:cNvPr id="136" name="文本框 135" descr="{&quot;isTemplate&quot;:true,&quot;type&quot;:&quot;text&quot;}"/>
          <p:cNvSpPr txBox="1"/>
          <p:nvPr/>
        </p:nvSpPr>
        <p:spPr>
          <a:xfrm>
            <a:off x="7581900" y="1552575"/>
            <a:ext cx="3886200" cy="485775"/>
          </a:xfrm>
          <a:prstGeom prst="rect">
            <a:avLst/>
          </a:prstGeom>
        </p:spPr>
        <p:txBody>
          <a:bodyPr wrap="square" lIns="0" tIns="0" rIns="0" bIns="0">
            <a:normAutofit/>
          </a:bodyPr>
          <a:p>
            <a:pPr>
              <a:lnSpc>
                <a:spcPct val="150000"/>
              </a:lnSpc>
            </a:pPr>
            <a:r>
              <a:rPr lang="en-US" sz="1050">
                <a:solidFill>
                  <a:srgbClr val="4A5568"/>
                </a:solidFill>
                <a:latin typeface="Source Han Sans"/>
                <a:ea typeface="Source Han Sans"/>
              </a:rPr>
              <a:t>Generation tools lower the bar to a playable demo. More people will try, and more will produce something.</a:t>
            </a:r>
            <a:endParaRPr lang="en-US" sz="1050">
              <a:solidFill>
                <a:srgbClr val="4A5568"/>
              </a:solidFill>
              <a:latin typeface="Source Han Sans"/>
              <a:ea typeface="Source Han Sans"/>
            </a:endParaRPr>
          </a:p>
        </p:txBody>
      </p:sp>
      <p:sp>
        <p:nvSpPr>
          <p:cNvPr id="137" name="圆角矩形 136"/>
          <p:cNvSpPr/>
          <p:nvPr/>
        </p:nvSpPr>
        <p:spPr>
          <a:xfrm>
            <a:off x="7429500" y="2324100"/>
            <a:ext cx="4191000" cy="1238250"/>
          </a:xfrm>
          <a:prstGeom prst="roundRect">
            <a:avLst>
              <a:gd name="adj" fmla="val 6154"/>
            </a:avLst>
          </a:prstGeom>
          <a:solidFill>
            <a:srgbClr val="FAF8FC"/>
          </a:solidFill>
          <a:ln w="12700">
            <a:solidFill>
              <a:srgbClr val="E4DCEC"/>
            </a:solidFill>
            <a:prstDash val="solid"/>
          </a:ln>
        </p:spPr>
        <p:txBody>
          <a:bodyPr/>
          <a:p/>
        </p:txBody>
      </p:sp>
      <p:sp>
        <p:nvSpPr>
          <p:cNvPr id="138" name="文本框 137" descr="{&quot;isTemplate&quot;:true,&quot;type&quot;:&quot;text&quot;}"/>
          <p:cNvSpPr txBox="1"/>
          <p:nvPr/>
        </p:nvSpPr>
        <p:spPr>
          <a:xfrm>
            <a:off x="7581900" y="2476500"/>
            <a:ext cx="3886200" cy="133350"/>
          </a:xfrm>
          <a:prstGeom prst="rect">
            <a:avLst/>
          </a:prstGeom>
        </p:spPr>
        <p:txBody>
          <a:bodyPr wrap="none" lIns="0" tIns="0" rIns="0" bIns="0"/>
          <a:p>
            <a:pPr>
              <a:lnSpc>
                <a:spcPct val="100000"/>
              </a:lnSpc>
            </a:pPr>
            <a:r>
              <a:rPr lang="en-US" sz="825" b="1" spc="150">
                <a:solidFill>
                  <a:srgbClr val="57068C"/>
                </a:solidFill>
                <a:latin typeface="Source Han Sans"/>
                <a:ea typeface="Source Han Sans"/>
              </a:rPr>
              <a:t>TREND 2</a:t>
            </a:r>
            <a:endParaRPr lang="en-US" sz="825" b="1" spc="150">
              <a:solidFill>
                <a:srgbClr val="57068C"/>
              </a:solidFill>
              <a:latin typeface="Source Han Sans"/>
              <a:ea typeface="Source Han Sans"/>
            </a:endParaRPr>
          </a:p>
        </p:txBody>
      </p:sp>
      <p:sp>
        <p:nvSpPr>
          <p:cNvPr id="139" name="文本框 138" descr="{&quot;isTemplate&quot;:true,&quot;type&quot;:&quot;text&quot;}"/>
          <p:cNvSpPr txBox="1"/>
          <p:nvPr/>
        </p:nvSpPr>
        <p:spPr>
          <a:xfrm>
            <a:off x="7581900" y="2667000"/>
            <a:ext cx="3886200" cy="200025"/>
          </a:xfrm>
          <a:prstGeom prst="rect">
            <a:avLst/>
          </a:prstGeom>
        </p:spPr>
        <p:txBody>
          <a:bodyPr wrap="none" lIns="0" tIns="0" rIns="0" bIns="0"/>
          <a:p>
            <a:pPr>
              <a:lnSpc>
                <a:spcPct val="100000"/>
              </a:lnSpc>
            </a:pPr>
            <a:r>
              <a:rPr lang="en-US" sz="1275" b="1">
                <a:solidFill>
                  <a:srgbClr val="330662"/>
                </a:solidFill>
                <a:latin typeface="Source Han Sans"/>
                <a:ea typeface="Source Han Sans"/>
              </a:rPr>
              <a:t>A growing case library</a:t>
            </a:r>
            <a:endParaRPr lang="en-US" sz="1275" b="1">
              <a:solidFill>
                <a:srgbClr val="330662"/>
              </a:solidFill>
              <a:latin typeface="Source Han Sans"/>
              <a:ea typeface="Source Han Sans"/>
            </a:endParaRPr>
          </a:p>
        </p:txBody>
      </p:sp>
      <p:sp>
        <p:nvSpPr>
          <p:cNvPr id="140" name="文本框 139" descr="{&quot;isTemplate&quot;:true,&quot;type&quot;:&quot;text&quot;}"/>
          <p:cNvSpPr txBox="1"/>
          <p:nvPr/>
        </p:nvSpPr>
        <p:spPr>
          <a:xfrm>
            <a:off x="7581900" y="2924175"/>
            <a:ext cx="3886200" cy="485775"/>
          </a:xfrm>
          <a:prstGeom prst="rect">
            <a:avLst/>
          </a:prstGeom>
        </p:spPr>
        <p:txBody>
          <a:bodyPr wrap="square" lIns="0" tIns="0" rIns="0" bIns="0">
            <a:normAutofit/>
          </a:bodyPr>
          <a:p>
            <a:pPr>
              <a:lnSpc>
                <a:spcPct val="150000"/>
              </a:lnSpc>
            </a:pPr>
            <a:r>
              <a:rPr lang="en-US" sz="1050">
                <a:solidFill>
                  <a:srgbClr val="4A5568"/>
                </a:solidFill>
                <a:latin typeface="Source Han Sans"/>
                <a:ea typeface="Source Han Sans"/>
              </a:rPr>
              <a:t>Classrooms and indie teams leave a trail of system descriptions and process logs. The field gets a corpus to study.</a:t>
            </a:r>
            <a:endParaRPr lang="en-US" sz="1050">
              <a:solidFill>
                <a:srgbClr val="4A5568"/>
              </a:solidFill>
              <a:latin typeface="Source Han Sans"/>
              <a:ea typeface="Source Han Sans"/>
            </a:endParaRPr>
          </a:p>
        </p:txBody>
      </p:sp>
      <p:sp>
        <p:nvSpPr>
          <p:cNvPr id="141" name="圆角矩形 140"/>
          <p:cNvSpPr/>
          <p:nvPr/>
        </p:nvSpPr>
        <p:spPr>
          <a:xfrm>
            <a:off x="7429500" y="3695700"/>
            <a:ext cx="4191000" cy="1476375"/>
          </a:xfrm>
          <a:prstGeom prst="roundRect">
            <a:avLst>
              <a:gd name="adj" fmla="val 5161"/>
            </a:avLst>
          </a:prstGeom>
          <a:solidFill>
            <a:srgbClr val="FAF8FC"/>
          </a:solidFill>
          <a:ln w="12700">
            <a:solidFill>
              <a:srgbClr val="E4DCEC"/>
            </a:solidFill>
            <a:prstDash val="solid"/>
          </a:ln>
        </p:spPr>
        <p:txBody>
          <a:bodyPr/>
          <a:p/>
        </p:txBody>
      </p:sp>
      <p:sp>
        <p:nvSpPr>
          <p:cNvPr id="142" name="文本框 141" descr="{&quot;isTemplate&quot;:true,&quot;type&quot;:&quot;text&quot;}"/>
          <p:cNvSpPr txBox="1"/>
          <p:nvPr/>
        </p:nvSpPr>
        <p:spPr>
          <a:xfrm>
            <a:off x="7581900" y="3848100"/>
            <a:ext cx="3886200" cy="133350"/>
          </a:xfrm>
          <a:prstGeom prst="rect">
            <a:avLst/>
          </a:prstGeom>
        </p:spPr>
        <p:txBody>
          <a:bodyPr wrap="none" lIns="0" tIns="0" rIns="0" bIns="0"/>
          <a:p>
            <a:pPr>
              <a:lnSpc>
                <a:spcPct val="100000"/>
              </a:lnSpc>
            </a:pPr>
            <a:r>
              <a:rPr lang="en-US" sz="825" b="1" spc="150">
                <a:solidFill>
                  <a:srgbClr val="57068C"/>
                </a:solidFill>
                <a:latin typeface="Source Han Sans"/>
                <a:ea typeface="Source Han Sans"/>
              </a:rPr>
              <a:t>TREND 3</a:t>
            </a:r>
            <a:endParaRPr lang="en-US" sz="825" b="1" spc="150">
              <a:solidFill>
                <a:srgbClr val="57068C"/>
              </a:solidFill>
              <a:latin typeface="Source Han Sans"/>
              <a:ea typeface="Source Han Sans"/>
            </a:endParaRPr>
          </a:p>
        </p:txBody>
      </p:sp>
      <p:sp>
        <p:nvSpPr>
          <p:cNvPr id="143" name="文本框 142" descr="{&quot;isTemplate&quot;:true,&quot;type&quot;:&quot;text&quot;}"/>
          <p:cNvSpPr txBox="1"/>
          <p:nvPr/>
        </p:nvSpPr>
        <p:spPr>
          <a:xfrm>
            <a:off x="7581900" y="4038600"/>
            <a:ext cx="3886200" cy="200025"/>
          </a:xfrm>
          <a:prstGeom prst="rect">
            <a:avLst/>
          </a:prstGeom>
        </p:spPr>
        <p:txBody>
          <a:bodyPr wrap="none" lIns="0" tIns="0" rIns="0" bIns="0"/>
          <a:p>
            <a:pPr>
              <a:lnSpc>
                <a:spcPct val="100000"/>
              </a:lnSpc>
            </a:pPr>
            <a:r>
              <a:rPr lang="en-US" sz="1275" b="1">
                <a:solidFill>
                  <a:srgbClr val="330662"/>
                </a:solidFill>
                <a:latin typeface="Source Han Sans"/>
                <a:ea typeface="Source Han Sans"/>
              </a:rPr>
              <a:t>Specialized, one-stop tools</a:t>
            </a:r>
            <a:endParaRPr lang="en-US" sz="1275" b="1">
              <a:solidFill>
                <a:srgbClr val="330662"/>
              </a:solidFill>
              <a:latin typeface="Source Han Sans"/>
              <a:ea typeface="Source Han Sans"/>
            </a:endParaRPr>
          </a:p>
        </p:txBody>
      </p:sp>
      <p:sp>
        <p:nvSpPr>
          <p:cNvPr id="144" name="文本框 143" descr="{&quot;isTemplate&quot;:true,&quot;type&quot;:&quot;text&quot;}"/>
          <p:cNvSpPr txBox="1"/>
          <p:nvPr/>
        </p:nvSpPr>
        <p:spPr>
          <a:xfrm>
            <a:off x="7581900" y="4295775"/>
            <a:ext cx="3886200" cy="723900"/>
          </a:xfrm>
          <a:prstGeom prst="rect">
            <a:avLst/>
          </a:prstGeom>
        </p:spPr>
        <p:txBody>
          <a:bodyPr wrap="square" lIns="0" tIns="0" rIns="0" bIns="0">
            <a:normAutofit/>
          </a:bodyPr>
          <a:p>
            <a:pPr>
              <a:lnSpc>
                <a:spcPct val="150000"/>
              </a:lnSpc>
            </a:pPr>
            <a:r>
              <a:rPr lang="en-US" sz="1050">
                <a:solidFill>
                  <a:srgbClr val="4A5568"/>
                </a:solidFill>
                <a:latin typeface="Source Han Sans"/>
                <a:ea typeface="Source Han Sans"/>
              </a:rPr>
              <a:t>Generic IDEs hit a ceiling on complete games. </a:t>
            </a:r>
            <a:endParaRPr lang="en-US" sz="1050">
              <a:solidFill>
                <a:srgbClr val="4A5568"/>
              </a:solidFill>
              <a:latin typeface="Source Han Sans"/>
              <a:ea typeface="Source Han Sans"/>
            </a:endParaRPr>
          </a:p>
          <a:p>
            <a:pPr>
              <a:lnSpc>
                <a:spcPct val="150000"/>
              </a:lnSpc>
            </a:pPr>
            <a:r>
              <a:rPr lang="en-US" sz="1050">
                <a:solidFill>
                  <a:srgbClr val="4A5568"/>
                </a:solidFill>
                <a:latin typeface="Source Han Sans"/>
                <a:ea typeface="Source Han Sans"/>
              </a:rPr>
              <a:t>Purpose-built engines — blueprint as source of truth, embedded playtest — are the natural next step.</a:t>
            </a:r>
            <a:endParaRPr lang="en-US" sz="1050">
              <a:solidFill>
                <a:srgbClr val="4A5568"/>
              </a:solidFill>
              <a:latin typeface="Source Han Sans"/>
              <a:ea typeface="Source Han Sans"/>
            </a:endParaRPr>
          </a:p>
        </p:txBody>
      </p:sp>
      <p:sp>
        <p:nvSpPr>
          <p:cNvPr id="145" name="文本框 144" descr="{&quot;isTemplate&quot;:true,&quot;type&quot;:&quot;text&quot;}"/>
          <p:cNvSpPr txBox="1"/>
          <p:nvPr/>
        </p:nvSpPr>
        <p:spPr>
          <a:xfrm>
            <a:off x="571500" y="6477000"/>
            <a:ext cx="3448050" cy="161925"/>
          </a:xfrm>
          <a:prstGeom prst="rect">
            <a:avLst/>
          </a:prstGeom>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lang="en-US" sz="1050">
              <a:solidFill>
                <a:srgbClr val="8B97A8"/>
              </a:solidFill>
              <a:latin typeface="Source Han Sans"/>
              <a:ea typeface="Source Han Sans"/>
            </a:endParaRPr>
          </a:p>
        </p:txBody>
      </p:sp>
      <p:sp>
        <p:nvSpPr>
          <p:cNvPr id="146" name="文本框 145" descr="{&quot;isTemplate&quot;:true,&quot;type&quot;:&quot;text&quot;}"/>
          <p:cNvSpPr txBox="1"/>
          <p:nvPr/>
        </p:nvSpPr>
        <p:spPr>
          <a:xfrm>
            <a:off x="11210925" y="6477000"/>
            <a:ext cx="409575" cy="161925"/>
          </a:xfrm>
          <a:prstGeom prst="rect">
            <a:avLst/>
          </a:prstGeom>
        </p:spPr>
        <p:txBody>
          <a:bodyPr wrap="none" lIns="0" tIns="0" rIns="0" bIns="0"/>
          <a:p>
            <a:pPr>
              <a:lnSpc>
                <a:spcPct val="100000"/>
              </a:lnSpc>
            </a:pPr>
            <a:r>
              <a:rPr lang="en-US" sz="1050" b="1">
                <a:solidFill>
                  <a:srgbClr val="57068C"/>
                </a:solidFill>
                <a:latin typeface="Source Han Sans"/>
                <a:ea typeface="Source Han Sans"/>
              </a:rPr>
              <a:t>15 / 16</a:t>
            </a:r>
            <a:endParaRPr lang="en-US" sz="1050" b="1">
              <a:solidFill>
                <a:srgbClr val="57068C"/>
              </a:solidFill>
              <a:latin typeface="Source Han Sans"/>
              <a:ea typeface="Source Ha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47" name="" descr="&lt;Slide style={{ width: '1280px', height: '720px', background: '#FFFFFF', position: 'relative', fontFamily: 'Source Han Sans, Noto Sans CJK SC, sans-serif' }}&gt;&#10;  &lt;Box style={{ position: 'absolute', top: 0, left: 0, width: '100%', height: 60, background: '#0E3F8C' }} /&gt;&#10;  &lt;Box style={{ position: 'absolute', top: 200, left: 100, right: 100, flexDirection: 'column', gap: 32, alignItems: 'center' }}&gt;&#10;    &lt;Box style={{ width: 40, height: 4, background: '#FFC107' }} /&gt;&#10;    &lt;Text style={{ fontSize: 18, color: '#1E4FA8', fontWeight: 'bold', letterSpacing: 3, textAlign: 'center' }}&gt;TO CLOSE&lt;/Text&gt;&#10;    &lt;Text style={{ fontSize: 44, fontFamily: 'Source Serif Pro, Georgia, serif', color: '#0E3F8C', lineHeight: 1.3, textAlign: 'center', fontWeight: 'bold' }}&gt;&#10;      When making a game becomes easy,&#10;    &lt;/Text&gt;&#10;    &lt;Text style={{ fontSize: 36, fontFamily: 'Source Serif Pro, Georgia, serif', color: '#1A2230', lineHeight: 1.35, textAlign: 'center' }}&gt;&#10;      the hard part is knowing what you want players to feel.&#10;    &lt;/Text&gt;&#10;    &lt;Text style={{ fontSize: 30, fontFamily: 'Source Serif Pro, Georgia, serif', color: '#1E4FA8', lineHeight: 1.35, textAlign: 'center', fontStyle: 'italic' }}&gt;&#10;      AI can’t do that for you — but it can help you ask it clearly.&#10;    &lt;/Text&gt;&#10;    &lt;Box style={{ width: 40, height: 4, background: '#FFC107' }} /&gt;&#10;  &lt;/Box&gt;&#10;  &lt;Box style={{ position: 'absolute', bottom: 80, left: 0, right: 0, flexDirection: 'column', gap: 4, alignItems: 'center' }}&gt;&#10;    &lt;Text style={{ fontSize: 18, color: '#1A2230', fontWeight: 'bold' }}&gt;Xingchen Zhang · Interactive Media Arts · NYU Shanghai&lt;/Text&gt;&#10;    &lt;Text style={{ fontSize: 14, color: '#4A5568' }}&gt;xingchen.zhang@nyu.edu · xingchen-ian on GitHub&lt;/Text&gt;&#10;    &lt;Text style={{ fontSize: 13, color: '#8B97A8', marginTop: 8 }}&gt;Thanks to the NYU Shanghai IMA students, the summer-camp teams, and the XJTLU organizers.&lt;/Text&gt;&#10;  &lt;/Box&gt;&#10;  &lt;Box style={{ position: 'absolute', top: 680, left: 60, right: 60, flexDirection: 'row', justifyContent: 'space-between' }}&gt;&#10;    &lt;Text style={{ fontSize: 14, color: '#8B97A8' }}&gt;XJTLU 2026 · Panel 11 — Human-Guided AI Pedagogy&lt;/Text&gt;&#10;    &lt;Text style={{ fontSize: 14, color: '#1E4FA8', fontWeight: 'bold' }}&gt;16 / 16&lt;/Text&gt;&#10;  &lt;/Box&gt;&#10;&lt;/Slide&gt;&#10;"/>
        <p:cNvGrpSpPr/>
        <p:nvPr/>
      </p:nvGrpSpPr>
      <p:grpSpPr>
        <a:xfrm>
          <a:off x="0" y="0"/>
          <a:ext cx="0" cy="0"/>
          <a:chOff x="0" y="0"/>
          <a:chExt cx="0" cy="0"/>
        </a:xfrm>
      </p:grpSpPr>
      <p:sp>
        <p:nvSpPr>
          <p:cNvPr id="148" name="矩形 147"/>
          <p:cNvSpPr/>
          <p:nvPr/>
        </p:nvSpPr>
        <p:spPr>
          <a:xfrm>
            <a:off x="0" y="0"/>
            <a:ext cx="12192000" cy="6858000"/>
          </a:xfrm>
          <a:prstGeom prst="rect">
            <a:avLst/>
          </a:prstGeom>
          <a:solidFill>
            <a:srgbClr val="FFFFFF"/>
          </a:solidFill>
        </p:spPr>
        <p:txBody>
          <a:bodyPr/>
          <a:p/>
        </p:txBody>
      </p:sp>
      <p:sp>
        <p:nvSpPr>
          <p:cNvPr id="149" name="矩形 148"/>
          <p:cNvSpPr/>
          <p:nvPr/>
        </p:nvSpPr>
        <p:spPr>
          <a:xfrm>
            <a:off x="0" y="0"/>
            <a:ext cx="12192000" cy="571500"/>
          </a:xfrm>
          <a:prstGeom prst="rect">
            <a:avLst/>
          </a:prstGeom>
          <a:solidFill>
            <a:srgbClr val="330662"/>
          </a:solidFill>
        </p:spPr>
        <p:txBody>
          <a:bodyPr/>
          <a:p/>
        </p:txBody>
      </p:sp>
      <p:sp>
        <p:nvSpPr>
          <p:cNvPr id="150" name="矩形 149"/>
          <p:cNvSpPr/>
          <p:nvPr/>
        </p:nvSpPr>
        <p:spPr>
          <a:xfrm>
            <a:off x="5905500" y="1905000"/>
            <a:ext cx="381000" cy="38100"/>
          </a:xfrm>
          <a:prstGeom prst="rect">
            <a:avLst/>
          </a:prstGeom>
          <a:solidFill>
            <a:srgbClr val="FFC107"/>
          </a:solidFill>
        </p:spPr>
        <p:txBody>
          <a:bodyPr/>
          <a:p/>
        </p:txBody>
      </p:sp>
      <p:sp>
        <p:nvSpPr>
          <p:cNvPr id="151" name="文本框 150" descr="{&quot;isTemplate&quot;:true,&quot;type&quot;:&quot;text&quot;}"/>
          <p:cNvSpPr txBox="1"/>
          <p:nvPr/>
        </p:nvSpPr>
        <p:spPr>
          <a:xfrm>
            <a:off x="5543550" y="2247900"/>
            <a:ext cx="1114425" cy="209550"/>
          </a:xfrm>
          <a:prstGeom prst="rect">
            <a:avLst/>
          </a:prstGeom>
        </p:spPr>
        <p:txBody>
          <a:bodyPr wrap="none" lIns="0" tIns="0" rIns="0" bIns="0"/>
          <a:p>
            <a:pPr algn="ctr">
              <a:lnSpc>
                <a:spcPct val="100000"/>
              </a:lnSpc>
            </a:pPr>
            <a:r>
              <a:rPr lang="en-US" sz="1350" b="1" spc="225">
                <a:solidFill>
                  <a:srgbClr val="57068C"/>
                </a:solidFill>
                <a:latin typeface="Source Han Sans"/>
                <a:ea typeface="Source Han Sans"/>
              </a:rPr>
              <a:t>TO CLOSE</a:t>
            </a:r>
            <a:endParaRPr lang="en-US" sz="1350" b="1" spc="225">
              <a:solidFill>
                <a:srgbClr val="57068C"/>
              </a:solidFill>
              <a:latin typeface="Source Han Sans"/>
              <a:ea typeface="Source Han Sans"/>
            </a:endParaRPr>
          </a:p>
        </p:txBody>
      </p:sp>
      <p:sp>
        <p:nvSpPr>
          <p:cNvPr id="152" name="文本框 151" descr="{&quot;isTemplate&quot;:true,&quot;type&quot;:&quot;text&quot;}"/>
          <p:cNvSpPr txBox="1"/>
          <p:nvPr/>
        </p:nvSpPr>
        <p:spPr>
          <a:xfrm>
            <a:off x="2200275" y="2762250"/>
            <a:ext cx="7800975" cy="657225"/>
          </a:xfrm>
          <a:prstGeom prst="rect">
            <a:avLst/>
          </a:prstGeom>
        </p:spPr>
        <p:txBody>
          <a:bodyPr wrap="none" lIns="0" tIns="0" rIns="0" bIns="0"/>
          <a:p>
            <a:pPr algn="ctr">
              <a:lnSpc>
                <a:spcPct val="130000"/>
              </a:lnSpc>
            </a:pPr>
            <a:r>
              <a:rPr lang="en-US" sz="3300" b="1">
                <a:solidFill>
                  <a:srgbClr val="330662"/>
                </a:solidFill>
                <a:latin typeface="Source Serif Pro"/>
                <a:ea typeface="Source Serif Pro"/>
              </a:rPr>
              <a:t>When making a game becomes easy,</a:t>
            </a:r>
            <a:endParaRPr lang="en-US" sz="3300" b="1">
              <a:solidFill>
                <a:srgbClr val="330662"/>
              </a:solidFill>
              <a:latin typeface="Source Serif Pro"/>
              <a:ea typeface="Source Serif Pro"/>
            </a:endParaRPr>
          </a:p>
        </p:txBody>
      </p:sp>
      <p:sp>
        <p:nvSpPr>
          <p:cNvPr id="153" name="文本框 152" descr="{&quot;isTemplate&quot;:true,&quot;type&quot;:&quot;text&quot;}"/>
          <p:cNvSpPr txBox="1"/>
          <p:nvPr/>
        </p:nvSpPr>
        <p:spPr>
          <a:xfrm>
            <a:off x="1962150" y="3724275"/>
            <a:ext cx="8267700" cy="561975"/>
          </a:xfrm>
          <a:prstGeom prst="rect">
            <a:avLst/>
          </a:prstGeom>
        </p:spPr>
        <p:txBody>
          <a:bodyPr wrap="none" lIns="0" tIns="0" rIns="0" bIns="0"/>
          <a:p>
            <a:pPr algn="ctr">
              <a:lnSpc>
                <a:spcPct val="135000"/>
              </a:lnSpc>
            </a:pPr>
            <a:r>
              <a:rPr lang="en-US" sz="2700">
                <a:solidFill>
                  <a:srgbClr val="1A2230"/>
                </a:solidFill>
                <a:latin typeface="Source Serif Pro"/>
                <a:ea typeface="Source Serif Pro"/>
              </a:rPr>
              <a:t>the hard part is knowing what you want players to feel.</a:t>
            </a:r>
            <a:endParaRPr lang="en-US" sz="2700">
              <a:solidFill>
                <a:srgbClr val="1A2230"/>
              </a:solidFill>
              <a:latin typeface="Source Serif Pro"/>
              <a:ea typeface="Source Serif Pro"/>
            </a:endParaRPr>
          </a:p>
        </p:txBody>
      </p:sp>
      <p:sp>
        <p:nvSpPr>
          <p:cNvPr id="154" name="文本框 153" descr="{&quot;isTemplate&quot;:true,&quot;type&quot;:&quot;text&quot;}"/>
          <p:cNvSpPr txBox="1"/>
          <p:nvPr/>
        </p:nvSpPr>
        <p:spPr>
          <a:xfrm>
            <a:off x="2343150" y="4591050"/>
            <a:ext cx="7505700" cy="466725"/>
          </a:xfrm>
          <a:prstGeom prst="rect">
            <a:avLst/>
          </a:prstGeom>
        </p:spPr>
        <p:txBody>
          <a:bodyPr wrap="none" lIns="0" tIns="0" rIns="0" bIns="0"/>
          <a:p>
            <a:pPr algn="ctr">
              <a:lnSpc>
                <a:spcPct val="135000"/>
              </a:lnSpc>
            </a:pPr>
            <a:r>
              <a:rPr lang="en-US" sz="2250" i="1">
                <a:solidFill>
                  <a:srgbClr val="57068C"/>
                </a:solidFill>
                <a:latin typeface="Source Serif Pro"/>
                <a:ea typeface="Source Serif Pro"/>
              </a:rPr>
              <a:t>AI can’t do that for you — but it can help you ask it clearly.</a:t>
            </a:r>
            <a:endParaRPr lang="en-US" sz="2250" i="1">
              <a:solidFill>
                <a:srgbClr val="57068C"/>
              </a:solidFill>
              <a:latin typeface="Source Serif Pro"/>
              <a:ea typeface="Source Serif Pro"/>
            </a:endParaRPr>
          </a:p>
        </p:txBody>
      </p:sp>
      <p:sp>
        <p:nvSpPr>
          <p:cNvPr id="155" name="矩形 154"/>
          <p:cNvSpPr/>
          <p:nvPr/>
        </p:nvSpPr>
        <p:spPr>
          <a:xfrm>
            <a:off x="5905500" y="5362575"/>
            <a:ext cx="381000" cy="38100"/>
          </a:xfrm>
          <a:prstGeom prst="rect">
            <a:avLst/>
          </a:prstGeom>
          <a:solidFill>
            <a:srgbClr val="FFC107"/>
          </a:solidFill>
        </p:spPr>
        <p:txBody>
          <a:bodyPr/>
          <a:p/>
        </p:txBody>
      </p:sp>
      <p:sp>
        <p:nvSpPr>
          <p:cNvPr id="156" name="文本框 155" descr="{&quot;isTemplate&quot;:true,&quot;type&quot;:&quot;text&quot;}"/>
          <p:cNvSpPr txBox="1"/>
          <p:nvPr/>
        </p:nvSpPr>
        <p:spPr>
          <a:xfrm>
            <a:off x="3800475" y="5419725"/>
            <a:ext cx="4591050" cy="209550"/>
          </a:xfrm>
          <a:prstGeom prst="rect">
            <a:avLst/>
          </a:prstGeom>
        </p:spPr>
        <p:txBody>
          <a:bodyPr wrap="none" lIns="0" tIns="0" rIns="0" bIns="0"/>
          <a:p>
            <a:pPr>
              <a:lnSpc>
                <a:spcPct val="100000"/>
              </a:lnSpc>
            </a:pPr>
            <a:r>
              <a:rPr lang="en-US" sz="1350" b="1">
                <a:solidFill>
                  <a:srgbClr val="1A2230"/>
                </a:solidFill>
                <a:latin typeface="Source Han Sans"/>
                <a:ea typeface="Source Han Sans"/>
              </a:rPr>
              <a:t>Xingchen Zhang · Interactive Media Arts · NYU Shanghai</a:t>
            </a:r>
            <a:endParaRPr lang="en-US" sz="1350" b="1">
              <a:solidFill>
                <a:srgbClr val="1A2230"/>
              </a:solidFill>
              <a:latin typeface="Source Han Sans"/>
              <a:ea typeface="Source Han Sans"/>
            </a:endParaRPr>
          </a:p>
        </p:txBody>
      </p:sp>
      <p:sp>
        <p:nvSpPr>
          <p:cNvPr id="157" name="文本框 156" descr="{&quot;isTemplate&quot;:true,&quot;type&quot;:&quot;text&quot;}"/>
          <p:cNvSpPr txBox="1"/>
          <p:nvPr/>
        </p:nvSpPr>
        <p:spPr>
          <a:xfrm>
            <a:off x="4572000" y="5667375"/>
            <a:ext cx="3057525" cy="161925"/>
          </a:xfrm>
          <a:prstGeom prst="rect">
            <a:avLst/>
          </a:prstGeom>
        </p:spPr>
        <p:txBody>
          <a:bodyPr wrap="none" lIns="0" tIns="0" rIns="0" bIns="0"/>
          <a:p>
            <a:pPr>
              <a:lnSpc>
                <a:spcPct val="100000"/>
              </a:lnSpc>
            </a:pPr>
            <a:r>
              <a:rPr lang="en-US" sz="1050">
                <a:solidFill>
                  <a:srgbClr val="4A5568"/>
                </a:solidFill>
                <a:latin typeface="Source Han Sans"/>
                <a:ea typeface="Source Han Sans"/>
              </a:rPr>
              <a:t>xingchen.zhang@nyu.edu · xingchen-ian on GitHub</a:t>
            </a:r>
            <a:endParaRPr lang="en-US" sz="1050">
              <a:solidFill>
                <a:srgbClr val="4A5568"/>
              </a:solidFill>
              <a:latin typeface="Source Han Sans"/>
              <a:ea typeface="Source Han Sans"/>
            </a:endParaRPr>
          </a:p>
        </p:txBody>
      </p:sp>
      <p:sp>
        <p:nvSpPr>
          <p:cNvPr id="158" name="文本框 157" descr="{&quot;isTemplate&quot;:true,&quot;type&quot;:&quot;text&quot;}"/>
          <p:cNvSpPr txBox="1"/>
          <p:nvPr/>
        </p:nvSpPr>
        <p:spPr>
          <a:xfrm>
            <a:off x="3429000" y="5943600"/>
            <a:ext cx="5343525" cy="152400"/>
          </a:xfrm>
          <a:prstGeom prst="rect">
            <a:avLst/>
          </a:prstGeom>
        </p:spPr>
        <p:txBody>
          <a:bodyPr wrap="none" lIns="0" tIns="0" rIns="0" bIns="0"/>
          <a:p>
            <a:pPr>
              <a:lnSpc>
                <a:spcPct val="100000"/>
              </a:lnSpc>
            </a:pPr>
            <a:r>
              <a:rPr lang="en-US" sz="975">
                <a:solidFill>
                  <a:srgbClr val="8B97A8"/>
                </a:solidFill>
                <a:latin typeface="Source Han Sans"/>
                <a:ea typeface="Source Han Sans"/>
              </a:rPr>
              <a:t>Thanks to the NYU Shanghai IMA students, the summer-camp teams, and the XJTLU organizers.</a:t>
            </a:r>
            <a:endParaRPr lang="en-US" sz="975">
              <a:solidFill>
                <a:srgbClr val="8B97A8"/>
              </a:solidFill>
              <a:latin typeface="Source Han Sans"/>
              <a:ea typeface="Source Han Sans"/>
            </a:endParaRPr>
          </a:p>
        </p:txBody>
      </p:sp>
      <p:sp>
        <p:nvSpPr>
          <p:cNvPr id="159" name="文本框 158" descr="{&quot;isTemplate&quot;:true,&quot;type&quot;:&quot;text&quot;}"/>
          <p:cNvSpPr txBox="1"/>
          <p:nvPr/>
        </p:nvSpPr>
        <p:spPr>
          <a:xfrm>
            <a:off x="571500" y="6477000"/>
            <a:ext cx="3286125" cy="161925"/>
          </a:xfrm>
          <a:prstGeom prst="rect">
            <a:avLst/>
          </a:prstGeom>
        </p:spPr>
        <p:txBody>
          <a:bodyPr wrap="none" lIns="0" tIns="0" rIns="0" bIns="0"/>
          <a:p>
            <a:pPr>
              <a:lnSpc>
                <a:spcPct val="100000"/>
              </a:lnSpc>
            </a:pPr>
            <a:r>
              <a:rPr lang="en-US" sz="1050">
                <a:solidFill>
                  <a:srgbClr val="8B97A8"/>
                </a:solidFill>
                <a:latin typeface="Source Han Sans"/>
                <a:ea typeface="Source Han Sans"/>
              </a:rPr>
              <a:t>XJTLU 2026 · Panel 11 — Human-Guided AI Pedagogy</a:t>
            </a:r>
            <a:endParaRPr lang="en-US" sz="1050">
              <a:solidFill>
                <a:srgbClr val="8B97A8"/>
              </a:solidFill>
              <a:latin typeface="Source Han Sans"/>
              <a:ea typeface="Source Han Sans"/>
            </a:endParaRPr>
          </a:p>
        </p:txBody>
      </p:sp>
      <p:sp>
        <p:nvSpPr>
          <p:cNvPr id="160" name="文本框 159" descr="{&quot;isTemplate&quot;:true,&quot;type&quot;:&quot;text&quot;}"/>
          <p:cNvSpPr txBox="1"/>
          <p:nvPr/>
        </p:nvSpPr>
        <p:spPr>
          <a:xfrm>
            <a:off x="11210925" y="6477000"/>
            <a:ext cx="409575" cy="161925"/>
          </a:xfrm>
          <a:prstGeom prst="rect">
            <a:avLst/>
          </a:prstGeom>
        </p:spPr>
        <p:txBody>
          <a:bodyPr wrap="none" lIns="0" tIns="0" rIns="0" bIns="0"/>
          <a:p>
            <a:pPr>
              <a:lnSpc>
                <a:spcPct val="100000"/>
              </a:lnSpc>
            </a:pPr>
            <a:r>
              <a:rPr lang="en-US" sz="1050" b="1">
                <a:solidFill>
                  <a:srgbClr val="57068C"/>
                </a:solidFill>
                <a:latin typeface="Source Han Sans"/>
                <a:ea typeface="Source Han Sans"/>
              </a:rPr>
              <a:t>16 / 16</a:t>
            </a:r>
            <a:endParaRPr lang="en-US" sz="1050" b="1">
              <a:solidFill>
                <a:srgbClr val="57068C"/>
              </a:solidFill>
              <a:latin typeface="Source Han Sans"/>
              <a:ea typeface="Source Ha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99" name="" descr="&lt;Slide style={{ width: '1280px', height: '720px', background: '#FFFFFF', position: 'relative', fontFamily: 'Source Han Sans, Noto Sans CJK SC, sans-serif' }}&gt;&#10;  &lt;Box style={{ position: 'absolute', top: 0, left: 0, width: '100%', height: 60, background: '#0E3F8C' }}&gt;&#10;    &lt;Text style={{ color: '#FFFFFF', fontSize: 22, fontWeight: 'bold', padding: '14px 60px' }}&gt;&quot;A game in one sentence&quot; became a benchmark&lt;/Text&gt;&#10;  &lt;/Box&gt;&#10;  &lt;Box style={{ position: 'absolute', top: 100, left: 60, width: 700, flexDirection: 'column', gap: 18 }}&gt;&#10;    &lt;Text style={{ fontSize: 20, color: '#1A2230', lineHeight: 1.5 }}&gt;&#10;      In 2025–26, generating a playable game from a one-sentence prompt became a standard way to demonstrate model capability.&#10;    &lt;/Text&gt;&#10;    &lt;Text style={{ fontSize: 18, color: '#4A5568', lineHeight: 1.6 }}&gt;&#10;      Rosebud, Summer Engine, and chat-driven IDEs ship browser or desktop games from a short natural-language brief. Unity 7 will bundle a coding agent; UE 5.8 has experimental MCP. Industry surveys report broad adoption.&#10;    &lt;/Text&gt;&#10;    &lt;Text style={{ fontSize: 18, color: '#4A5568', lineHeight: 1.6 }}&gt;&#10;      At a research university this is not just a product story. It is a teaching question: if a sentence can yield a running game, what are we asking our students to do?&#10;    &lt;/Text&gt;&#10;  &lt;/Box&gt;&#10;  &lt;Box style={{ position: 'absolute', top: 100, right: 60, width: 440, height: 360, padding: 28, background: '#F0F5FC', border: '1px solid #D6DCE5', borderRadius: 10, flexDirection: 'column', gap: 12 }}&gt;&#10;    &lt;Text style={{ fontSize: 14, color: '#1E4FA8', fontWeight: 'bold', letterSpacing: 1 }}&gt;SINGLE-PASS GENERATION&lt;/Text&gt;&#10;    &lt;Text style={{ fontSize: 96, fontWeight: 'bold', color: '#D9534F', lineHeight: 1, fontFamily: 'Source Serif Pro, Georgia, serif' }}&gt;0&lt;/Text&gt;&#10;    &lt;Text style={{ fontSize: 18, color: '#1A2230', lineHeight: 1.4 }}&gt;&#10;      of &lt;span style={{ fontWeight: 'bold' }}&gt;10,400&lt;/span&gt; single-pass generations compiled&#10;    &lt;/Text&gt;&#10;    &lt;Text style={{ fontSize: 14, color: '#4A5568', lineHeight: 1.5 }}&gt;&#10;      without a fix loop, on a professional engine task&#10;    &lt;/Text&gt;&#10;    &lt;Box style={{ width: 40, height: 3, background: '#1E4FA8' }} /&gt;&#10;    &lt;Text style={{ fontSize: 13, color: '#8B97A8' }}&gt;Source: arXiv:2607.10187 (2026)&lt;/Text&gt;&#10;  &lt;/Box&gt;&#10;  &lt;Box style={{ position: 'absolute', top: 500, left: 60, right: 60, height: 70, padding: 16, background: '#1E4FA8', borderRadius: 8, flexDirection: 'row', alignItems: 'center', gap: 16 }}&gt;&#10;    &lt;Box style={{ width: 4, height: 40, background: '#FFFFFF' }} /&gt;&#10;    &lt;Text style={{ fontSize: 18, color: '#FFFFFF', lineHeight: 1.4, flex: 1 }}&gt;&#10;      Democratization of the demo is real. The next question is what survives the demo.&#10;    &lt;/Text&gt;&#10;  &lt;/Box&gt;&#10;  &lt;Box style={{ position: 'absolute', top: 680, left: 60, right: 60, flexDirection: 'row', justifyContent: 'space-between' }}&gt;&#10;    &lt;Text style={{ fontSize: 14, color: '#8B97A8' }}&gt;Xingchen Zhang · NYU Shanghai · XJTLU 2026 · Panel 11&lt;/Text&gt;&#10;    &lt;Text style={{ fontSize: 14, color: '#1E4FA8', fontWeight: 'bold' }}&gt;04 / 16&lt;/Text&gt;&#10;  &lt;/Box&gt;&#10;&lt;/Slide&gt;&#10;"/>
        <p:cNvGrpSpPr/>
        <p:nvPr/>
      </p:nvGrpSpPr>
      <p:grpSpPr>
        <a:xfrm>
          <a:off x="0" y="0"/>
          <a:ext cx="0" cy="0"/>
          <a:chOff x="0" y="0"/>
          <a:chExt cx="0" cy="0"/>
        </a:xfrm>
      </p:grpSpPr>
      <p:sp>
        <p:nvSpPr>
          <p:cNvPr id="200" name="矩形 199"/>
          <p:cNvSpPr/>
          <p:nvPr/>
        </p:nvSpPr>
        <p:spPr>
          <a:xfrm>
            <a:off x="0" y="0"/>
            <a:ext cx="12192000" cy="6858000"/>
          </a:xfrm>
          <a:prstGeom prst="rect">
            <a:avLst/>
          </a:prstGeom>
          <a:solidFill>
            <a:srgbClr val="FFFFFF"/>
          </a:solidFill>
        </p:spPr>
        <p:txBody>
          <a:bodyPr/>
          <a:p/>
        </p:txBody>
      </p:sp>
      <p:sp>
        <p:nvSpPr>
          <p:cNvPr id="201" name="矩形 200"/>
          <p:cNvSpPr/>
          <p:nvPr/>
        </p:nvSpPr>
        <p:spPr>
          <a:xfrm>
            <a:off x="0" y="0"/>
            <a:ext cx="12192000" cy="571500"/>
          </a:xfrm>
          <a:prstGeom prst="rect">
            <a:avLst/>
          </a:prstGeom>
          <a:solidFill>
            <a:srgbClr val="330662"/>
          </a:solidFill>
        </p:spPr>
        <p:txBody>
          <a:bodyPr/>
          <a:p/>
        </p:txBody>
      </p:sp>
      <p:sp>
        <p:nvSpPr>
          <p:cNvPr id="202" name="文本框 201" descr="{&quot;isTemplate&quot;:true,&quot;type&quot;:&quot;text&quot;}"/>
          <p:cNvSpPr txBox="1"/>
          <p:nvPr/>
        </p:nvSpPr>
        <p:spPr>
          <a:xfrm>
            <a:off x="0" y="0"/>
            <a:ext cx="12192000" cy="523875"/>
          </a:xfrm>
          <a:prstGeom prst="rect">
            <a:avLst/>
          </a:prstGeom>
        </p:spPr>
        <p:txBody>
          <a:bodyPr wrap="none" lIns="428625" tIns="100013" rIns="428625" bIns="100013"/>
          <a:p>
            <a:pPr>
              <a:lnSpc>
                <a:spcPct val="100000"/>
              </a:lnSpc>
            </a:pPr>
            <a:r>
              <a:rPr lang="en-US" sz="1650" b="1">
                <a:solidFill>
                  <a:srgbClr val="FFFFFF"/>
                </a:solidFill>
                <a:latin typeface="Source Han Sans"/>
                <a:ea typeface="Source Han Sans"/>
              </a:rPr>
              <a:t>"A game in one sentence" became a benchmark</a:t>
            </a:r>
            <a:endParaRPr lang="en-US" sz="1650" b="1">
              <a:solidFill>
                <a:srgbClr val="FFFFFF"/>
              </a:solidFill>
              <a:latin typeface="Source Han Sans"/>
              <a:ea typeface="Source Han Sans"/>
            </a:endParaRPr>
          </a:p>
        </p:txBody>
      </p:sp>
      <p:sp>
        <p:nvSpPr>
          <p:cNvPr id="203" name="文本框 202" descr="{&quot;isTemplate&quot;:true,&quot;type&quot;:&quot;text&quot;}"/>
          <p:cNvSpPr txBox="1"/>
          <p:nvPr/>
        </p:nvSpPr>
        <p:spPr>
          <a:xfrm>
            <a:off x="571500" y="952500"/>
            <a:ext cx="6667500" cy="685800"/>
          </a:xfrm>
          <a:prstGeom prst="rect">
            <a:avLst/>
          </a:prstGeom>
        </p:spPr>
        <p:txBody>
          <a:bodyPr wrap="square" lIns="0" tIns="0" rIns="0" bIns="0">
            <a:normAutofit/>
          </a:bodyPr>
          <a:p>
            <a:pPr>
              <a:lnSpc>
                <a:spcPct val="150000"/>
              </a:lnSpc>
            </a:pPr>
            <a:r>
              <a:rPr lang="en-US" sz="1500">
                <a:solidFill>
                  <a:srgbClr val="1A2230"/>
                </a:solidFill>
                <a:latin typeface="Source Han Sans"/>
                <a:ea typeface="Source Han Sans"/>
              </a:rPr>
              <a:t>In 2025–26, generating a playable game from a one-sentence prompt became a standard way to demonstrate model capability.</a:t>
            </a:r>
            <a:endParaRPr lang="en-US" sz="1500">
              <a:solidFill>
                <a:srgbClr val="1A2230"/>
              </a:solidFill>
              <a:latin typeface="Source Han Sans"/>
              <a:ea typeface="Source Han Sans"/>
            </a:endParaRPr>
          </a:p>
        </p:txBody>
      </p:sp>
      <p:sp>
        <p:nvSpPr>
          <p:cNvPr id="204" name="文本框 203" descr="{&quot;isTemplate&quot;:true,&quot;type&quot;:&quot;text&quot;}"/>
          <p:cNvSpPr txBox="1"/>
          <p:nvPr/>
        </p:nvSpPr>
        <p:spPr>
          <a:xfrm>
            <a:off x="571500" y="1809750"/>
            <a:ext cx="6667500" cy="990600"/>
          </a:xfrm>
          <a:prstGeom prst="rect">
            <a:avLst/>
          </a:prstGeom>
        </p:spPr>
        <p:txBody>
          <a:bodyPr wrap="square" lIns="0" tIns="0" rIns="0" bIns="0">
            <a:normAutofit/>
          </a:bodyPr>
          <a:p>
            <a:pPr>
              <a:lnSpc>
                <a:spcPct val="160000"/>
              </a:lnSpc>
            </a:pPr>
            <a:r>
              <a:rPr lang="en-US" sz="1350">
                <a:solidFill>
                  <a:srgbClr val="4A5568"/>
                </a:solidFill>
                <a:latin typeface="Source Han Sans"/>
                <a:ea typeface="Source Han Sans"/>
              </a:rPr>
              <a:t>Rosebud, Summer Engine, and chat-driven IDEs ship browser or desktop games from a short natural-language brief. Unity 7 will bundle a coding agent; UE 5.8 has experimental MCP. Industry surveys report broad adoption.</a:t>
            </a:r>
            <a:endParaRPr lang="en-US" sz="1350">
              <a:solidFill>
                <a:srgbClr val="4A5568"/>
              </a:solidFill>
              <a:latin typeface="Source Han Sans"/>
              <a:ea typeface="Source Han Sans"/>
            </a:endParaRPr>
          </a:p>
        </p:txBody>
      </p:sp>
      <p:sp>
        <p:nvSpPr>
          <p:cNvPr id="205" name="文本框 204" descr="{&quot;isTemplate&quot;:true,&quot;type&quot;:&quot;text&quot;}"/>
          <p:cNvSpPr txBox="1"/>
          <p:nvPr/>
        </p:nvSpPr>
        <p:spPr>
          <a:xfrm>
            <a:off x="571500" y="2971800"/>
            <a:ext cx="6667500" cy="666750"/>
          </a:xfrm>
          <a:prstGeom prst="rect">
            <a:avLst/>
          </a:prstGeom>
        </p:spPr>
        <p:txBody>
          <a:bodyPr wrap="square" lIns="0" tIns="0" rIns="0" bIns="0">
            <a:normAutofit/>
          </a:bodyPr>
          <a:p>
            <a:pPr>
              <a:lnSpc>
                <a:spcPct val="160000"/>
              </a:lnSpc>
            </a:pPr>
            <a:r>
              <a:rPr lang="en-US" sz="1350">
                <a:solidFill>
                  <a:srgbClr val="4A5568"/>
                </a:solidFill>
                <a:latin typeface="Source Han Sans"/>
                <a:ea typeface="Source Han Sans"/>
              </a:rPr>
              <a:t>At a research university this is not just a product story. It is a teaching question: if a sentence can yield a running game, what are we asking our students to do?</a:t>
            </a:r>
            <a:endParaRPr lang="en-US" sz="1350">
              <a:solidFill>
                <a:srgbClr val="4A5568"/>
              </a:solidFill>
              <a:latin typeface="Source Han Sans"/>
              <a:ea typeface="Source Han Sans"/>
            </a:endParaRPr>
          </a:p>
        </p:txBody>
      </p:sp>
      <p:sp>
        <p:nvSpPr>
          <p:cNvPr id="206" name="圆角矩形 205"/>
          <p:cNvSpPr/>
          <p:nvPr/>
        </p:nvSpPr>
        <p:spPr>
          <a:xfrm>
            <a:off x="7429500" y="952500"/>
            <a:ext cx="4191000" cy="3429000"/>
          </a:xfrm>
          <a:prstGeom prst="roundRect">
            <a:avLst>
              <a:gd name="adj" fmla="val 2778"/>
            </a:avLst>
          </a:prstGeom>
          <a:solidFill>
            <a:srgbClr val="F6F1FA"/>
          </a:solidFill>
          <a:ln w="12700">
            <a:solidFill>
              <a:srgbClr val="D9D0E4"/>
            </a:solidFill>
            <a:prstDash val="solid"/>
          </a:ln>
        </p:spPr>
        <p:txBody>
          <a:bodyPr/>
          <a:p/>
        </p:txBody>
      </p:sp>
      <p:sp>
        <p:nvSpPr>
          <p:cNvPr id="207" name="文本框 206" descr="{&quot;isTemplate&quot;:true,&quot;type&quot;:&quot;text&quot;}"/>
          <p:cNvSpPr txBox="1"/>
          <p:nvPr/>
        </p:nvSpPr>
        <p:spPr>
          <a:xfrm>
            <a:off x="7696200" y="1219200"/>
            <a:ext cx="3657600" cy="161925"/>
          </a:xfrm>
          <a:prstGeom prst="rect">
            <a:avLst/>
          </a:prstGeom>
        </p:spPr>
        <p:txBody>
          <a:bodyPr wrap="none" lIns="0" tIns="0" rIns="0" bIns="0"/>
          <a:p>
            <a:pPr>
              <a:lnSpc>
                <a:spcPct val="100000"/>
              </a:lnSpc>
            </a:pPr>
            <a:r>
              <a:rPr lang="en-US" sz="1050" b="1" spc="75">
                <a:solidFill>
                  <a:srgbClr val="57068C"/>
                </a:solidFill>
                <a:latin typeface="Source Han Sans"/>
                <a:ea typeface="Source Han Sans"/>
              </a:rPr>
              <a:t>SINGLE-PASS GENERATION</a:t>
            </a:r>
            <a:endParaRPr lang="en-US" sz="1050" b="1" spc="75">
              <a:solidFill>
                <a:srgbClr val="57068C"/>
              </a:solidFill>
              <a:latin typeface="Source Han Sans"/>
              <a:ea typeface="Source Han Sans"/>
            </a:endParaRPr>
          </a:p>
        </p:txBody>
      </p:sp>
      <p:sp>
        <p:nvSpPr>
          <p:cNvPr id="208" name="文本框 207" descr="{&quot;isTemplate&quot;:true,&quot;type&quot;:&quot;text&quot;}"/>
          <p:cNvSpPr txBox="1"/>
          <p:nvPr/>
        </p:nvSpPr>
        <p:spPr>
          <a:xfrm>
            <a:off x="7696200" y="1495425"/>
            <a:ext cx="3657600" cy="1104900"/>
          </a:xfrm>
          <a:prstGeom prst="rect">
            <a:avLst/>
          </a:prstGeom>
        </p:spPr>
        <p:txBody>
          <a:bodyPr wrap="none" lIns="0" tIns="0" rIns="0" bIns="0"/>
          <a:p>
            <a:pPr>
              <a:lnSpc>
                <a:spcPct val="100000"/>
              </a:lnSpc>
            </a:pPr>
            <a:r>
              <a:rPr lang="en-US" sz="7200" b="1">
                <a:solidFill>
                  <a:srgbClr val="D9534F"/>
                </a:solidFill>
                <a:latin typeface="Source Serif Pro"/>
                <a:ea typeface="Source Serif Pro"/>
              </a:rPr>
              <a:t>0</a:t>
            </a:r>
            <a:endParaRPr lang="en-US" sz="7200" b="1">
              <a:solidFill>
                <a:srgbClr val="D9534F"/>
              </a:solidFill>
              <a:latin typeface="Source Serif Pro"/>
              <a:ea typeface="Source Serif Pro"/>
            </a:endParaRPr>
          </a:p>
        </p:txBody>
      </p:sp>
      <p:sp>
        <p:nvSpPr>
          <p:cNvPr id="209" name="文本框 208" descr="{&quot;isTemplate&quot;:true,&quot;type&quot;:&quot;text&quot;}"/>
          <p:cNvSpPr txBox="1"/>
          <p:nvPr/>
        </p:nvSpPr>
        <p:spPr>
          <a:xfrm>
            <a:off x="7696200" y="2714625"/>
            <a:ext cx="3657600" cy="295275"/>
          </a:xfrm>
          <a:prstGeom prst="rect">
            <a:avLst/>
          </a:prstGeom>
        </p:spPr>
        <p:txBody>
          <a:bodyPr wrap="none" lIns="0" tIns="0" rIns="0" bIns="0"/>
          <a:p>
            <a:pPr>
              <a:lnSpc>
                <a:spcPct val="140000"/>
              </a:lnSpc>
            </a:pPr>
            <a:r>
              <a:rPr lang="en-US" sz="1350">
                <a:solidFill>
                  <a:srgbClr val="1A2230"/>
                </a:solidFill>
                <a:latin typeface="Source Han Sans"/>
                <a:ea typeface="Source Han Sans"/>
              </a:rPr>
              <a:t>of </a:t>
            </a:r>
            <a:r>
              <a:rPr lang="en-US" sz="1350" b="1">
                <a:solidFill>
                  <a:srgbClr val="1A2230"/>
                </a:solidFill>
                <a:latin typeface="Source Han Sans"/>
                <a:ea typeface="Source Han Sans"/>
              </a:rPr>
              <a:t>10,400</a:t>
            </a:r>
            <a:r>
              <a:rPr lang="en-US" sz="1350">
                <a:solidFill>
                  <a:srgbClr val="1A2230"/>
                </a:solidFill>
                <a:latin typeface="Source Han Sans"/>
                <a:ea typeface="Source Han Sans"/>
              </a:rPr>
              <a:t> single-pass generations compiled</a:t>
            </a:r>
            <a:endParaRPr lang="en-US" sz="1350">
              <a:solidFill>
                <a:srgbClr val="1A2230"/>
              </a:solidFill>
              <a:latin typeface="Source Han Sans"/>
              <a:ea typeface="Source Han Sans"/>
            </a:endParaRPr>
          </a:p>
        </p:txBody>
      </p:sp>
      <p:sp>
        <p:nvSpPr>
          <p:cNvPr id="210" name="文本框 209" descr="{&quot;isTemplate&quot;:true,&quot;type&quot;:&quot;text&quot;}"/>
          <p:cNvSpPr txBox="1"/>
          <p:nvPr/>
        </p:nvSpPr>
        <p:spPr>
          <a:xfrm>
            <a:off x="7696200" y="3124200"/>
            <a:ext cx="3657600" cy="247650"/>
          </a:xfrm>
          <a:prstGeom prst="rect">
            <a:avLst/>
          </a:prstGeom>
        </p:spPr>
        <p:txBody>
          <a:bodyPr wrap="none" lIns="0" tIns="0" rIns="0" bIns="0"/>
          <a:p>
            <a:pPr>
              <a:lnSpc>
                <a:spcPct val="150000"/>
              </a:lnSpc>
            </a:pPr>
            <a:r>
              <a:rPr lang="en-US" sz="1050">
                <a:solidFill>
                  <a:srgbClr val="4A5568"/>
                </a:solidFill>
                <a:latin typeface="Source Han Sans"/>
                <a:ea typeface="Source Han Sans"/>
              </a:rPr>
              <a:t>without a fix loop, on a professional engine task</a:t>
            </a:r>
            <a:endParaRPr lang="en-US" sz="1050">
              <a:solidFill>
                <a:srgbClr val="4A5568"/>
              </a:solidFill>
              <a:latin typeface="Source Han Sans"/>
              <a:ea typeface="Source Han Sans"/>
            </a:endParaRPr>
          </a:p>
        </p:txBody>
      </p:sp>
      <p:sp>
        <p:nvSpPr>
          <p:cNvPr id="211" name="矩形 210"/>
          <p:cNvSpPr/>
          <p:nvPr/>
        </p:nvSpPr>
        <p:spPr>
          <a:xfrm>
            <a:off x="7696200" y="3486150"/>
            <a:ext cx="381000" cy="28575"/>
          </a:xfrm>
          <a:prstGeom prst="rect">
            <a:avLst/>
          </a:prstGeom>
          <a:solidFill>
            <a:srgbClr val="57068C"/>
          </a:solidFill>
        </p:spPr>
        <p:txBody>
          <a:bodyPr/>
          <a:p/>
        </p:txBody>
      </p:sp>
      <p:sp>
        <p:nvSpPr>
          <p:cNvPr id="212" name="文本框 211" descr="{&quot;isTemplate&quot;:true,&quot;type&quot;:&quot;text&quot;}"/>
          <p:cNvSpPr txBox="1"/>
          <p:nvPr/>
        </p:nvSpPr>
        <p:spPr>
          <a:xfrm>
            <a:off x="7696200" y="3629025"/>
            <a:ext cx="3657600" cy="152400"/>
          </a:xfrm>
          <a:prstGeom prst="rect">
            <a:avLst/>
          </a:prstGeom>
        </p:spPr>
        <p:txBody>
          <a:bodyPr wrap="none" lIns="0" tIns="0" rIns="0" bIns="0"/>
          <a:p>
            <a:pPr>
              <a:lnSpc>
                <a:spcPct val="100000"/>
              </a:lnSpc>
            </a:pPr>
            <a:r>
              <a:rPr lang="en-US" sz="975">
                <a:solidFill>
                  <a:srgbClr val="8B97A8"/>
                </a:solidFill>
                <a:latin typeface="Source Han Sans"/>
                <a:ea typeface="Source Han Sans"/>
              </a:rPr>
              <a:t>Source: arXiv:2607.10187 (2026)</a:t>
            </a:r>
            <a:endParaRPr lang="en-US" sz="975">
              <a:solidFill>
                <a:srgbClr val="8B97A8"/>
              </a:solidFill>
              <a:latin typeface="Source Han Sans"/>
              <a:ea typeface="Source Han Sans"/>
            </a:endParaRPr>
          </a:p>
        </p:txBody>
      </p:sp>
      <p:sp>
        <p:nvSpPr>
          <p:cNvPr id="213" name="圆角矩形 212"/>
          <p:cNvSpPr/>
          <p:nvPr/>
        </p:nvSpPr>
        <p:spPr>
          <a:xfrm>
            <a:off x="571500" y="4762500"/>
            <a:ext cx="11049000" cy="666750"/>
          </a:xfrm>
          <a:prstGeom prst="roundRect">
            <a:avLst>
              <a:gd name="adj" fmla="val 11429"/>
            </a:avLst>
          </a:prstGeom>
          <a:solidFill>
            <a:srgbClr val="57068C"/>
          </a:solidFill>
        </p:spPr>
        <p:txBody>
          <a:bodyPr/>
          <a:p/>
        </p:txBody>
      </p:sp>
      <p:sp>
        <p:nvSpPr>
          <p:cNvPr id="214" name="矩形 213"/>
          <p:cNvSpPr/>
          <p:nvPr/>
        </p:nvSpPr>
        <p:spPr>
          <a:xfrm>
            <a:off x="723900" y="4905375"/>
            <a:ext cx="38100" cy="381000"/>
          </a:xfrm>
          <a:prstGeom prst="rect">
            <a:avLst/>
          </a:prstGeom>
          <a:solidFill>
            <a:srgbClr val="FFFFFF"/>
          </a:solidFill>
        </p:spPr>
        <p:txBody>
          <a:bodyPr/>
          <a:p/>
        </p:txBody>
      </p:sp>
      <p:sp>
        <p:nvSpPr>
          <p:cNvPr id="215" name="文本框 214" descr="{&quot;isTemplate&quot;:true,&quot;type&quot;:&quot;text&quot;}"/>
          <p:cNvSpPr txBox="1"/>
          <p:nvPr/>
        </p:nvSpPr>
        <p:spPr>
          <a:xfrm>
            <a:off x="914400" y="4953000"/>
            <a:ext cx="10553700" cy="295275"/>
          </a:xfrm>
          <a:prstGeom prst="rect">
            <a:avLst/>
          </a:prstGeom>
        </p:spPr>
        <p:txBody>
          <a:bodyPr wrap="none" lIns="0" tIns="0" rIns="0" bIns="0"/>
          <a:p>
            <a:pPr>
              <a:lnSpc>
                <a:spcPct val="140000"/>
              </a:lnSpc>
            </a:pPr>
            <a:r>
              <a:rPr lang="en-US" sz="1350">
                <a:solidFill>
                  <a:srgbClr val="FFFFFF"/>
                </a:solidFill>
                <a:latin typeface="Source Han Sans"/>
                <a:ea typeface="Source Han Sans"/>
              </a:rPr>
              <a:t>Democratization of the demo is real. The next question is what survives the demo.</a:t>
            </a:r>
            <a:endParaRPr lang="en-US" sz="1350">
              <a:solidFill>
                <a:srgbClr val="FFFFFF"/>
              </a:solidFill>
              <a:latin typeface="Source Han Sans"/>
              <a:ea typeface="Source Han Sans"/>
            </a:endParaRPr>
          </a:p>
        </p:txBody>
      </p:sp>
      <p:sp>
        <p:nvSpPr>
          <p:cNvPr id="216" name="文本框 215" descr="{&quot;isTemplate&quot;:true,&quot;type&quot;:&quot;text&quot;}"/>
          <p:cNvSpPr txBox="1"/>
          <p:nvPr/>
        </p:nvSpPr>
        <p:spPr>
          <a:xfrm>
            <a:off x="571500" y="6477000"/>
            <a:ext cx="3448050" cy="161925"/>
          </a:xfrm>
          <a:prstGeom prst="rect">
            <a:avLst/>
          </a:prstGeom>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lang="en-US" sz="1050">
              <a:solidFill>
                <a:srgbClr val="8B97A8"/>
              </a:solidFill>
              <a:latin typeface="Source Han Sans"/>
              <a:ea typeface="Source Han Sans"/>
            </a:endParaRPr>
          </a:p>
        </p:txBody>
      </p:sp>
      <p:sp>
        <p:nvSpPr>
          <p:cNvPr id="217" name="文本框 216" descr="{&quot;isTemplate&quot;:true,&quot;type&quot;:&quot;text&quot;}"/>
          <p:cNvSpPr txBox="1"/>
          <p:nvPr/>
        </p:nvSpPr>
        <p:spPr>
          <a:xfrm>
            <a:off x="11210925" y="6477000"/>
            <a:ext cx="409575" cy="161925"/>
          </a:xfrm>
          <a:prstGeom prst="rect">
            <a:avLst/>
          </a:prstGeom>
        </p:spPr>
        <p:txBody>
          <a:bodyPr wrap="none" lIns="0" tIns="0" rIns="0" bIns="0"/>
          <a:p>
            <a:pPr>
              <a:lnSpc>
                <a:spcPct val="100000"/>
              </a:lnSpc>
            </a:pPr>
            <a:r>
              <a:rPr lang="en-US" sz="1050" b="1">
                <a:solidFill>
                  <a:srgbClr val="57068C"/>
                </a:solidFill>
                <a:latin typeface="Source Han Sans"/>
                <a:ea typeface="Source Han Sans"/>
              </a:rPr>
              <a:t>04 / 16</a:t>
            </a:r>
            <a:endParaRPr lang="en-US" sz="1050" b="1">
              <a:solidFill>
                <a:srgbClr val="57068C"/>
              </a:solidFill>
              <a:latin typeface="Source Han Sans"/>
              <a:ea typeface="Source Han Sans"/>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218" name="" descr="&lt;Slide style={{ width: '1280px', height: '720px', background: '#FFFFFF', position: 'relative', fontFamily: 'Source Han Sans, Noto Sans CJK SC, sans-serif' }}&gt;&#10;  &lt;Box style={{ position: 'absolute', top: 0, left: 0, width: '100%', height: 60, background: '#0E3F8C' }}&gt;&#10;    &lt;Text style={{ color: '#FFFFFF', fontSize: 22, fontWeight: 'bold', padding: '14px 60px' }}&gt;It compiles. It runs. It is structurally vacuous.&lt;/Text&gt;&#10;  &lt;/Box&gt;&#10;  &lt;Box style={{ position: 'absolute', top: 100, left: 60, width: 200, flexDirection: 'column', gap: 4 }}&gt;&#10;    &lt;Text style={{ fontSize: 16, color: '#1E4FA8', fontWeight: 'bold', letterSpacing: 2 }}&gt;THE EMPIRICAL DIAGNOSIS&lt;/Text&gt;&#10;    &lt;Box style={{ width: 40, height: 3, background: '#1E4FA8' }} /&gt;&#10;  &lt;/Box&gt;&#10;  &lt;Box style={{ position: 'absolute', top: 160, left: 60, right: 60, height: 320, flexDirection: 'row', gap: 16 }}&gt;&#10;    {[&#10;      { n: 'F1 ≈ 0.12', sub: 'mechanism fidelity of direct NL→C#', src: 'Mage · arXiv:2605.07342', tone: '#D9534F' },&#10;      { n: '80.4 → 5.7%', sub: 'runtime pass-rate cliff at project scale', src: 'JAMER · arXiv:2606.19830', tone: '#1E4FA8' },&#10;      { n: '41.46%', sub: 'best coding agent, end-to-end benchmark', src: 'GameCraft-Bench · arXiv:2606.17861', tone: '#1E4FA8' },&#10;      { n: '+37.1 pt', sub: 'rubric gain with a GUI-agent playtester', src: 'Play2Code · arXiv:2605.28258', tone: '#3D7BD9' },&#10;    ].map((kpi, i) =&gt; (&#10;      &lt;Box key={i} style={{ flex: 1, padding: 20, background: '#F7F9FC', border: '1px solid #E5E7EB', borderRadius: 10, flexDirection: 'column', gap: 8 }}&gt;&#10;        &lt;Text style={{ fontSize: 44, fontWeight: 'bold', color: kpi.tone, fontFamily: 'Source Serif Pro, Georgia, serif', lineHeight: 1.1 }}&gt;{kpi.n}&lt;/Text&gt;&#10;        &lt;Box style={{ width: 32, height: 2, background: '#D6DCE5' }} /&gt;&#10;        &lt;Text style={{ fontSize: 15, color: '#1A2230', lineHeight: 1.4, flex: 1 }}&gt;{kpi.sub}&lt;/Text&gt;&#10;        &lt;Text style={{ fontSize: 12, color: '#8B97A8' }}&gt;{kpi.src}&lt;/Text&gt;&#10;      &lt;/Box&gt;&#10;    ))}&#10;  &lt;/Box&gt;&#10;  &lt;Box style={{ position: 'absolute', top: 510, left: 60, right: 60, height: 130, padding: 20, background: '#0E3F8C', borderRadius: 10, flexDirection: 'column', gap: 8 }}&gt;&#10;    &lt;Text style={{ fontSize: 14, color: '#FFC107', fontWeight: 'bold', letterSpacing: 2 }}&gt;DATA → JUDGMENT&lt;/Text&gt;&#10;    &lt;Text style={{ fontSize: 22, color: '#FFFFFF', lineHeight: 1.4, fontWeight: 'bold' }}&gt;&#10;      Compile rate and functional correctness are anti-correlated.&#10;    &lt;/Text&gt;&#10;    &lt;Text style={{ fontSize: 17, color: '#E8EFF8', lineHeight: 1.5 }}&gt;&#10;      Failure lives in structure and architecture, not in syntax. The largest single proven gain comes not from better prompts but from putting a playtester in the loop.&#10;    &lt;/Text&gt;&#10;  &lt;/Box&gt;&#10;  &lt;Box style={{ position: 'absolute', top: 680, left: 60, right: 60, flexDirection: 'row', justifyContent: 'space-between' }}&gt;&#10;    &lt;Text style={{ fontSize: 14, color: '#8B97A8' }}&gt;Xingchen Zhang · NYU Shanghai · XJTLU 2026 · Panel 11&lt;/Text&gt;&#10;    &lt;Text style={{ fontSize: 14, color: '#1E4FA8', fontWeight: 'bold' }}&gt;05 / 16&lt;/Text&gt;&#10;  &lt;/Box&gt;&#10;&lt;/Slide&gt;&#10;"/>
        <p:cNvGrpSpPr/>
        <p:nvPr/>
      </p:nvGrpSpPr>
      <p:grpSpPr>
        <a:xfrm>
          <a:off x="0" y="0"/>
          <a:ext cx="0" cy="0"/>
          <a:chOff x="0" y="0"/>
          <a:chExt cx="0" cy="0"/>
        </a:xfrm>
      </p:grpSpPr>
      <p:sp>
        <p:nvSpPr>
          <p:cNvPr id="219" name="矩形 218"/>
          <p:cNvSpPr/>
          <p:nvPr/>
        </p:nvSpPr>
        <p:spPr>
          <a:xfrm>
            <a:off x="0" y="0"/>
            <a:ext cx="12192000" cy="6858000"/>
          </a:xfrm>
          <a:prstGeom prst="rect">
            <a:avLst/>
          </a:prstGeom>
          <a:solidFill>
            <a:srgbClr val="FFFFFF"/>
          </a:solidFill>
        </p:spPr>
        <p:txBody>
          <a:bodyPr/>
          <a:p/>
        </p:txBody>
      </p:sp>
      <p:sp>
        <p:nvSpPr>
          <p:cNvPr id="220" name="矩形 219"/>
          <p:cNvSpPr/>
          <p:nvPr/>
        </p:nvSpPr>
        <p:spPr>
          <a:xfrm>
            <a:off x="0" y="0"/>
            <a:ext cx="12192000" cy="571500"/>
          </a:xfrm>
          <a:prstGeom prst="rect">
            <a:avLst/>
          </a:prstGeom>
          <a:solidFill>
            <a:srgbClr val="330662"/>
          </a:solidFill>
        </p:spPr>
        <p:txBody>
          <a:bodyPr/>
          <a:p/>
        </p:txBody>
      </p:sp>
      <p:sp>
        <p:nvSpPr>
          <p:cNvPr id="221" name="文本框 220" descr="{&quot;isTemplate&quot;:true,&quot;type&quot;:&quot;text&quot;}"/>
          <p:cNvSpPr txBox="1"/>
          <p:nvPr/>
        </p:nvSpPr>
        <p:spPr>
          <a:xfrm>
            <a:off x="0" y="0"/>
            <a:ext cx="12192000" cy="523875"/>
          </a:xfrm>
          <a:prstGeom prst="rect">
            <a:avLst/>
          </a:prstGeom>
        </p:spPr>
        <p:txBody>
          <a:bodyPr wrap="none" lIns="428625" tIns="100013" rIns="428625" bIns="100013"/>
          <a:p>
            <a:pPr>
              <a:lnSpc>
                <a:spcPct val="100000"/>
              </a:lnSpc>
            </a:pPr>
            <a:r>
              <a:rPr lang="en-US" sz="1650" b="1">
                <a:solidFill>
                  <a:srgbClr val="FFFFFF"/>
                </a:solidFill>
                <a:latin typeface="Source Han Sans"/>
                <a:ea typeface="Source Han Sans"/>
              </a:rPr>
              <a:t>It compiles. It runs. It is structurally vacuous.</a:t>
            </a:r>
            <a:endParaRPr lang="en-US" sz="1650" b="1">
              <a:solidFill>
                <a:srgbClr val="FFFFFF"/>
              </a:solidFill>
              <a:latin typeface="Source Han Sans"/>
              <a:ea typeface="Source Han Sans"/>
            </a:endParaRPr>
          </a:p>
        </p:txBody>
      </p:sp>
      <p:sp>
        <p:nvSpPr>
          <p:cNvPr id="222" name="文本框 221" descr="{&quot;isTemplate&quot;:true,&quot;type&quot;:&quot;text&quot;}"/>
          <p:cNvSpPr txBox="1"/>
          <p:nvPr/>
        </p:nvSpPr>
        <p:spPr>
          <a:xfrm>
            <a:off x="571500" y="952500"/>
            <a:ext cx="1905000" cy="371475"/>
          </a:xfrm>
          <a:prstGeom prst="rect">
            <a:avLst/>
          </a:prstGeom>
        </p:spPr>
        <p:txBody>
          <a:bodyPr wrap="square" lIns="0" tIns="0" rIns="0" bIns="0">
            <a:normAutofit/>
          </a:bodyPr>
          <a:p>
            <a:pPr>
              <a:lnSpc>
                <a:spcPct val="100000"/>
              </a:lnSpc>
            </a:pPr>
            <a:r>
              <a:rPr lang="en-US" sz="1200" b="1" spc="150">
                <a:solidFill>
                  <a:srgbClr val="57068C"/>
                </a:solidFill>
                <a:latin typeface="Source Han Sans"/>
                <a:ea typeface="Source Han Sans"/>
              </a:rPr>
              <a:t>THE EMPIRICAL DIAGNOSIS</a:t>
            </a:r>
            <a:endParaRPr lang="en-US" sz="1200" b="1" spc="150">
              <a:solidFill>
                <a:srgbClr val="57068C"/>
              </a:solidFill>
              <a:latin typeface="Source Han Sans"/>
              <a:ea typeface="Source Han Sans"/>
            </a:endParaRPr>
          </a:p>
        </p:txBody>
      </p:sp>
      <p:sp>
        <p:nvSpPr>
          <p:cNvPr id="223" name="矩形 222"/>
          <p:cNvSpPr/>
          <p:nvPr/>
        </p:nvSpPr>
        <p:spPr>
          <a:xfrm>
            <a:off x="571500" y="1362075"/>
            <a:ext cx="381000" cy="28575"/>
          </a:xfrm>
          <a:prstGeom prst="rect">
            <a:avLst/>
          </a:prstGeom>
          <a:solidFill>
            <a:srgbClr val="57068C"/>
          </a:solidFill>
        </p:spPr>
        <p:txBody>
          <a:bodyPr/>
          <a:p/>
        </p:txBody>
      </p:sp>
      <p:sp>
        <p:nvSpPr>
          <p:cNvPr id="224" name="圆角矩形 223"/>
          <p:cNvSpPr/>
          <p:nvPr/>
        </p:nvSpPr>
        <p:spPr>
          <a:xfrm>
            <a:off x="571500" y="1524000"/>
            <a:ext cx="2647950" cy="3048000"/>
          </a:xfrm>
          <a:prstGeom prst="roundRect">
            <a:avLst>
              <a:gd name="adj" fmla="val 3597"/>
            </a:avLst>
          </a:prstGeom>
          <a:solidFill>
            <a:srgbClr val="FAF8FC"/>
          </a:solidFill>
          <a:ln w="12700">
            <a:solidFill>
              <a:srgbClr val="E4DCEC"/>
            </a:solidFill>
            <a:prstDash val="solid"/>
          </a:ln>
        </p:spPr>
        <p:txBody>
          <a:bodyPr/>
          <a:p/>
        </p:txBody>
      </p:sp>
      <p:sp>
        <p:nvSpPr>
          <p:cNvPr id="225" name="文本框 224" descr="{&quot;isTemplate&quot;:true,&quot;type&quot;:&quot;text&quot;}"/>
          <p:cNvSpPr txBox="1"/>
          <p:nvPr/>
        </p:nvSpPr>
        <p:spPr>
          <a:xfrm>
            <a:off x="762000" y="1714500"/>
            <a:ext cx="2266950" cy="561975"/>
          </a:xfrm>
          <a:prstGeom prst="rect">
            <a:avLst/>
          </a:prstGeom>
        </p:spPr>
        <p:txBody>
          <a:bodyPr wrap="none" lIns="0" tIns="0" rIns="0" bIns="0"/>
          <a:p>
            <a:pPr>
              <a:lnSpc>
                <a:spcPct val="110000"/>
              </a:lnSpc>
            </a:pPr>
            <a:r>
              <a:rPr lang="en-US" sz="3300" b="1">
                <a:solidFill>
                  <a:srgbClr val="D9534F"/>
                </a:solidFill>
                <a:latin typeface="Source Serif Pro"/>
                <a:ea typeface="Source Serif Pro"/>
              </a:rPr>
              <a:t>F1 ≈ 0.12</a:t>
            </a:r>
            <a:endParaRPr lang="en-US" sz="3300" b="1">
              <a:solidFill>
                <a:srgbClr val="D9534F"/>
              </a:solidFill>
              <a:latin typeface="Source Serif Pro"/>
              <a:ea typeface="Source Serif Pro"/>
            </a:endParaRPr>
          </a:p>
        </p:txBody>
      </p:sp>
      <p:sp>
        <p:nvSpPr>
          <p:cNvPr id="226" name="矩形 225"/>
          <p:cNvSpPr/>
          <p:nvPr/>
        </p:nvSpPr>
        <p:spPr>
          <a:xfrm>
            <a:off x="762000" y="2352675"/>
            <a:ext cx="304800" cy="19050"/>
          </a:xfrm>
          <a:prstGeom prst="rect">
            <a:avLst/>
          </a:prstGeom>
          <a:solidFill>
            <a:srgbClr val="D9D0E4"/>
          </a:solidFill>
        </p:spPr>
        <p:txBody>
          <a:bodyPr/>
          <a:p/>
        </p:txBody>
      </p:sp>
      <p:sp>
        <p:nvSpPr>
          <p:cNvPr id="227" name="文本框 226" descr="{&quot;isTemplate&quot;:true,&quot;type&quot;:&quot;text&quot;}"/>
          <p:cNvSpPr txBox="1"/>
          <p:nvPr/>
        </p:nvSpPr>
        <p:spPr>
          <a:xfrm>
            <a:off x="762000" y="2447925"/>
            <a:ext cx="2266950" cy="1714500"/>
          </a:xfrm>
          <a:prstGeom prst="rect">
            <a:avLst/>
          </a:prstGeom>
        </p:spPr>
        <p:txBody>
          <a:bodyPr wrap="square" lIns="0" tIns="0" rIns="0" bIns="0">
            <a:normAutofit/>
          </a:bodyPr>
          <a:p>
            <a:pPr>
              <a:lnSpc>
                <a:spcPct val="140000"/>
              </a:lnSpc>
            </a:pPr>
            <a:r>
              <a:rPr lang="en-US" sz="1125">
                <a:solidFill>
                  <a:srgbClr val="1A2230"/>
                </a:solidFill>
                <a:latin typeface="Source Han Sans"/>
                <a:ea typeface="Source Han Sans"/>
              </a:rPr>
              <a:t>mechanism fidelity of direct NL→C#</a:t>
            </a:r>
            <a:endParaRPr lang="en-US" sz="1125">
              <a:solidFill>
                <a:srgbClr val="1A2230"/>
              </a:solidFill>
              <a:latin typeface="Source Han Sans"/>
              <a:ea typeface="Source Han Sans"/>
            </a:endParaRPr>
          </a:p>
        </p:txBody>
      </p:sp>
      <p:sp>
        <p:nvSpPr>
          <p:cNvPr id="228" name="文本框 227" descr="{&quot;isTemplate&quot;:true,&quot;type&quot;:&quot;text&quot;}"/>
          <p:cNvSpPr txBox="1"/>
          <p:nvPr/>
        </p:nvSpPr>
        <p:spPr>
          <a:xfrm>
            <a:off x="762000" y="4238625"/>
            <a:ext cx="2266950" cy="142875"/>
          </a:xfrm>
          <a:prstGeom prst="rect">
            <a:avLst/>
          </a:prstGeom>
        </p:spPr>
        <p:txBody>
          <a:bodyPr wrap="none" lIns="0" tIns="0" rIns="0" bIns="0"/>
          <a:p>
            <a:pPr>
              <a:lnSpc>
                <a:spcPct val="100000"/>
              </a:lnSpc>
            </a:pPr>
            <a:r>
              <a:rPr lang="en-US" sz="900">
                <a:solidFill>
                  <a:srgbClr val="8B97A8"/>
                </a:solidFill>
                <a:latin typeface="Source Han Sans"/>
                <a:ea typeface="Source Han Sans"/>
              </a:rPr>
              <a:t>Mage · arXiv:2605.07342</a:t>
            </a:r>
            <a:endParaRPr lang="en-US" sz="900">
              <a:solidFill>
                <a:srgbClr val="8B97A8"/>
              </a:solidFill>
              <a:latin typeface="Source Han Sans"/>
              <a:ea typeface="Source Han Sans"/>
            </a:endParaRPr>
          </a:p>
        </p:txBody>
      </p:sp>
      <p:sp>
        <p:nvSpPr>
          <p:cNvPr id="229" name="圆角矩形 228"/>
          <p:cNvSpPr/>
          <p:nvPr/>
        </p:nvSpPr>
        <p:spPr>
          <a:xfrm>
            <a:off x="3371850" y="1524000"/>
            <a:ext cx="2647950" cy="3048000"/>
          </a:xfrm>
          <a:prstGeom prst="roundRect">
            <a:avLst>
              <a:gd name="adj" fmla="val 3597"/>
            </a:avLst>
          </a:prstGeom>
          <a:solidFill>
            <a:srgbClr val="FAF8FC"/>
          </a:solidFill>
          <a:ln w="12700">
            <a:solidFill>
              <a:srgbClr val="E4DCEC"/>
            </a:solidFill>
            <a:prstDash val="solid"/>
          </a:ln>
        </p:spPr>
        <p:txBody>
          <a:bodyPr/>
          <a:p/>
        </p:txBody>
      </p:sp>
      <p:sp>
        <p:nvSpPr>
          <p:cNvPr id="230" name="文本框 229" descr="{&quot;isTemplate&quot;:true,&quot;type&quot;:&quot;text&quot;}"/>
          <p:cNvSpPr txBox="1"/>
          <p:nvPr/>
        </p:nvSpPr>
        <p:spPr>
          <a:xfrm>
            <a:off x="3562350" y="1714500"/>
            <a:ext cx="2266950" cy="1114425"/>
          </a:xfrm>
          <a:prstGeom prst="rect">
            <a:avLst/>
          </a:prstGeom>
        </p:spPr>
        <p:txBody>
          <a:bodyPr wrap="square" lIns="0" tIns="0" rIns="0" bIns="0">
            <a:normAutofit/>
          </a:bodyPr>
          <a:p>
            <a:pPr>
              <a:lnSpc>
                <a:spcPct val="110000"/>
              </a:lnSpc>
            </a:pPr>
            <a:r>
              <a:rPr lang="en-US" sz="3300" b="1">
                <a:solidFill>
                  <a:srgbClr val="57068C"/>
                </a:solidFill>
                <a:latin typeface="Source Serif Pro"/>
                <a:ea typeface="Source Serif Pro"/>
              </a:rPr>
              <a:t>80.4 → 5.7%</a:t>
            </a:r>
            <a:endParaRPr lang="en-US" sz="3300" b="1">
              <a:solidFill>
                <a:srgbClr val="57068C"/>
              </a:solidFill>
              <a:latin typeface="Source Serif Pro"/>
              <a:ea typeface="Source Serif Pro"/>
            </a:endParaRPr>
          </a:p>
        </p:txBody>
      </p:sp>
      <p:sp>
        <p:nvSpPr>
          <p:cNvPr id="231" name="矩形 230"/>
          <p:cNvSpPr/>
          <p:nvPr/>
        </p:nvSpPr>
        <p:spPr>
          <a:xfrm>
            <a:off x="3562350" y="2905125"/>
            <a:ext cx="304800" cy="19050"/>
          </a:xfrm>
          <a:prstGeom prst="rect">
            <a:avLst/>
          </a:prstGeom>
          <a:solidFill>
            <a:srgbClr val="D9D0E4"/>
          </a:solidFill>
        </p:spPr>
        <p:txBody>
          <a:bodyPr/>
          <a:p/>
        </p:txBody>
      </p:sp>
      <p:sp>
        <p:nvSpPr>
          <p:cNvPr id="232" name="文本框 231" descr="{&quot;isTemplate&quot;:true,&quot;type&quot;:&quot;text&quot;}"/>
          <p:cNvSpPr txBox="1"/>
          <p:nvPr/>
        </p:nvSpPr>
        <p:spPr>
          <a:xfrm>
            <a:off x="3562350" y="3000375"/>
            <a:ext cx="2266950" cy="1162050"/>
          </a:xfrm>
          <a:prstGeom prst="rect">
            <a:avLst/>
          </a:prstGeom>
        </p:spPr>
        <p:txBody>
          <a:bodyPr wrap="square" lIns="0" tIns="0" rIns="0" bIns="0">
            <a:normAutofit/>
          </a:bodyPr>
          <a:p>
            <a:pPr>
              <a:lnSpc>
                <a:spcPct val="140000"/>
              </a:lnSpc>
            </a:pPr>
            <a:r>
              <a:rPr lang="en-US" sz="1125">
                <a:solidFill>
                  <a:srgbClr val="1A2230"/>
                </a:solidFill>
                <a:latin typeface="Source Han Sans"/>
                <a:ea typeface="Source Han Sans"/>
              </a:rPr>
              <a:t>runtime pass-rate cliff at project scale</a:t>
            </a:r>
            <a:endParaRPr lang="en-US" sz="1125">
              <a:solidFill>
                <a:srgbClr val="1A2230"/>
              </a:solidFill>
              <a:latin typeface="Source Han Sans"/>
              <a:ea typeface="Source Han Sans"/>
            </a:endParaRPr>
          </a:p>
        </p:txBody>
      </p:sp>
      <p:sp>
        <p:nvSpPr>
          <p:cNvPr id="233" name="文本框 232" descr="{&quot;isTemplate&quot;:true,&quot;type&quot;:&quot;text&quot;}"/>
          <p:cNvSpPr txBox="1"/>
          <p:nvPr/>
        </p:nvSpPr>
        <p:spPr>
          <a:xfrm>
            <a:off x="3562350" y="4238625"/>
            <a:ext cx="2266950" cy="142875"/>
          </a:xfrm>
          <a:prstGeom prst="rect">
            <a:avLst/>
          </a:prstGeom>
        </p:spPr>
        <p:txBody>
          <a:bodyPr wrap="none" lIns="0" tIns="0" rIns="0" bIns="0"/>
          <a:p>
            <a:pPr>
              <a:lnSpc>
                <a:spcPct val="100000"/>
              </a:lnSpc>
            </a:pPr>
            <a:r>
              <a:rPr lang="en-US" sz="900">
                <a:solidFill>
                  <a:srgbClr val="8B97A8"/>
                </a:solidFill>
                <a:latin typeface="Source Han Sans"/>
                <a:ea typeface="Source Han Sans"/>
              </a:rPr>
              <a:t>JAMER · arXiv:2606.19830</a:t>
            </a:r>
            <a:endParaRPr lang="en-US" sz="900">
              <a:solidFill>
                <a:srgbClr val="8B97A8"/>
              </a:solidFill>
              <a:latin typeface="Source Han Sans"/>
              <a:ea typeface="Source Han Sans"/>
            </a:endParaRPr>
          </a:p>
        </p:txBody>
      </p:sp>
      <p:sp>
        <p:nvSpPr>
          <p:cNvPr id="234" name="圆角矩形 233"/>
          <p:cNvSpPr/>
          <p:nvPr/>
        </p:nvSpPr>
        <p:spPr>
          <a:xfrm>
            <a:off x="6172200" y="1524000"/>
            <a:ext cx="2647950" cy="3048000"/>
          </a:xfrm>
          <a:prstGeom prst="roundRect">
            <a:avLst>
              <a:gd name="adj" fmla="val 3597"/>
            </a:avLst>
          </a:prstGeom>
          <a:solidFill>
            <a:srgbClr val="FAF8FC"/>
          </a:solidFill>
          <a:ln w="12700">
            <a:solidFill>
              <a:srgbClr val="E4DCEC"/>
            </a:solidFill>
            <a:prstDash val="solid"/>
          </a:ln>
        </p:spPr>
        <p:txBody>
          <a:bodyPr/>
          <a:p/>
        </p:txBody>
      </p:sp>
      <p:sp>
        <p:nvSpPr>
          <p:cNvPr id="235" name="文本框 234" descr="{&quot;isTemplate&quot;:true,&quot;type&quot;:&quot;text&quot;}"/>
          <p:cNvSpPr txBox="1"/>
          <p:nvPr/>
        </p:nvSpPr>
        <p:spPr>
          <a:xfrm>
            <a:off x="6362700" y="1714500"/>
            <a:ext cx="2266950" cy="561975"/>
          </a:xfrm>
          <a:prstGeom prst="rect">
            <a:avLst/>
          </a:prstGeom>
        </p:spPr>
        <p:txBody>
          <a:bodyPr wrap="none" lIns="0" tIns="0" rIns="0" bIns="0"/>
          <a:p>
            <a:pPr>
              <a:lnSpc>
                <a:spcPct val="110000"/>
              </a:lnSpc>
            </a:pPr>
            <a:r>
              <a:rPr lang="en-US" sz="3300" b="1">
                <a:solidFill>
                  <a:srgbClr val="57068C"/>
                </a:solidFill>
                <a:latin typeface="Source Serif Pro"/>
                <a:ea typeface="Source Serif Pro"/>
              </a:rPr>
              <a:t>41.46%</a:t>
            </a:r>
            <a:endParaRPr lang="en-US" sz="3300" b="1">
              <a:solidFill>
                <a:srgbClr val="57068C"/>
              </a:solidFill>
              <a:latin typeface="Source Serif Pro"/>
              <a:ea typeface="Source Serif Pro"/>
            </a:endParaRPr>
          </a:p>
        </p:txBody>
      </p:sp>
      <p:sp>
        <p:nvSpPr>
          <p:cNvPr id="236" name="矩形 235"/>
          <p:cNvSpPr/>
          <p:nvPr/>
        </p:nvSpPr>
        <p:spPr>
          <a:xfrm>
            <a:off x="6362700" y="2352675"/>
            <a:ext cx="304800" cy="19050"/>
          </a:xfrm>
          <a:prstGeom prst="rect">
            <a:avLst/>
          </a:prstGeom>
          <a:solidFill>
            <a:srgbClr val="D9D0E4"/>
          </a:solidFill>
        </p:spPr>
        <p:txBody>
          <a:bodyPr/>
          <a:p/>
        </p:txBody>
      </p:sp>
      <p:sp>
        <p:nvSpPr>
          <p:cNvPr id="237" name="文本框 236" descr="{&quot;isTemplate&quot;:true,&quot;type&quot;:&quot;text&quot;}"/>
          <p:cNvSpPr txBox="1"/>
          <p:nvPr/>
        </p:nvSpPr>
        <p:spPr>
          <a:xfrm>
            <a:off x="6362700" y="2447925"/>
            <a:ext cx="2266950" cy="1714500"/>
          </a:xfrm>
          <a:prstGeom prst="rect">
            <a:avLst/>
          </a:prstGeom>
        </p:spPr>
        <p:txBody>
          <a:bodyPr wrap="square" lIns="0" tIns="0" rIns="0" bIns="0">
            <a:normAutofit/>
          </a:bodyPr>
          <a:p>
            <a:pPr>
              <a:lnSpc>
                <a:spcPct val="140000"/>
              </a:lnSpc>
            </a:pPr>
            <a:r>
              <a:rPr lang="en-US" sz="1125">
                <a:solidFill>
                  <a:srgbClr val="1A2230"/>
                </a:solidFill>
                <a:latin typeface="Source Han Sans"/>
                <a:ea typeface="Source Han Sans"/>
              </a:rPr>
              <a:t>best coding agent, end-to-end benchmark</a:t>
            </a:r>
            <a:endParaRPr lang="en-US" sz="1125">
              <a:solidFill>
                <a:srgbClr val="1A2230"/>
              </a:solidFill>
              <a:latin typeface="Source Han Sans"/>
              <a:ea typeface="Source Han Sans"/>
            </a:endParaRPr>
          </a:p>
        </p:txBody>
      </p:sp>
      <p:sp>
        <p:nvSpPr>
          <p:cNvPr id="238" name="文本框 237" descr="{&quot;isTemplate&quot;:true,&quot;type&quot;:&quot;text&quot;}"/>
          <p:cNvSpPr txBox="1"/>
          <p:nvPr/>
        </p:nvSpPr>
        <p:spPr>
          <a:xfrm>
            <a:off x="6362700" y="4238625"/>
            <a:ext cx="2266950" cy="142875"/>
          </a:xfrm>
          <a:prstGeom prst="rect">
            <a:avLst/>
          </a:prstGeom>
        </p:spPr>
        <p:txBody>
          <a:bodyPr wrap="none" lIns="0" tIns="0" rIns="0" bIns="0"/>
          <a:p>
            <a:pPr>
              <a:lnSpc>
                <a:spcPct val="100000"/>
              </a:lnSpc>
            </a:pPr>
            <a:r>
              <a:rPr lang="en-US" sz="900">
                <a:solidFill>
                  <a:srgbClr val="8B97A8"/>
                </a:solidFill>
                <a:latin typeface="Source Han Sans"/>
                <a:ea typeface="Source Han Sans"/>
              </a:rPr>
              <a:t>GameCraft-Bench · arXiv:2606.17861</a:t>
            </a:r>
            <a:endParaRPr lang="en-US" sz="900">
              <a:solidFill>
                <a:srgbClr val="8B97A8"/>
              </a:solidFill>
              <a:latin typeface="Source Han Sans"/>
              <a:ea typeface="Source Han Sans"/>
            </a:endParaRPr>
          </a:p>
        </p:txBody>
      </p:sp>
      <p:sp>
        <p:nvSpPr>
          <p:cNvPr id="239" name="圆角矩形 238"/>
          <p:cNvSpPr/>
          <p:nvPr/>
        </p:nvSpPr>
        <p:spPr>
          <a:xfrm>
            <a:off x="8972550" y="1524000"/>
            <a:ext cx="2647950" cy="3048000"/>
          </a:xfrm>
          <a:prstGeom prst="roundRect">
            <a:avLst>
              <a:gd name="adj" fmla="val 3597"/>
            </a:avLst>
          </a:prstGeom>
          <a:solidFill>
            <a:srgbClr val="FAF8FC"/>
          </a:solidFill>
          <a:ln w="12700">
            <a:solidFill>
              <a:srgbClr val="E4DCEC"/>
            </a:solidFill>
            <a:prstDash val="solid"/>
          </a:ln>
        </p:spPr>
        <p:txBody>
          <a:bodyPr/>
          <a:p/>
        </p:txBody>
      </p:sp>
      <p:sp>
        <p:nvSpPr>
          <p:cNvPr id="240" name="文本框 239" descr="{&quot;isTemplate&quot;:true,&quot;type&quot;:&quot;text&quot;}"/>
          <p:cNvSpPr txBox="1"/>
          <p:nvPr/>
        </p:nvSpPr>
        <p:spPr>
          <a:xfrm>
            <a:off x="9163050" y="1714500"/>
            <a:ext cx="2266950" cy="561975"/>
          </a:xfrm>
          <a:prstGeom prst="rect">
            <a:avLst/>
          </a:prstGeom>
        </p:spPr>
        <p:txBody>
          <a:bodyPr wrap="none" lIns="0" tIns="0" rIns="0" bIns="0"/>
          <a:p>
            <a:pPr>
              <a:lnSpc>
                <a:spcPct val="110000"/>
              </a:lnSpc>
            </a:pPr>
            <a:r>
              <a:rPr lang="en-US" sz="3300" b="1">
                <a:solidFill>
                  <a:srgbClr val="7B5AA6"/>
                </a:solidFill>
                <a:latin typeface="Source Serif Pro"/>
                <a:ea typeface="Source Serif Pro"/>
              </a:rPr>
              <a:t>+37.1 pt</a:t>
            </a:r>
            <a:endParaRPr lang="en-US" sz="3300" b="1">
              <a:solidFill>
                <a:srgbClr val="7B5AA6"/>
              </a:solidFill>
              <a:latin typeface="Source Serif Pro"/>
              <a:ea typeface="Source Serif Pro"/>
            </a:endParaRPr>
          </a:p>
        </p:txBody>
      </p:sp>
      <p:sp>
        <p:nvSpPr>
          <p:cNvPr id="241" name="矩形 240"/>
          <p:cNvSpPr/>
          <p:nvPr/>
        </p:nvSpPr>
        <p:spPr>
          <a:xfrm>
            <a:off x="9163050" y="2352675"/>
            <a:ext cx="304800" cy="19050"/>
          </a:xfrm>
          <a:prstGeom prst="rect">
            <a:avLst/>
          </a:prstGeom>
          <a:solidFill>
            <a:srgbClr val="D9D0E4"/>
          </a:solidFill>
        </p:spPr>
        <p:txBody>
          <a:bodyPr/>
          <a:p/>
        </p:txBody>
      </p:sp>
      <p:sp>
        <p:nvSpPr>
          <p:cNvPr id="242" name="文本框 241" descr="{&quot;isTemplate&quot;:true,&quot;type&quot;:&quot;text&quot;}"/>
          <p:cNvSpPr txBox="1"/>
          <p:nvPr/>
        </p:nvSpPr>
        <p:spPr>
          <a:xfrm>
            <a:off x="9163050" y="2447925"/>
            <a:ext cx="2266950" cy="1714500"/>
          </a:xfrm>
          <a:prstGeom prst="rect">
            <a:avLst/>
          </a:prstGeom>
        </p:spPr>
        <p:txBody>
          <a:bodyPr wrap="square" lIns="0" tIns="0" rIns="0" bIns="0">
            <a:normAutofit/>
          </a:bodyPr>
          <a:p>
            <a:pPr>
              <a:lnSpc>
                <a:spcPct val="140000"/>
              </a:lnSpc>
            </a:pPr>
            <a:r>
              <a:rPr lang="en-US" sz="1125">
                <a:solidFill>
                  <a:srgbClr val="1A2230"/>
                </a:solidFill>
                <a:latin typeface="Source Han Sans"/>
                <a:ea typeface="Source Han Sans"/>
              </a:rPr>
              <a:t>rubric gain with a GUI-agent playtester</a:t>
            </a:r>
            <a:endParaRPr lang="en-US" sz="1125">
              <a:solidFill>
                <a:srgbClr val="1A2230"/>
              </a:solidFill>
              <a:latin typeface="Source Han Sans"/>
              <a:ea typeface="Source Han Sans"/>
            </a:endParaRPr>
          </a:p>
        </p:txBody>
      </p:sp>
      <p:sp>
        <p:nvSpPr>
          <p:cNvPr id="243" name="文本框 242" descr="{&quot;isTemplate&quot;:true,&quot;type&quot;:&quot;text&quot;}"/>
          <p:cNvSpPr txBox="1"/>
          <p:nvPr/>
        </p:nvSpPr>
        <p:spPr>
          <a:xfrm>
            <a:off x="9163050" y="4238625"/>
            <a:ext cx="2266950" cy="142875"/>
          </a:xfrm>
          <a:prstGeom prst="rect">
            <a:avLst/>
          </a:prstGeom>
        </p:spPr>
        <p:txBody>
          <a:bodyPr wrap="none" lIns="0" tIns="0" rIns="0" bIns="0"/>
          <a:p>
            <a:pPr>
              <a:lnSpc>
                <a:spcPct val="100000"/>
              </a:lnSpc>
            </a:pPr>
            <a:r>
              <a:rPr lang="en-US" sz="900">
                <a:solidFill>
                  <a:srgbClr val="8B97A8"/>
                </a:solidFill>
                <a:latin typeface="Source Han Sans"/>
                <a:ea typeface="Source Han Sans"/>
              </a:rPr>
              <a:t>Play2Code · arXiv:2605.28258</a:t>
            </a:r>
            <a:endParaRPr lang="en-US" sz="900">
              <a:solidFill>
                <a:srgbClr val="8B97A8"/>
              </a:solidFill>
              <a:latin typeface="Source Han Sans"/>
              <a:ea typeface="Source Han Sans"/>
            </a:endParaRPr>
          </a:p>
        </p:txBody>
      </p:sp>
      <p:sp>
        <p:nvSpPr>
          <p:cNvPr id="244" name="圆角矩形 243"/>
          <p:cNvSpPr/>
          <p:nvPr/>
        </p:nvSpPr>
        <p:spPr>
          <a:xfrm>
            <a:off x="571500" y="4857750"/>
            <a:ext cx="11049000" cy="1479550"/>
          </a:xfrm>
          <a:prstGeom prst="roundRect">
            <a:avLst>
              <a:gd name="adj" fmla="val 7692"/>
            </a:avLst>
          </a:prstGeom>
          <a:solidFill>
            <a:srgbClr val="330662"/>
          </a:solidFill>
        </p:spPr>
        <p:txBody>
          <a:bodyPr/>
          <a:p/>
        </p:txBody>
      </p:sp>
      <p:sp>
        <p:nvSpPr>
          <p:cNvPr id="245" name="文本框 244" descr="{&quot;isTemplate&quot;:true,&quot;type&quot;:&quot;text&quot;}"/>
          <p:cNvSpPr txBox="1"/>
          <p:nvPr/>
        </p:nvSpPr>
        <p:spPr>
          <a:xfrm>
            <a:off x="762000" y="5048250"/>
            <a:ext cx="10668000" cy="161925"/>
          </a:xfrm>
          <a:prstGeom prst="rect">
            <a:avLst/>
          </a:prstGeom>
        </p:spPr>
        <p:txBody>
          <a:bodyPr wrap="none" lIns="0" tIns="0" rIns="0" bIns="0"/>
          <a:p>
            <a:pPr>
              <a:lnSpc>
                <a:spcPct val="100000"/>
              </a:lnSpc>
            </a:pPr>
            <a:r>
              <a:rPr lang="en-US" sz="1050" b="1" spc="150">
                <a:solidFill>
                  <a:srgbClr val="FFC107"/>
                </a:solidFill>
                <a:latin typeface="Source Han Sans"/>
                <a:ea typeface="Source Han Sans"/>
              </a:rPr>
              <a:t>DATA → JUDGMENT</a:t>
            </a:r>
            <a:endParaRPr lang="en-US" sz="1050" b="1" spc="150">
              <a:solidFill>
                <a:srgbClr val="FFC107"/>
              </a:solidFill>
              <a:latin typeface="Source Han Sans"/>
              <a:ea typeface="Source Han Sans"/>
            </a:endParaRPr>
          </a:p>
        </p:txBody>
      </p:sp>
      <p:sp>
        <p:nvSpPr>
          <p:cNvPr id="246" name="文本框 245" descr="{&quot;isTemplate&quot;:true,&quot;type&quot;:&quot;text&quot;}"/>
          <p:cNvSpPr txBox="1"/>
          <p:nvPr/>
        </p:nvSpPr>
        <p:spPr>
          <a:xfrm>
            <a:off x="762000" y="5286375"/>
            <a:ext cx="10668000" cy="352425"/>
          </a:xfrm>
          <a:prstGeom prst="rect">
            <a:avLst/>
          </a:prstGeom>
        </p:spPr>
        <p:txBody>
          <a:bodyPr wrap="none" lIns="0" tIns="0" rIns="0" bIns="0"/>
          <a:p>
            <a:pPr>
              <a:lnSpc>
                <a:spcPct val="140000"/>
              </a:lnSpc>
            </a:pPr>
            <a:r>
              <a:rPr lang="en-US" sz="1650" b="1">
                <a:solidFill>
                  <a:srgbClr val="FFFFFF"/>
                </a:solidFill>
                <a:latin typeface="Source Han Sans"/>
                <a:ea typeface="Source Han Sans"/>
              </a:rPr>
              <a:t>Compile rate and functional correctness are anti-correlated.</a:t>
            </a:r>
            <a:endParaRPr lang="en-US" sz="1650" b="1">
              <a:solidFill>
                <a:srgbClr val="FFFFFF"/>
              </a:solidFill>
              <a:latin typeface="Source Han Sans"/>
              <a:ea typeface="Source Han Sans"/>
            </a:endParaRPr>
          </a:p>
        </p:txBody>
      </p:sp>
      <p:sp>
        <p:nvSpPr>
          <p:cNvPr id="247" name="文本框 246" descr="{&quot;isTemplate&quot;:true,&quot;type&quot;:&quot;text&quot;}"/>
          <p:cNvSpPr txBox="1"/>
          <p:nvPr/>
        </p:nvSpPr>
        <p:spPr>
          <a:xfrm>
            <a:off x="764540" y="5617845"/>
            <a:ext cx="10855960" cy="590550"/>
          </a:xfrm>
          <a:prstGeom prst="rect">
            <a:avLst/>
          </a:prstGeom>
        </p:spPr>
        <p:txBody>
          <a:bodyPr wrap="square" lIns="0" tIns="0" rIns="0" bIns="0">
            <a:normAutofit/>
          </a:bodyPr>
          <a:p>
            <a:pPr>
              <a:lnSpc>
                <a:spcPct val="150000"/>
              </a:lnSpc>
            </a:pPr>
            <a:r>
              <a:rPr lang="en-US" sz="1275">
                <a:solidFill>
                  <a:srgbClr val="EEE6F3"/>
                </a:solidFill>
                <a:latin typeface="Source Han Sans"/>
                <a:ea typeface="Source Han Sans"/>
              </a:rPr>
              <a:t>Failure lives in structure and architecture, not in syntax. The largest single proven gain comes not from better prompts but from putting a playtester in the loop.</a:t>
            </a:r>
            <a:endParaRPr lang="en-US" sz="1275">
              <a:solidFill>
                <a:srgbClr val="EEE6F3"/>
              </a:solidFill>
              <a:latin typeface="Source Han Sans"/>
              <a:ea typeface="Source Han Sans"/>
            </a:endParaRPr>
          </a:p>
        </p:txBody>
      </p:sp>
      <p:sp>
        <p:nvSpPr>
          <p:cNvPr id="248" name="文本框 247" descr="{&quot;isTemplate&quot;:true,&quot;type&quot;:&quot;text&quot;}"/>
          <p:cNvSpPr txBox="1"/>
          <p:nvPr/>
        </p:nvSpPr>
        <p:spPr>
          <a:xfrm>
            <a:off x="571500" y="6477000"/>
            <a:ext cx="3448050" cy="161925"/>
          </a:xfrm>
          <a:prstGeom prst="rect">
            <a:avLst/>
          </a:prstGeom>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lang="en-US" sz="1050">
              <a:solidFill>
                <a:srgbClr val="8B97A8"/>
              </a:solidFill>
              <a:latin typeface="Source Han Sans"/>
              <a:ea typeface="Source Han Sans"/>
            </a:endParaRPr>
          </a:p>
        </p:txBody>
      </p:sp>
      <p:sp>
        <p:nvSpPr>
          <p:cNvPr id="249" name="文本框 248" descr="{&quot;isTemplate&quot;:true,&quot;type&quot;:&quot;text&quot;}"/>
          <p:cNvSpPr txBox="1"/>
          <p:nvPr/>
        </p:nvSpPr>
        <p:spPr>
          <a:xfrm>
            <a:off x="11210925" y="6477000"/>
            <a:ext cx="409575" cy="161925"/>
          </a:xfrm>
          <a:prstGeom prst="rect">
            <a:avLst/>
          </a:prstGeom>
        </p:spPr>
        <p:txBody>
          <a:bodyPr wrap="none" lIns="0" tIns="0" rIns="0" bIns="0"/>
          <a:p>
            <a:pPr>
              <a:lnSpc>
                <a:spcPct val="100000"/>
              </a:lnSpc>
            </a:pPr>
            <a:r>
              <a:rPr lang="en-US" sz="1050" b="1">
                <a:solidFill>
                  <a:srgbClr val="57068C"/>
                </a:solidFill>
                <a:latin typeface="Source Han Sans"/>
                <a:ea typeface="Source Han Sans"/>
              </a:rPr>
              <a:t>05 / 16</a:t>
            </a:r>
            <a:endParaRPr lang="en-US" sz="1050" b="1">
              <a:solidFill>
                <a:srgbClr val="57068C"/>
              </a:solidFill>
              <a:latin typeface="Source Han Sans"/>
              <a:ea typeface="Source Han Sans"/>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3" name="" descr="&lt;Slide style={{ width: '1280px', height: '720px', background: '#FFFFFF', position: 'relative', fontFamily: 'Source Han Sans, Noto Sans CJK SC, sans-serif' }}&gt;&#10;  &lt;Box style={{ position: 'absolute', top: 0, left: 0, width: '100%', height: 60, background: '#0E3F8C' }}&gt;&#10;    &lt;Text style={{ color: '#FFFFFF', fontSize: 22, fontWeight: 'bold', padding: '14px 60px' }}&gt;What AI did, what was kept, what was rejected&lt;/Text&gt;&#10;  &lt;/Box&gt;&#10;  &lt;Box style={{ position: 'absolute', top: 100, left: 60, width: 1160, flexDirection: 'column', gap: 8 }}&gt;&#10;    &lt;Text style={{ fontSize: 16, color: '#1E4FA8', fontWeight: 'bold', letterSpacing: 2 }}&gt;ACCOUNTABILITY IN A DEVELOPMENT LOG&lt;/Text&gt;&#10;    &lt;Box style={{ width: 40, height: 3, background: '#1E4FA8' }} /&gt;&#10;  &lt;/Box&gt;&#10;  &lt;Box style={{ position: 'absolute', top: 160, left: 60, right: 60, height: 280, flexDirection: 'row', alignItems: 'stretch', gap: 0 }}&gt;&#10;    {[&#10;      { tag: 'STUDENT REQUEST', c: '#0E3F8C', t: '&quot;Can you scaffold an obstacle spawner for the cart so the track is more dramatic?&quot;', src: 'Student writes the request as a clear instruction, not a one-line prompt.' },&#10;      { tag: 'AGENT RESPONSE', c: '#1E4FA8', t: '&quot;Here is a Unity script that places obstacles at intervals along the path. The cart has a forward velocity and respawns after collision.&quot;', src: 'The student copies a short summary of what the agent produced — enough to recall later, no more.' },&#10;      { tag: 'STUDENT DECISION', c: '#3D7BD9', t: '&quot;I replaced the spawner with a prebuilt track. The cart moves forward; the player only reacts. This feels more like being carried by the coaster than driving it.&quot;', src: 'This is where the emotional target meets the design choice. Without it, the AI’s output is just code.' },&#10;    ].map((col, i, arr) =&gt; (&#10;      &lt;Box key={i} style={{ flex: 1, flexDirection: 'row', alignItems: 'stretch' }}&gt;&#10;        &lt;Box style={{ flex: 1, padding: 18, background: col.c, borderRadius: i === 0 ? '10px 0 0 10px' : i === arr.length - 1 ? '0 10px 10px 0' : '0', flexDirection: 'column', gap: 10 }}&gt;&#10;          &lt;Text style={{ fontSize: 12, color: '#FFC107', fontWeight: 'bold', letterSpacing: 2 }}&gt;{col.tag}&lt;/Text&gt;&#10;          &lt;Text style={{ fontSize: 14, color: '#FFFFFF', lineHeight: 1.5, fontStyle: 'italic' }}&gt;{col.t}&lt;/Text&gt;&#10;          &lt;Text style={{ fontSize: 12, color: '#E8EFF8', lineHeight: 1.5 }}&gt;{col.src}&lt;/Text&gt;&#10;        &lt;/Box&gt;&#10;        {i &lt; arr.length - 1 &amp;&amp; (&#10;          &lt;Box style={{ width: 24, justifyContent: 'center', alignItems: 'center', background: '#F0F5FC' }}&gt;&#10;            &lt;Text style={{ fontSize: 24, color: '#1E4FA8', fontWeight: 'bold' }}&gt;→&lt;/Text&gt;&#10;          &lt;/Box&gt;&#10;        )}&#10;      &lt;/Box&gt;&#10;    ))}&#10;  &lt;/Box&gt;&#10;  &lt;Box style={{ position: 'absolute', top: 470, left: 60, right: 60, height: 170, padding: 22, background: '#F0F5FC', border: '1px solid #D6DCE5', borderRadius: 10, flexDirection: 'column', gap: 10 }}&gt;&#10;    &lt;Text style={{ fontSize: 14, color: '#1E4FA8', fontWeight: 'bold', letterSpacing: 2 }}&gt;WHAT THE LOG MAKES POSSIBLE&lt;/Text&gt;&#10;    &lt;Text style={{ fontSize: 18, color: '#1A2230', lineHeight: 1.55 }}&gt;&#10;      The log is not documentation. It is the trace that lets us answer the question the chat history cannot: &lt;span style={{ fontWeight: 'bold' }}&gt;when the prototype diverged from the original emotional target, whose decision was it?&lt;/span&gt;&#10;    &lt;/Text&gt;&#10;    &lt;Text style={{ fontSize: 15, color: '#4A5568', lineHeight: 1.5 }}&gt;&#10;      In The Darkroom, this trail runs 72 times. In Coaster Carnage, it runs 4 sessions plus a reflection. The trail is the artifact we study, not the build alone.&#10;    &lt;/Text&gt;&#10;  &lt;/Box&gt;&#10;  &lt;Box style={{ position: 'absolute', top: 680, left: 60, right: 60, flexDirection: 'row', justifyContent: 'space-between' }}&gt;&#10;    &lt;Text style={{ fontSize: 14, color: '#8B97A8' }}&gt;Xingchen Zhang · NYU Shanghai · XJTLU 2026 · Panel 11&lt;/Text&gt;&#10;    &lt;Text style={{ fontSize: 14, color: '#1E4FA8', fontWeight: 'bold' }}&gt;10 / 16&lt;/Text&gt;&#10;  &lt;/Box&gt;&#10;&lt;/Slide&gt;&#10;"/>
        <p:cNvGrpSpPr/>
        <p:nvPr/>
      </p:nvGrpSpPr>
      <p:grpSpPr>
        <a:xfrm>
          <a:off x="0" y="0"/>
          <a:ext cx="0" cy="0"/>
          <a:chOff x="0" y="0"/>
          <a:chExt cx="0" cy="0"/>
        </a:xfrm>
      </p:grpSpPr>
      <p:sp>
        <p:nvSpPr>
          <p:cNvPr id="14" name="矩形 13"/>
          <p:cNvSpPr/>
          <p:nvPr/>
        </p:nvSpPr>
        <p:spPr>
          <a:xfrm>
            <a:off x="0" y="0"/>
            <a:ext cx="12192000" cy="6858000"/>
          </a:xfrm>
          <a:prstGeom prst="rect">
            <a:avLst/>
          </a:prstGeom>
          <a:solidFill>
            <a:srgbClr val="FFFFFF"/>
          </a:solidFill>
        </p:spPr>
        <p:txBody>
          <a:bodyPr/>
          <a:p/>
        </p:txBody>
      </p:sp>
      <p:sp>
        <p:nvSpPr>
          <p:cNvPr id="15" name="矩形 14"/>
          <p:cNvSpPr/>
          <p:nvPr/>
        </p:nvSpPr>
        <p:spPr>
          <a:xfrm>
            <a:off x="0" y="0"/>
            <a:ext cx="12192000" cy="571500"/>
          </a:xfrm>
          <a:prstGeom prst="rect">
            <a:avLst/>
          </a:prstGeom>
          <a:solidFill>
            <a:srgbClr val="330662"/>
          </a:solidFill>
        </p:spPr>
        <p:txBody>
          <a:bodyPr/>
          <a:p/>
        </p:txBody>
      </p:sp>
      <p:sp>
        <p:nvSpPr>
          <p:cNvPr id="16" name="文本框 15" descr="{&quot;isTemplate&quot;:true,&quot;type&quot;:&quot;text&quot;}"/>
          <p:cNvSpPr txBox="1"/>
          <p:nvPr/>
        </p:nvSpPr>
        <p:spPr>
          <a:xfrm>
            <a:off x="0" y="0"/>
            <a:ext cx="12192000" cy="523875"/>
          </a:xfrm>
          <a:prstGeom prst="rect">
            <a:avLst/>
          </a:prstGeom>
        </p:spPr>
        <p:txBody>
          <a:bodyPr wrap="none" lIns="428625" tIns="100013" rIns="428625" bIns="100013"/>
          <a:p>
            <a:pPr>
              <a:lnSpc>
                <a:spcPct val="100000"/>
              </a:lnSpc>
            </a:pPr>
            <a:r>
              <a:rPr lang="en-US" sz="1650" b="1">
                <a:solidFill>
                  <a:srgbClr val="FFFFFF"/>
                </a:solidFill>
                <a:latin typeface="Source Han Sans"/>
                <a:ea typeface="Source Han Sans"/>
              </a:rPr>
              <a:t>What AI did, what was kept, what was rejected</a:t>
            </a:r>
            <a:endParaRPr lang="en-US" sz="1650" b="1">
              <a:solidFill>
                <a:srgbClr val="FFFFFF"/>
              </a:solidFill>
              <a:latin typeface="Source Han Sans"/>
              <a:ea typeface="Source Han Sans"/>
            </a:endParaRPr>
          </a:p>
        </p:txBody>
      </p:sp>
      <p:sp>
        <p:nvSpPr>
          <p:cNvPr id="17" name="文本框 16" descr="{&quot;isTemplate&quot;:true,&quot;type&quot;:&quot;text&quot;}"/>
          <p:cNvSpPr txBox="1"/>
          <p:nvPr/>
        </p:nvSpPr>
        <p:spPr>
          <a:xfrm>
            <a:off x="571500" y="952500"/>
            <a:ext cx="11049000" cy="190500"/>
          </a:xfrm>
          <a:prstGeom prst="rect">
            <a:avLst/>
          </a:prstGeom>
        </p:spPr>
        <p:txBody>
          <a:bodyPr wrap="none" lIns="0" tIns="0" rIns="0" bIns="0"/>
          <a:p>
            <a:pPr>
              <a:lnSpc>
                <a:spcPct val="100000"/>
              </a:lnSpc>
            </a:pPr>
            <a:r>
              <a:rPr lang="en-US" sz="1200" b="1" spc="150">
                <a:solidFill>
                  <a:srgbClr val="57068C"/>
                </a:solidFill>
                <a:latin typeface="Source Han Sans"/>
                <a:ea typeface="Source Han Sans"/>
              </a:rPr>
              <a:t>ACCOUNTABILITY IN A DEVELOPMENT LOG</a:t>
            </a:r>
            <a:endParaRPr lang="en-US" sz="1200" b="1" spc="150">
              <a:solidFill>
                <a:srgbClr val="57068C"/>
              </a:solidFill>
              <a:latin typeface="Source Han Sans"/>
              <a:ea typeface="Source Han Sans"/>
            </a:endParaRPr>
          </a:p>
        </p:txBody>
      </p:sp>
      <p:sp>
        <p:nvSpPr>
          <p:cNvPr id="18" name="矩形 17"/>
          <p:cNvSpPr/>
          <p:nvPr/>
        </p:nvSpPr>
        <p:spPr>
          <a:xfrm>
            <a:off x="571500" y="1219200"/>
            <a:ext cx="381000" cy="28575"/>
          </a:xfrm>
          <a:prstGeom prst="rect">
            <a:avLst/>
          </a:prstGeom>
          <a:solidFill>
            <a:srgbClr val="57068C"/>
          </a:solidFill>
        </p:spPr>
        <p:txBody>
          <a:bodyPr/>
          <a:p/>
        </p:txBody>
      </p:sp>
      <p:sp>
        <p:nvSpPr>
          <p:cNvPr id="19" name="任意多边形 18"/>
          <p:cNvSpPr/>
          <p:nvPr/>
        </p:nvSpPr>
        <p:spPr>
          <a:xfrm>
            <a:off x="571500" y="1524000"/>
            <a:ext cx="3457575" cy="2667000"/>
          </a:xfrm>
          <a:custGeom>
            <a:avLst/>
            <a:gdLst/>
            <a:ahLst/>
            <a:cxnLst/>
            <a:pathLst>
              <a:path w="363" h="280">
                <a:moveTo>
                  <a:pt x="10" y="0"/>
                </a:moveTo>
                <a:lnTo>
                  <a:pt x="363" y="0"/>
                </a:lnTo>
                <a:lnTo>
                  <a:pt x="363" y="0"/>
                </a:lnTo>
                <a:lnTo>
                  <a:pt x="363" y="280"/>
                </a:lnTo>
                <a:lnTo>
                  <a:pt x="363" y="280"/>
                </a:lnTo>
                <a:lnTo>
                  <a:pt x="10" y="280"/>
                </a:lnTo>
                <a:cubicBezTo>
                  <a:pt x="4" y="280"/>
                  <a:pt x="0" y="276"/>
                  <a:pt x="0" y="270"/>
                </a:cubicBezTo>
                <a:lnTo>
                  <a:pt x="0" y="10"/>
                </a:lnTo>
                <a:cubicBezTo>
                  <a:pt x="0" y="4"/>
                  <a:pt x="4" y="0"/>
                  <a:pt x="10" y="0"/>
                </a:cubicBezTo>
                <a:close/>
              </a:path>
            </a:pathLst>
          </a:custGeom>
          <a:solidFill>
            <a:srgbClr val="330662"/>
          </a:solidFill>
        </p:spPr>
        <p:txBody>
          <a:bodyPr/>
          <a:p/>
        </p:txBody>
      </p:sp>
      <p:sp>
        <p:nvSpPr>
          <p:cNvPr id="20" name="文本框 19" descr="{&quot;isTemplate&quot;:true,&quot;type&quot;:&quot;text&quot;}"/>
          <p:cNvSpPr txBox="1"/>
          <p:nvPr/>
        </p:nvSpPr>
        <p:spPr>
          <a:xfrm>
            <a:off x="742950" y="1695450"/>
            <a:ext cx="3114675" cy="142875"/>
          </a:xfrm>
          <a:prstGeom prst="rect">
            <a:avLst/>
          </a:prstGeom>
        </p:spPr>
        <p:txBody>
          <a:bodyPr wrap="none" lIns="0" tIns="0" rIns="0" bIns="0"/>
          <a:p>
            <a:pPr>
              <a:lnSpc>
                <a:spcPct val="100000"/>
              </a:lnSpc>
            </a:pPr>
            <a:r>
              <a:rPr lang="en-US" sz="900" b="1" spc="150">
                <a:solidFill>
                  <a:srgbClr val="FFC107"/>
                </a:solidFill>
                <a:latin typeface="Source Han Sans"/>
                <a:ea typeface="Source Han Sans"/>
              </a:rPr>
              <a:t>STUDENT REQUEST</a:t>
            </a:r>
            <a:endParaRPr lang="en-US" sz="900" b="1" spc="150">
              <a:solidFill>
                <a:srgbClr val="FFC107"/>
              </a:solidFill>
              <a:latin typeface="Source Han Sans"/>
              <a:ea typeface="Source Han Sans"/>
            </a:endParaRPr>
          </a:p>
        </p:txBody>
      </p:sp>
      <p:sp>
        <p:nvSpPr>
          <p:cNvPr id="21" name="文本框 20" descr="{&quot;isTemplate&quot;:true,&quot;type&quot;:&quot;text&quot;}"/>
          <p:cNvSpPr txBox="1"/>
          <p:nvPr/>
        </p:nvSpPr>
        <p:spPr>
          <a:xfrm>
            <a:off x="742950" y="1933575"/>
            <a:ext cx="3114675" cy="485775"/>
          </a:xfrm>
          <a:prstGeom prst="rect">
            <a:avLst/>
          </a:prstGeom>
        </p:spPr>
        <p:txBody>
          <a:bodyPr wrap="square" lIns="0" tIns="0" rIns="0" bIns="0">
            <a:normAutofit/>
          </a:bodyPr>
          <a:p>
            <a:pPr>
              <a:lnSpc>
                <a:spcPct val="150000"/>
              </a:lnSpc>
            </a:pPr>
            <a:r>
              <a:rPr lang="en-US" sz="1050" i="1">
                <a:solidFill>
                  <a:srgbClr val="FFFFFF"/>
                </a:solidFill>
                <a:latin typeface="Source Han Sans"/>
                <a:ea typeface="Source Han Sans"/>
              </a:rPr>
              <a:t>"Can you scaffold an obstacle spawner for the cart so the track is more dramatic?"</a:t>
            </a:r>
            <a:endParaRPr lang="en-US" sz="1050" i="1">
              <a:solidFill>
                <a:srgbClr val="FFFFFF"/>
              </a:solidFill>
              <a:latin typeface="Source Han Sans"/>
              <a:ea typeface="Source Han Sans"/>
            </a:endParaRPr>
          </a:p>
        </p:txBody>
      </p:sp>
      <p:sp>
        <p:nvSpPr>
          <p:cNvPr id="22" name="文本框 21" descr="{&quot;isTemplate&quot;:true,&quot;type&quot;:&quot;text&quot;}"/>
          <p:cNvSpPr txBox="1"/>
          <p:nvPr/>
        </p:nvSpPr>
        <p:spPr>
          <a:xfrm>
            <a:off x="742950" y="3629025"/>
            <a:ext cx="3114675" cy="419100"/>
          </a:xfrm>
          <a:prstGeom prst="rect">
            <a:avLst/>
          </a:prstGeom>
        </p:spPr>
        <p:txBody>
          <a:bodyPr wrap="square" lIns="0" tIns="0" rIns="0" bIns="0">
            <a:normAutofit/>
          </a:bodyPr>
          <a:p>
            <a:pPr>
              <a:lnSpc>
                <a:spcPct val="150000"/>
              </a:lnSpc>
            </a:pPr>
            <a:r>
              <a:rPr lang="en-US" sz="900">
                <a:solidFill>
                  <a:srgbClr val="EEE6F3"/>
                </a:solidFill>
                <a:latin typeface="Source Han Sans"/>
                <a:ea typeface="Source Han Sans"/>
              </a:rPr>
              <a:t>Student writes the request as a clear instruction, not a one-line prompt.</a:t>
            </a:r>
            <a:endParaRPr lang="en-US" sz="900">
              <a:solidFill>
                <a:srgbClr val="EEE6F3"/>
              </a:solidFill>
              <a:latin typeface="Source Han Sans"/>
              <a:ea typeface="Source Han Sans"/>
            </a:endParaRPr>
          </a:p>
        </p:txBody>
      </p:sp>
      <p:sp>
        <p:nvSpPr>
          <p:cNvPr id="23" name="矩形 22"/>
          <p:cNvSpPr/>
          <p:nvPr/>
        </p:nvSpPr>
        <p:spPr>
          <a:xfrm>
            <a:off x="4029075" y="1524000"/>
            <a:ext cx="228600" cy="2667000"/>
          </a:xfrm>
          <a:prstGeom prst="rect">
            <a:avLst/>
          </a:prstGeom>
          <a:solidFill>
            <a:srgbClr val="F6F1FA"/>
          </a:solidFill>
        </p:spPr>
        <p:txBody>
          <a:bodyPr/>
          <a:p/>
        </p:txBody>
      </p:sp>
      <p:sp>
        <p:nvSpPr>
          <p:cNvPr id="24" name="文本框 23" descr="{&quot;isTemplate&quot;:true,&quot;type&quot;:&quot;text&quot;}"/>
          <p:cNvSpPr txBox="1"/>
          <p:nvPr/>
        </p:nvSpPr>
        <p:spPr>
          <a:xfrm>
            <a:off x="4029075" y="2724150"/>
            <a:ext cx="228600" cy="276225"/>
          </a:xfrm>
          <a:prstGeom prst="rect">
            <a:avLst/>
          </a:prstGeom>
        </p:spPr>
        <p:txBody>
          <a:bodyPr wrap="none" lIns="0" tIns="0" rIns="0" bIns="0"/>
          <a:p>
            <a:pPr>
              <a:lnSpc>
                <a:spcPct val="100000"/>
              </a:lnSpc>
            </a:pPr>
            <a:r>
              <a:rPr sz="1800" b="1">
                <a:solidFill>
                  <a:srgbClr val="57068C"/>
                </a:solidFill>
                <a:latin typeface="Source Han Sans"/>
                <a:ea typeface="Source Han Sans"/>
              </a:rPr>
              <a:t>→</a:t>
            </a:r>
            <a:endParaRPr sz="1800" b="1">
              <a:solidFill>
                <a:srgbClr val="57068C"/>
              </a:solidFill>
              <a:latin typeface="Source Han Sans"/>
              <a:ea typeface="Source Han Sans"/>
            </a:endParaRPr>
          </a:p>
        </p:txBody>
      </p:sp>
      <p:sp>
        <p:nvSpPr>
          <p:cNvPr id="25" name="矩形 24"/>
          <p:cNvSpPr/>
          <p:nvPr/>
        </p:nvSpPr>
        <p:spPr>
          <a:xfrm>
            <a:off x="4257675" y="1524000"/>
            <a:ext cx="3448050" cy="2667000"/>
          </a:xfrm>
          <a:prstGeom prst="rect">
            <a:avLst/>
          </a:prstGeom>
          <a:solidFill>
            <a:srgbClr val="57068C"/>
          </a:solidFill>
        </p:spPr>
        <p:txBody>
          <a:bodyPr/>
          <a:p/>
        </p:txBody>
      </p:sp>
      <p:sp>
        <p:nvSpPr>
          <p:cNvPr id="26" name="文本框 25" descr="{&quot;isTemplate&quot;:true,&quot;type&quot;:&quot;text&quot;}"/>
          <p:cNvSpPr txBox="1"/>
          <p:nvPr/>
        </p:nvSpPr>
        <p:spPr>
          <a:xfrm>
            <a:off x="4429125" y="1695450"/>
            <a:ext cx="3105150" cy="142875"/>
          </a:xfrm>
          <a:prstGeom prst="rect">
            <a:avLst/>
          </a:prstGeom>
        </p:spPr>
        <p:txBody>
          <a:bodyPr wrap="none" lIns="0" tIns="0" rIns="0" bIns="0"/>
          <a:p>
            <a:pPr>
              <a:lnSpc>
                <a:spcPct val="100000"/>
              </a:lnSpc>
            </a:pPr>
            <a:r>
              <a:rPr lang="en-US" sz="900" b="1" spc="150">
                <a:solidFill>
                  <a:srgbClr val="FFC107"/>
                </a:solidFill>
                <a:latin typeface="Source Han Sans"/>
                <a:ea typeface="Source Han Sans"/>
              </a:rPr>
              <a:t>AGENT RESPONSE</a:t>
            </a:r>
            <a:endParaRPr lang="en-US" sz="900" b="1" spc="150">
              <a:solidFill>
                <a:srgbClr val="FFC107"/>
              </a:solidFill>
              <a:latin typeface="Source Han Sans"/>
              <a:ea typeface="Source Han Sans"/>
            </a:endParaRPr>
          </a:p>
        </p:txBody>
      </p:sp>
      <p:sp>
        <p:nvSpPr>
          <p:cNvPr id="27" name="文本框 26" descr="{&quot;isTemplate&quot;:true,&quot;type&quot;:&quot;text&quot;}"/>
          <p:cNvSpPr txBox="1"/>
          <p:nvPr/>
        </p:nvSpPr>
        <p:spPr>
          <a:xfrm>
            <a:off x="4429125" y="1933575"/>
            <a:ext cx="3105150" cy="723900"/>
          </a:xfrm>
          <a:prstGeom prst="rect">
            <a:avLst/>
          </a:prstGeom>
        </p:spPr>
        <p:txBody>
          <a:bodyPr wrap="square" lIns="0" tIns="0" rIns="0" bIns="0">
            <a:normAutofit/>
          </a:bodyPr>
          <a:p>
            <a:pPr>
              <a:lnSpc>
                <a:spcPct val="150000"/>
              </a:lnSpc>
            </a:pPr>
            <a:r>
              <a:rPr lang="en-US" sz="1050" i="1">
                <a:solidFill>
                  <a:srgbClr val="FFFFFF"/>
                </a:solidFill>
                <a:latin typeface="Source Han Sans"/>
                <a:ea typeface="Source Han Sans"/>
              </a:rPr>
              <a:t>"Here is a Unity script that places obstacles at intervals along the path. The cart has a forward velocity and respawns after collision."</a:t>
            </a:r>
            <a:endParaRPr lang="en-US" sz="1050" i="1">
              <a:solidFill>
                <a:srgbClr val="FFFFFF"/>
              </a:solidFill>
              <a:latin typeface="Source Han Sans"/>
              <a:ea typeface="Source Han Sans"/>
            </a:endParaRPr>
          </a:p>
        </p:txBody>
      </p:sp>
      <p:sp>
        <p:nvSpPr>
          <p:cNvPr id="28" name="文本框 27" descr="{&quot;isTemplate&quot;:true,&quot;type&quot;:&quot;text&quot;}"/>
          <p:cNvSpPr txBox="1"/>
          <p:nvPr/>
        </p:nvSpPr>
        <p:spPr>
          <a:xfrm>
            <a:off x="4429125" y="3638550"/>
            <a:ext cx="3105150" cy="419100"/>
          </a:xfrm>
          <a:prstGeom prst="rect">
            <a:avLst/>
          </a:prstGeom>
        </p:spPr>
        <p:txBody>
          <a:bodyPr wrap="square" lIns="0" tIns="0" rIns="0" bIns="0">
            <a:normAutofit/>
          </a:bodyPr>
          <a:p>
            <a:pPr>
              <a:lnSpc>
                <a:spcPct val="150000"/>
              </a:lnSpc>
            </a:pPr>
            <a:r>
              <a:rPr lang="en-US" sz="900">
                <a:solidFill>
                  <a:srgbClr val="EEE6F3"/>
                </a:solidFill>
                <a:latin typeface="Source Han Sans"/>
                <a:ea typeface="Source Han Sans"/>
              </a:rPr>
              <a:t>The student copies a short summary of what the agent produced — enough to recall later, no more.</a:t>
            </a:r>
            <a:endParaRPr lang="en-US" sz="900">
              <a:solidFill>
                <a:srgbClr val="EEE6F3"/>
              </a:solidFill>
              <a:latin typeface="Source Han Sans"/>
              <a:ea typeface="Source Han Sans"/>
            </a:endParaRPr>
          </a:p>
        </p:txBody>
      </p:sp>
      <p:sp>
        <p:nvSpPr>
          <p:cNvPr id="29" name="矩形 28"/>
          <p:cNvSpPr/>
          <p:nvPr/>
        </p:nvSpPr>
        <p:spPr>
          <a:xfrm>
            <a:off x="7705725" y="1524000"/>
            <a:ext cx="228600" cy="2667000"/>
          </a:xfrm>
          <a:prstGeom prst="rect">
            <a:avLst/>
          </a:prstGeom>
          <a:solidFill>
            <a:srgbClr val="F6F1FA"/>
          </a:solidFill>
        </p:spPr>
        <p:txBody>
          <a:bodyPr/>
          <a:p/>
        </p:txBody>
      </p:sp>
      <p:sp>
        <p:nvSpPr>
          <p:cNvPr id="30" name="文本框 29" descr="{&quot;isTemplate&quot;:true,&quot;type&quot;:&quot;text&quot;}"/>
          <p:cNvSpPr txBox="1"/>
          <p:nvPr/>
        </p:nvSpPr>
        <p:spPr>
          <a:xfrm>
            <a:off x="7705725" y="2724150"/>
            <a:ext cx="228600" cy="276225"/>
          </a:xfrm>
          <a:prstGeom prst="rect">
            <a:avLst/>
          </a:prstGeom>
        </p:spPr>
        <p:txBody>
          <a:bodyPr wrap="none" lIns="0" tIns="0" rIns="0" bIns="0"/>
          <a:p>
            <a:pPr>
              <a:lnSpc>
                <a:spcPct val="100000"/>
              </a:lnSpc>
            </a:pPr>
            <a:r>
              <a:rPr sz="1800" b="1">
                <a:solidFill>
                  <a:srgbClr val="57068C"/>
                </a:solidFill>
                <a:latin typeface="Source Han Sans"/>
                <a:ea typeface="Source Han Sans"/>
              </a:rPr>
              <a:t>→</a:t>
            </a:r>
            <a:endParaRPr sz="1800" b="1">
              <a:solidFill>
                <a:srgbClr val="57068C"/>
              </a:solidFill>
              <a:latin typeface="Source Han Sans"/>
              <a:ea typeface="Source Han Sans"/>
            </a:endParaRPr>
          </a:p>
        </p:txBody>
      </p:sp>
      <p:sp>
        <p:nvSpPr>
          <p:cNvPr id="31" name="任意多边形 30"/>
          <p:cNvSpPr/>
          <p:nvPr/>
        </p:nvSpPr>
        <p:spPr>
          <a:xfrm>
            <a:off x="7934325" y="1524000"/>
            <a:ext cx="3686175" cy="2667000"/>
          </a:xfrm>
          <a:custGeom>
            <a:avLst/>
            <a:gdLst/>
            <a:ahLst/>
            <a:cxnLst/>
            <a:pathLst>
              <a:path w="387" h="280">
                <a:moveTo>
                  <a:pt x="0" y="0"/>
                </a:moveTo>
                <a:lnTo>
                  <a:pt x="377" y="0"/>
                </a:lnTo>
                <a:cubicBezTo>
                  <a:pt x="383" y="0"/>
                  <a:pt x="387" y="4"/>
                  <a:pt x="387" y="10"/>
                </a:cubicBezTo>
                <a:lnTo>
                  <a:pt x="387" y="270"/>
                </a:lnTo>
                <a:cubicBezTo>
                  <a:pt x="387" y="276"/>
                  <a:pt x="383" y="280"/>
                  <a:pt x="377" y="280"/>
                </a:cubicBezTo>
                <a:lnTo>
                  <a:pt x="0" y="280"/>
                </a:lnTo>
                <a:lnTo>
                  <a:pt x="0" y="280"/>
                </a:lnTo>
                <a:lnTo>
                  <a:pt x="0" y="0"/>
                </a:lnTo>
                <a:lnTo>
                  <a:pt x="0" y="0"/>
                </a:lnTo>
                <a:close/>
              </a:path>
            </a:pathLst>
          </a:custGeom>
          <a:solidFill>
            <a:srgbClr val="7B5AA6"/>
          </a:solidFill>
        </p:spPr>
        <p:txBody>
          <a:bodyPr/>
          <a:p/>
        </p:txBody>
      </p:sp>
      <p:sp>
        <p:nvSpPr>
          <p:cNvPr id="32" name="文本框 31" descr="{&quot;isTemplate&quot;:true,&quot;type&quot;:&quot;text&quot;}"/>
          <p:cNvSpPr txBox="1"/>
          <p:nvPr/>
        </p:nvSpPr>
        <p:spPr>
          <a:xfrm>
            <a:off x="8105775" y="1695450"/>
            <a:ext cx="3343275" cy="142875"/>
          </a:xfrm>
          <a:prstGeom prst="rect">
            <a:avLst/>
          </a:prstGeom>
        </p:spPr>
        <p:txBody>
          <a:bodyPr wrap="none" lIns="0" tIns="0" rIns="0" bIns="0"/>
          <a:p>
            <a:pPr>
              <a:lnSpc>
                <a:spcPct val="100000"/>
              </a:lnSpc>
            </a:pPr>
            <a:r>
              <a:rPr lang="en-US" sz="900" b="1" spc="150">
                <a:solidFill>
                  <a:srgbClr val="FFC107"/>
                </a:solidFill>
                <a:latin typeface="Source Han Sans"/>
                <a:ea typeface="Source Han Sans"/>
              </a:rPr>
              <a:t>STUDENT DECISION</a:t>
            </a:r>
            <a:endParaRPr lang="en-US" sz="900" b="1" spc="150">
              <a:solidFill>
                <a:srgbClr val="FFC107"/>
              </a:solidFill>
              <a:latin typeface="Source Han Sans"/>
              <a:ea typeface="Source Han Sans"/>
            </a:endParaRPr>
          </a:p>
        </p:txBody>
      </p:sp>
      <p:sp>
        <p:nvSpPr>
          <p:cNvPr id="33" name="文本框 32" descr="{&quot;isTemplate&quot;:true,&quot;type&quot;:&quot;text&quot;}"/>
          <p:cNvSpPr txBox="1"/>
          <p:nvPr/>
        </p:nvSpPr>
        <p:spPr>
          <a:xfrm>
            <a:off x="8105775" y="1933575"/>
            <a:ext cx="3343275" cy="723900"/>
          </a:xfrm>
          <a:prstGeom prst="rect">
            <a:avLst/>
          </a:prstGeom>
        </p:spPr>
        <p:txBody>
          <a:bodyPr wrap="square" lIns="0" tIns="0" rIns="0" bIns="0">
            <a:normAutofit/>
          </a:bodyPr>
          <a:p>
            <a:pPr>
              <a:lnSpc>
                <a:spcPct val="150000"/>
              </a:lnSpc>
            </a:pPr>
            <a:r>
              <a:rPr lang="en-US" sz="1050" i="1">
                <a:solidFill>
                  <a:srgbClr val="FFFFFF"/>
                </a:solidFill>
                <a:latin typeface="Source Han Sans"/>
                <a:ea typeface="Source Han Sans"/>
              </a:rPr>
              <a:t>"I replaced the spawner with a prebuilt track. The cart moves forward; the player only reacts. This feels more like being carried by the coaster than driving it."</a:t>
            </a:r>
            <a:endParaRPr lang="en-US" sz="1050" i="1">
              <a:solidFill>
                <a:srgbClr val="FFFFFF"/>
              </a:solidFill>
              <a:latin typeface="Source Han Sans"/>
              <a:ea typeface="Source Han Sans"/>
            </a:endParaRPr>
          </a:p>
        </p:txBody>
      </p:sp>
      <p:sp>
        <p:nvSpPr>
          <p:cNvPr id="34" name="文本框 33" descr="{&quot;isTemplate&quot;:true,&quot;type&quot;:&quot;text&quot;}"/>
          <p:cNvSpPr txBox="1"/>
          <p:nvPr/>
        </p:nvSpPr>
        <p:spPr>
          <a:xfrm>
            <a:off x="8105775" y="3638550"/>
            <a:ext cx="3343275" cy="419100"/>
          </a:xfrm>
          <a:prstGeom prst="rect">
            <a:avLst/>
          </a:prstGeom>
        </p:spPr>
        <p:txBody>
          <a:bodyPr wrap="square" lIns="0" tIns="0" rIns="0" bIns="0">
            <a:normAutofit/>
          </a:bodyPr>
          <a:p>
            <a:pPr>
              <a:lnSpc>
                <a:spcPct val="150000"/>
              </a:lnSpc>
            </a:pPr>
            <a:r>
              <a:rPr lang="en-US" sz="900">
                <a:solidFill>
                  <a:srgbClr val="EEE6F3"/>
                </a:solidFill>
                <a:latin typeface="Source Han Sans"/>
                <a:ea typeface="Source Han Sans"/>
              </a:rPr>
              <a:t>This is where the emotional target meets the design choice. Without it, the AI’s output is just code.</a:t>
            </a:r>
            <a:endParaRPr lang="en-US" sz="900">
              <a:solidFill>
                <a:srgbClr val="EEE6F3"/>
              </a:solidFill>
              <a:latin typeface="Source Han Sans"/>
              <a:ea typeface="Source Han Sans"/>
            </a:endParaRPr>
          </a:p>
        </p:txBody>
      </p:sp>
      <p:sp>
        <p:nvSpPr>
          <p:cNvPr id="35" name="圆角矩形 34"/>
          <p:cNvSpPr/>
          <p:nvPr/>
        </p:nvSpPr>
        <p:spPr>
          <a:xfrm>
            <a:off x="571500" y="4476750"/>
            <a:ext cx="11049000" cy="1619250"/>
          </a:xfrm>
          <a:prstGeom prst="roundRect">
            <a:avLst>
              <a:gd name="adj" fmla="val 5882"/>
            </a:avLst>
          </a:prstGeom>
          <a:solidFill>
            <a:srgbClr val="F6F1FA"/>
          </a:solidFill>
          <a:ln w="12700">
            <a:solidFill>
              <a:srgbClr val="D9D0E4"/>
            </a:solidFill>
            <a:prstDash val="solid"/>
          </a:ln>
        </p:spPr>
        <p:txBody>
          <a:bodyPr/>
          <a:p/>
        </p:txBody>
      </p:sp>
      <p:sp>
        <p:nvSpPr>
          <p:cNvPr id="36" name="文本框 35" descr="{&quot;isTemplate&quot;:true,&quot;type&quot;:&quot;text&quot;}"/>
          <p:cNvSpPr txBox="1"/>
          <p:nvPr/>
        </p:nvSpPr>
        <p:spPr>
          <a:xfrm>
            <a:off x="781050" y="4686300"/>
            <a:ext cx="10629900" cy="161925"/>
          </a:xfrm>
          <a:prstGeom prst="rect">
            <a:avLst/>
          </a:prstGeom>
        </p:spPr>
        <p:txBody>
          <a:bodyPr wrap="none" lIns="0" tIns="0" rIns="0" bIns="0"/>
          <a:p>
            <a:pPr>
              <a:lnSpc>
                <a:spcPct val="100000"/>
              </a:lnSpc>
            </a:pPr>
            <a:r>
              <a:rPr lang="en-US" sz="1050" b="1" spc="150">
                <a:solidFill>
                  <a:srgbClr val="57068C"/>
                </a:solidFill>
                <a:latin typeface="Source Han Sans"/>
                <a:ea typeface="Source Han Sans"/>
              </a:rPr>
              <a:t>WHAT THE LOG MAKES POSSIBLE</a:t>
            </a:r>
            <a:endParaRPr lang="en-US" sz="1050" b="1" spc="150">
              <a:solidFill>
                <a:srgbClr val="57068C"/>
              </a:solidFill>
              <a:latin typeface="Source Han Sans"/>
              <a:ea typeface="Source Han Sans"/>
            </a:endParaRPr>
          </a:p>
        </p:txBody>
      </p:sp>
      <p:sp>
        <p:nvSpPr>
          <p:cNvPr id="37" name="文本框 36" descr="{&quot;isTemplate&quot;:true,&quot;type&quot;:&quot;text&quot;}"/>
          <p:cNvSpPr txBox="1"/>
          <p:nvPr/>
        </p:nvSpPr>
        <p:spPr>
          <a:xfrm>
            <a:off x="781050" y="4943475"/>
            <a:ext cx="10629900" cy="638175"/>
          </a:xfrm>
          <a:prstGeom prst="rect">
            <a:avLst/>
          </a:prstGeom>
        </p:spPr>
        <p:txBody>
          <a:bodyPr wrap="square" lIns="0" tIns="0" rIns="0" bIns="0">
            <a:normAutofit/>
          </a:bodyPr>
          <a:p>
            <a:pPr>
              <a:lnSpc>
                <a:spcPct val="155000"/>
              </a:lnSpc>
            </a:pPr>
            <a:r>
              <a:rPr lang="en-US" sz="1350">
                <a:solidFill>
                  <a:srgbClr val="1A2230"/>
                </a:solidFill>
                <a:latin typeface="Source Han Sans"/>
                <a:ea typeface="Source Han Sans"/>
              </a:rPr>
              <a:t>The log is not documentation. It is the trace that lets us answer the question the chat history cannot: </a:t>
            </a:r>
            <a:r>
              <a:rPr lang="en-US" sz="1350" b="1">
                <a:solidFill>
                  <a:srgbClr val="1A2230"/>
                </a:solidFill>
                <a:latin typeface="Source Han Sans"/>
                <a:ea typeface="Source Han Sans"/>
              </a:rPr>
              <a:t>when the prototype diverged from the original emotional target, whose decision was it?</a:t>
            </a:r>
            <a:endParaRPr lang="en-US" sz="1350" b="1">
              <a:solidFill>
                <a:srgbClr val="1A2230"/>
              </a:solidFill>
              <a:latin typeface="Source Han Sans"/>
              <a:ea typeface="Source Han Sans"/>
            </a:endParaRPr>
          </a:p>
        </p:txBody>
      </p:sp>
      <p:sp>
        <p:nvSpPr>
          <p:cNvPr id="38" name="文本框 37" descr="{&quot;isTemplate&quot;:true,&quot;type&quot;:&quot;text&quot;}"/>
          <p:cNvSpPr txBox="1"/>
          <p:nvPr/>
        </p:nvSpPr>
        <p:spPr>
          <a:xfrm>
            <a:off x="781050" y="5676900"/>
            <a:ext cx="10629900" cy="257175"/>
          </a:xfrm>
          <a:prstGeom prst="rect">
            <a:avLst/>
          </a:prstGeom>
        </p:spPr>
        <p:txBody>
          <a:bodyPr wrap="none" lIns="0" tIns="0" rIns="0" bIns="0"/>
          <a:p>
            <a:pPr>
              <a:lnSpc>
                <a:spcPct val="150000"/>
              </a:lnSpc>
            </a:pPr>
            <a:r>
              <a:rPr lang="en-US" sz="1125">
                <a:solidFill>
                  <a:srgbClr val="4A5568"/>
                </a:solidFill>
                <a:latin typeface="Source Han Sans"/>
                <a:ea typeface="Source Han Sans"/>
              </a:rPr>
              <a:t>In The Darkroom, this trail runs 72 times. In Coaster Carnage, it runs 4 sessions plus a reflection. The trail is the artifact we study, not the build alone.</a:t>
            </a:r>
            <a:endParaRPr lang="en-US" sz="1125">
              <a:solidFill>
                <a:srgbClr val="4A5568"/>
              </a:solidFill>
              <a:latin typeface="Source Han Sans"/>
              <a:ea typeface="Source Han Sans"/>
            </a:endParaRPr>
          </a:p>
        </p:txBody>
      </p:sp>
      <p:sp>
        <p:nvSpPr>
          <p:cNvPr id="39" name="文本框 38" descr="{&quot;isTemplate&quot;:true,&quot;type&quot;:&quot;text&quot;}"/>
          <p:cNvSpPr txBox="1"/>
          <p:nvPr/>
        </p:nvSpPr>
        <p:spPr>
          <a:xfrm>
            <a:off x="571500" y="6477000"/>
            <a:ext cx="3448050" cy="161925"/>
          </a:xfrm>
          <a:prstGeom prst="rect">
            <a:avLst/>
          </a:prstGeom>
        </p:spPr>
        <p:txBody>
          <a:bodyPr wrap="none" lIns="0" tIns="0" rIns="0" bIns="0"/>
          <a:p>
            <a:pPr>
              <a:lnSpc>
                <a:spcPct val="100000"/>
              </a:lnSpc>
            </a:pPr>
            <a:r>
              <a:rPr lang="en-US" sz="1050">
                <a:solidFill>
                  <a:srgbClr val="8B97A8"/>
                </a:solidFill>
                <a:latin typeface="Source Han Sans"/>
                <a:ea typeface="Source Han Sans"/>
              </a:rPr>
              <a:t>Xingchen Zhang · NYU Shanghai · XJTLU 2026 · Panel 11</a:t>
            </a:r>
            <a:endParaRPr lang="en-US" sz="1050">
              <a:solidFill>
                <a:srgbClr val="8B97A8"/>
              </a:solidFill>
              <a:latin typeface="Source Han Sans"/>
              <a:ea typeface="Source Han Sans"/>
            </a:endParaRPr>
          </a:p>
        </p:txBody>
      </p:sp>
      <p:sp>
        <p:nvSpPr>
          <p:cNvPr id="40" name="文本框 39" descr="{&quot;isTemplate&quot;:true,&quot;type&quot;:&quot;text&quot;}"/>
          <p:cNvSpPr txBox="1"/>
          <p:nvPr/>
        </p:nvSpPr>
        <p:spPr>
          <a:xfrm>
            <a:off x="11210925" y="6477000"/>
            <a:ext cx="409575" cy="161925"/>
          </a:xfrm>
          <a:prstGeom prst="rect">
            <a:avLst/>
          </a:prstGeom>
        </p:spPr>
        <p:txBody>
          <a:bodyPr wrap="none" lIns="0" tIns="0" rIns="0" bIns="0"/>
          <a:p>
            <a:pPr>
              <a:lnSpc>
                <a:spcPct val="100000"/>
              </a:lnSpc>
            </a:pPr>
            <a:r>
              <a:rPr lang="en-US" sz="1050" b="1">
                <a:solidFill>
                  <a:srgbClr val="57068C"/>
                </a:solidFill>
                <a:latin typeface="Source Han Sans"/>
                <a:ea typeface="Source Han Sans"/>
              </a:rPr>
              <a:t>10 / 16</a:t>
            </a:r>
            <a:endParaRPr lang="en-US" sz="1050" b="1">
              <a:solidFill>
                <a:srgbClr val="57068C"/>
              </a:solidFill>
              <a:latin typeface="Source Han Sans"/>
              <a:ea typeface="Source Han Sans"/>
            </a:endParaRPr>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10673</Words>
  <Application>WPS 演示</Application>
  <PresentationFormat/>
  <Paragraphs>470</Paragraphs>
  <Slides>16</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16</vt:i4>
      </vt:variant>
    </vt:vector>
  </HeadingPairs>
  <TitlesOfParts>
    <vt:vector size="33" baseType="lpstr">
      <vt:lpstr>Arial</vt:lpstr>
      <vt:lpstr>宋体</vt:lpstr>
      <vt:lpstr>Wingdings</vt:lpstr>
      <vt:lpstr>Source Han Sans</vt:lpstr>
      <vt:lpstr>Thonburi</vt:lpstr>
      <vt:lpstr>Source Serif Pro</vt:lpstr>
      <vt:lpstr>Calibri</vt:lpstr>
      <vt:lpstr>Helvetica Neue</vt:lpstr>
      <vt:lpstr>微软雅黑</vt:lpstr>
      <vt:lpstr>汉仪旗黑</vt:lpstr>
      <vt:lpstr>宋体</vt:lpstr>
      <vt:lpstr>Arial Unicode MS</vt:lpstr>
      <vt:lpstr>等线</vt:lpstr>
      <vt:lpstr>汉仪中等线KW</vt:lpstr>
      <vt:lpstr>汉仪书宋二KW</vt:lpstr>
      <vt:lpstr>黑体-简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xz33</cp:lastModifiedBy>
  <cp:revision>3</cp:revision>
  <dcterms:created xsi:type="dcterms:W3CDTF">2026-09-05T08:56:22Z</dcterms:created>
  <dcterms:modified xsi:type="dcterms:W3CDTF">2026-09-05T08:56:22Z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08BA4298D1FBEBDC851F9A6AF1BFFA53_42</vt:lpwstr>
  </property>
  <property fmtid="{D5CDD505-2E9C-101B-9397-08002B2CF9AE}" pid="3" name="KSOProductBuildVer">
    <vt:lpwstr>2052-6.11.0.8603</vt:lpwstr>
  </property>
</Properties>
</file>